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67" r:id="rId4"/>
    <p:sldId id="260" r:id="rId5"/>
    <p:sldId id="261" r:id="rId6"/>
    <p:sldId id="265" r:id="rId7"/>
    <p:sldId id="262" r:id="rId8"/>
    <p:sldId id="263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  <a:srgbClr val="000000"/>
    <a:srgbClr val="0F9E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576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DC0A4-AB10-42EE-B4E9-10C3C659D0F0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A9B89-07D5-4D2F-90FD-EC1406DF497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DC0A4-AB10-42EE-B4E9-10C3C659D0F0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A9B89-07D5-4D2F-90FD-EC1406DF497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DC0A4-AB10-42EE-B4E9-10C3C659D0F0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A9B89-07D5-4D2F-90FD-EC1406DF497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DC0A4-AB10-42EE-B4E9-10C3C659D0F0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A9B89-07D5-4D2F-90FD-EC1406DF497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DC0A4-AB10-42EE-B4E9-10C3C659D0F0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A9B89-07D5-4D2F-90FD-EC1406DF497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DC0A4-AB10-42EE-B4E9-10C3C659D0F0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A9B89-07D5-4D2F-90FD-EC1406DF497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DC0A4-AB10-42EE-B4E9-10C3C659D0F0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A9B89-07D5-4D2F-90FD-EC1406DF497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DC0A4-AB10-42EE-B4E9-10C3C659D0F0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A9B89-07D5-4D2F-90FD-EC1406DF497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DC0A4-AB10-42EE-B4E9-10C3C659D0F0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A9B89-07D5-4D2F-90FD-EC1406DF497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DC0A4-AB10-42EE-B4E9-10C3C659D0F0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A9B89-07D5-4D2F-90FD-EC1406DF497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DC0A4-AB10-42EE-B4E9-10C3C659D0F0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6A9B89-07D5-4D2F-90FD-EC1406DF497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5DC0A4-AB10-42EE-B4E9-10C3C659D0F0}" type="datetimeFigureOut">
              <a:rPr lang="zh-CN" altLang="en-US" smtClean="0"/>
              <a:t>2026/5/6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6A9B89-07D5-4D2F-90FD-EC1406DF497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zh-CN" altLang="en-US" b="1" dirty="0"/>
              <a:t>华银元鼎月利</a:t>
            </a:r>
            <a:r>
              <a:rPr lang="en-US" altLang="zh-CN" b="1" dirty="0"/>
              <a:t>2</a:t>
            </a:r>
            <a:r>
              <a:rPr lang="zh-CN" altLang="en-US" b="1" dirty="0"/>
              <a:t>号</a:t>
            </a:r>
            <a:r>
              <a:rPr lang="en-US" altLang="zh-CN" b="1" dirty="0"/>
              <a:t>2</a:t>
            </a:r>
            <a:r>
              <a:rPr lang="zh-CN" altLang="en-US" b="1" dirty="0"/>
              <a:t>期</a:t>
            </a:r>
            <a:br>
              <a:rPr lang="zh-CN" altLang="en-US" b="1" dirty="0"/>
            </a:br>
            <a:r>
              <a:rPr lang="zh-CN" altLang="en-US" b="1" dirty="0"/>
              <a:t>投资策略介绍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985260"/>
            <a:ext cx="9144000" cy="554990"/>
          </a:xfrm>
        </p:spPr>
        <p:txBody>
          <a:bodyPr/>
          <a:lstStyle/>
          <a:p>
            <a:r>
              <a:rPr lang="en-US" altLang="zh-CN" b="1" dirty="0"/>
              <a:t>2026</a:t>
            </a:r>
            <a:r>
              <a:rPr lang="zh-CN" altLang="en-US" b="1" dirty="0"/>
              <a:t>年</a:t>
            </a:r>
            <a:r>
              <a:rPr lang="en-US" altLang="zh-CN" b="1" dirty="0"/>
              <a:t>5</a:t>
            </a:r>
            <a:r>
              <a:rPr lang="zh-CN" altLang="en-US" b="1" dirty="0"/>
              <a:t>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2178046"/>
              </p:ext>
            </p:extLst>
          </p:nvPr>
        </p:nvGraphicFramePr>
        <p:xfrm>
          <a:off x="3829267" y="1117600"/>
          <a:ext cx="2854846" cy="177277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052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9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116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CN" altLang="en-US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拟投资结构二</a:t>
                      </a:r>
                      <a:endParaRPr lang="zh-CN" alt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10360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CN" altLang="en-US" sz="1000" u="none" strike="noStrike" dirty="0">
                          <a:solidFill>
                            <a:schemeClr val="bg1"/>
                          </a:solidFill>
                          <a:effectLst/>
                        </a:rPr>
                        <a:t>早利雪球</a:t>
                      </a:r>
                      <a:endParaRPr lang="zh-CN" altLang="en-US" sz="1000" b="0" i="0" u="none" strike="noStrike" dirty="0">
                        <a:solidFill>
                          <a:schemeClr val="bg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03603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16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CN" altLang="en-US" sz="1000" u="none" strike="noStrike" dirty="0">
                          <a:effectLst/>
                        </a:rPr>
                        <a:t>挂钩标的</a:t>
                      </a:r>
                      <a:endParaRPr lang="zh-CN" altLang="en-US" sz="1000" b="0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10360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000852.SH</a:t>
                      </a:r>
                      <a:endParaRPr lang="en-US" sz="1000" b="0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03603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116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CN" altLang="en-US" sz="1000" u="none" strike="noStrike" dirty="0">
                          <a:effectLst/>
                        </a:rPr>
                        <a:t>最长期限</a:t>
                      </a:r>
                      <a:endParaRPr lang="zh-CN" altLang="en-US" sz="1000" b="0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10360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24M</a:t>
                      </a:r>
                      <a:endParaRPr lang="en-US" sz="1000" b="0" i="0" u="none" strike="noStrike" dirty="0">
                        <a:solidFill>
                          <a:srgbClr val="012B5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03603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116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CN" altLang="en-US" sz="1000" u="none" strike="noStrike">
                          <a:effectLst/>
                        </a:rPr>
                        <a:t>敲出观察锁定</a:t>
                      </a:r>
                      <a:endParaRPr lang="zh-CN" altLang="en-US" sz="1000" b="0" i="0" u="none" strike="noStrike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10360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000" u="none" strike="noStrike">
                          <a:effectLst/>
                        </a:rPr>
                        <a:t>3</a:t>
                      </a:r>
                      <a:endParaRPr lang="en-US" altLang="zh-CN" sz="1000" b="0" i="0" u="none" strike="noStrike">
                        <a:solidFill>
                          <a:srgbClr val="012B5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03603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116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CN" altLang="en-US" sz="1000" u="none" strike="noStrike" dirty="0">
                          <a:effectLst/>
                        </a:rPr>
                        <a:t>初始敲出障碍价格</a:t>
                      </a:r>
                      <a:endParaRPr lang="zh-CN" altLang="en-US" sz="1000" b="0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10360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000" u="none" strike="noStrike" dirty="0">
                          <a:effectLst/>
                        </a:rPr>
                        <a:t>100.00%</a:t>
                      </a:r>
                      <a:endParaRPr lang="en-US" altLang="zh-CN" sz="1000" b="0" i="0" u="none" strike="noStrike" dirty="0">
                        <a:solidFill>
                          <a:srgbClr val="012B5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03603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116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CN" altLang="en-US" sz="1000" u="none" strike="noStrike" dirty="0">
                          <a:effectLst/>
                        </a:rPr>
                        <a:t>敲出障碍价格降低步长</a:t>
                      </a:r>
                      <a:endParaRPr lang="zh-CN" altLang="en-US" sz="1000" b="0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10360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000" u="none" strike="noStrike" dirty="0">
                          <a:solidFill>
                            <a:schemeClr val="accent3"/>
                          </a:solidFill>
                          <a:effectLst/>
                        </a:rPr>
                        <a:t>-0.50%</a:t>
                      </a:r>
                      <a:endParaRPr lang="en-US" altLang="zh-CN" sz="1000" b="0" i="0" u="none" strike="noStrike" dirty="0">
                        <a:solidFill>
                          <a:schemeClr val="accent3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03603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116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期末敲出障碍价格</a:t>
                      </a:r>
                    </a:p>
                  </a:txBody>
                  <a:tcPr marL="0" marR="10360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89.5%</a:t>
                      </a:r>
                    </a:p>
                  </a:txBody>
                  <a:tcPr marL="103603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116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CN" altLang="en-US" sz="1000" u="none" strike="noStrike" dirty="0">
                          <a:effectLst/>
                        </a:rPr>
                        <a:t>敲入障碍价格</a:t>
                      </a:r>
                      <a:endParaRPr lang="zh-CN" altLang="en-US" sz="1000" b="0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10360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0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65.00%</a:t>
                      </a:r>
                      <a:endParaRPr lang="en-US" altLang="zh-CN" sz="1000" b="0" i="0" u="none" strike="noStrike" dirty="0">
                        <a:solidFill>
                          <a:srgbClr val="C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03603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116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保证金比例</a:t>
                      </a:r>
                    </a:p>
                  </a:txBody>
                  <a:tcPr marL="0" marR="10360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100%</a:t>
                      </a:r>
                    </a:p>
                  </a:txBody>
                  <a:tcPr marL="103603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116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首年敲出票息</a:t>
                      </a:r>
                    </a:p>
                  </a:txBody>
                  <a:tcPr marL="0" marR="10360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000" b="1" u="none" strike="noStrike" dirty="0">
                          <a:solidFill>
                            <a:srgbClr val="C00000"/>
                          </a:solidFill>
                          <a:effectLst/>
                        </a:rPr>
                        <a:t>22.00%</a:t>
                      </a:r>
                      <a:r>
                        <a:rPr lang="en-US" altLang="zh-CN" sz="10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*</a:t>
                      </a:r>
                      <a:endParaRPr lang="en-US" altLang="zh-CN" sz="1000" b="0" i="0" u="none" strike="noStrike" dirty="0">
                        <a:solidFill>
                          <a:srgbClr val="C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03603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116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次年敲出以及红利票息</a:t>
                      </a:r>
                    </a:p>
                  </a:txBody>
                  <a:tcPr marL="0" marR="10360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000" b="1" i="0" u="none" strike="noStrike" dirty="0">
                          <a:solidFill>
                            <a:srgbClr val="C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7.00%</a:t>
                      </a:r>
                    </a:p>
                  </a:txBody>
                  <a:tcPr marL="103603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417661"/>
                  </a:ext>
                </a:extLst>
              </a:tr>
            </a:tbl>
          </a:graphicData>
        </a:graphic>
      </p:graphicFrame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5872230"/>
              </p:ext>
            </p:extLst>
          </p:nvPr>
        </p:nvGraphicFramePr>
        <p:xfrm>
          <a:off x="380821" y="1117600"/>
          <a:ext cx="3149600" cy="2311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742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53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CN" altLang="en-US" sz="1100" u="none" strike="noStrike" dirty="0">
                          <a:solidFill>
                            <a:schemeClr val="bg1"/>
                          </a:solidFill>
                          <a:effectLst/>
                        </a:rPr>
                        <a:t>拟投资结构一</a:t>
                      </a:r>
                      <a:endParaRPr lang="zh-CN" altLang="en-US" sz="1100" b="0" i="0" u="none" strike="noStrike" dirty="0">
                        <a:solidFill>
                          <a:schemeClr val="bg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1143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 dirty="0">
                          <a:solidFill>
                            <a:schemeClr val="bg1"/>
                          </a:solidFill>
                          <a:effectLst/>
                        </a:rPr>
                        <a:t>DCN</a:t>
                      </a:r>
                      <a:endParaRPr lang="en-US" sz="1100" b="0" i="0" u="none" strike="noStrike" dirty="0">
                        <a:solidFill>
                          <a:schemeClr val="bg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1430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CN" altLang="en-US" sz="1100" u="none" strike="noStrike" dirty="0">
                          <a:effectLst/>
                        </a:rPr>
                        <a:t>挂钩标的</a:t>
                      </a:r>
                      <a:endParaRPr lang="zh-CN" altLang="en-US" sz="1100" b="0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1143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000852.SH</a:t>
                      </a:r>
                      <a:endParaRPr lang="en-US" sz="1100" b="0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1430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CN" altLang="en-US" sz="1100" u="none" strike="noStrike" dirty="0">
                          <a:effectLst/>
                        </a:rPr>
                        <a:t>最长期限</a:t>
                      </a:r>
                      <a:endParaRPr lang="zh-CN" altLang="en-US" sz="1100" b="0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1143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24M</a:t>
                      </a:r>
                      <a:endParaRPr lang="en-US" sz="1100" b="0" i="0" u="none" strike="noStrike" dirty="0">
                        <a:solidFill>
                          <a:srgbClr val="012B5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1430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CN" altLang="en-US" sz="1100" u="none" strike="noStrike" dirty="0">
                          <a:effectLst/>
                        </a:rPr>
                        <a:t>敲出观察锁定</a:t>
                      </a:r>
                      <a:endParaRPr lang="zh-CN" altLang="en-US" sz="1100" b="0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1143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100" u="none" strike="noStrike">
                          <a:effectLst/>
                        </a:rPr>
                        <a:t>3</a:t>
                      </a:r>
                      <a:endParaRPr lang="en-US" altLang="zh-CN" sz="1100" b="0" i="0" u="none" strike="noStrike">
                        <a:solidFill>
                          <a:srgbClr val="012B5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1430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CN" altLang="en-US" sz="1100" u="none" strike="noStrike" dirty="0">
                          <a:effectLst/>
                        </a:rPr>
                        <a:t>初始敲出障碍价格</a:t>
                      </a:r>
                      <a:endParaRPr lang="zh-CN" altLang="en-US" sz="1100" b="0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1143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100" u="none" strike="noStrike" dirty="0">
                          <a:effectLst/>
                        </a:rPr>
                        <a:t>100.00%</a:t>
                      </a:r>
                      <a:endParaRPr lang="en-US" altLang="zh-CN" sz="1100" b="0" i="0" u="none" strike="noStrike" dirty="0">
                        <a:solidFill>
                          <a:srgbClr val="012B5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1430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CN" altLang="en-US" sz="1100" u="none" strike="noStrike" dirty="0">
                          <a:effectLst/>
                        </a:rPr>
                        <a:t>敲出障碍价格降低步长</a:t>
                      </a:r>
                      <a:endParaRPr lang="zh-CN" altLang="en-US" sz="1100" b="0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1143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100" b="0" u="none" strike="noStrike" dirty="0">
                          <a:solidFill>
                            <a:schemeClr val="accent3"/>
                          </a:solidFill>
                          <a:effectLst/>
                        </a:rPr>
                        <a:t>-0.50%</a:t>
                      </a:r>
                      <a:endParaRPr lang="en-US" altLang="zh-CN" sz="1100" b="0" i="0" u="none" strike="noStrike" dirty="0">
                        <a:solidFill>
                          <a:schemeClr val="accent3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1430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CN" altLang="en-US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期末止盈价格</a:t>
                      </a:r>
                    </a:p>
                  </a:txBody>
                  <a:tcPr marL="0" marR="1143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100" b="0" i="0" u="none" strike="noStrike" dirty="0">
                          <a:solidFill>
                            <a:srgbClr val="C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75.00%</a:t>
                      </a:r>
                    </a:p>
                  </a:txBody>
                  <a:tcPr marL="11430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CN" altLang="en-US" sz="1100" u="none" strike="noStrike" dirty="0">
                          <a:effectLst/>
                        </a:rPr>
                        <a:t>派息障碍价格</a:t>
                      </a:r>
                      <a:endParaRPr lang="zh-CN" altLang="en-US" sz="1100" b="0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1143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1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65.00%</a:t>
                      </a:r>
                      <a:endParaRPr lang="en-US" altLang="zh-CN" sz="1100" b="0" i="0" u="none" strike="noStrike" dirty="0">
                        <a:solidFill>
                          <a:srgbClr val="C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1430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CN" altLang="en-US" sz="1100" u="none" strike="noStrike" dirty="0">
                          <a:effectLst/>
                        </a:rPr>
                        <a:t>保证金比例</a:t>
                      </a:r>
                      <a:endParaRPr lang="zh-CN" altLang="en-US" sz="1100" b="0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1143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100" u="none" strike="noStrike" dirty="0">
                          <a:effectLst/>
                        </a:rPr>
                        <a:t>89.00%</a:t>
                      </a:r>
                      <a:endParaRPr lang="en-US" altLang="zh-CN" sz="1100" b="0" i="0" u="none" strike="noStrike" dirty="0">
                        <a:solidFill>
                          <a:srgbClr val="012B5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1430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最大亏损比例</a:t>
                      </a:r>
                      <a:endParaRPr lang="zh-CN" altLang="en-US" sz="1100" b="0" i="0" u="none" strike="noStrike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1143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100" u="none" strike="noStrike" dirty="0">
                          <a:effectLst/>
                        </a:rPr>
                        <a:t>89.00%</a:t>
                      </a:r>
                      <a:endParaRPr lang="en-US" altLang="zh-CN" sz="1100" b="0" i="0" u="none" strike="noStrike" dirty="0">
                        <a:solidFill>
                          <a:srgbClr val="012B5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1430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绝对后端返息</a:t>
                      </a:r>
                      <a:endParaRPr lang="zh-CN" altLang="en-US" sz="1100" b="0" i="0" u="none" strike="noStrike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1143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100" u="none" strike="noStrike" dirty="0">
                          <a:effectLst/>
                        </a:rPr>
                        <a:t>1.00%</a:t>
                      </a:r>
                      <a:endParaRPr lang="en-US" altLang="zh-CN" sz="1100" b="0" i="0" u="none" strike="noStrike" dirty="0">
                        <a:solidFill>
                          <a:srgbClr val="012B5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1430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CN" altLang="en-US" sz="1100" u="none" strike="noStrike">
                          <a:effectLst/>
                        </a:rPr>
                        <a:t>年化后端返息</a:t>
                      </a:r>
                      <a:endParaRPr lang="zh-CN" altLang="en-US" sz="1100" b="0" i="0" u="none" strike="noStrike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1143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100" u="none" strike="noStrike" dirty="0">
                          <a:effectLst/>
                        </a:rPr>
                        <a:t>0.32%</a:t>
                      </a:r>
                      <a:endParaRPr lang="en-US" altLang="zh-CN" sz="1100" b="0" i="0" u="none" strike="noStrike" dirty="0">
                        <a:solidFill>
                          <a:srgbClr val="012B5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1430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CN" altLang="en-US" sz="1100" u="none" strike="noStrike" dirty="0">
                          <a:effectLst/>
                        </a:rPr>
                        <a:t>每月绝对派息率</a:t>
                      </a:r>
                      <a:endParaRPr lang="zh-CN" altLang="en-US" sz="1100" b="0" i="0" u="none" strike="noStrike" dirty="0">
                        <a:solidFill>
                          <a:srgbClr val="FFFF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0" marR="1143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100" b="1" u="none" strike="noStrike" dirty="0">
                          <a:solidFill>
                            <a:srgbClr val="C00000"/>
                          </a:solidFill>
                          <a:effectLst/>
                        </a:rPr>
                        <a:t>0.65% </a:t>
                      </a:r>
                      <a:r>
                        <a:rPr lang="en-US" altLang="zh-CN" sz="1100" u="none" strike="noStrike" dirty="0">
                          <a:solidFill>
                            <a:srgbClr val="C00000"/>
                          </a:solidFill>
                          <a:effectLst/>
                        </a:rPr>
                        <a:t>*</a:t>
                      </a:r>
                      <a:endParaRPr lang="en-US" altLang="zh-CN" sz="1100" b="0" i="0" u="none" strike="noStrike" dirty="0">
                        <a:solidFill>
                          <a:srgbClr val="C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11430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4" name="矩形 3"/>
          <p:cNvSpPr/>
          <p:nvPr/>
        </p:nvSpPr>
        <p:spPr>
          <a:xfrm>
            <a:off x="380821" y="4962936"/>
            <a:ext cx="6303291" cy="796954"/>
          </a:xfrm>
          <a:prstGeom prst="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89%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6684113" y="4962936"/>
            <a:ext cx="760706" cy="796954"/>
          </a:xfrm>
          <a:prstGeom prst="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10%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7444818" y="4962936"/>
            <a:ext cx="360726" cy="796954"/>
          </a:xfrm>
          <a:prstGeom prst="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1%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561034" y="5759890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产品募集资金去向</a:t>
            </a:r>
          </a:p>
        </p:txBody>
      </p:sp>
      <p:cxnSp>
        <p:nvCxnSpPr>
          <p:cNvPr id="13" name="连接符: 肘形 12"/>
          <p:cNvCxnSpPr>
            <a:cxnSpLocks/>
            <a:endCxn id="2" idx="2"/>
          </p:cNvCxnSpPr>
          <p:nvPr/>
        </p:nvCxnSpPr>
        <p:spPr>
          <a:xfrm rot="16200000" flipV="1">
            <a:off x="5124297" y="3022765"/>
            <a:ext cx="2072565" cy="180777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连接符: 肘形 15"/>
          <p:cNvCxnSpPr>
            <a:cxnSpLocks/>
            <a:stCxn id="4" idx="0"/>
            <a:endCxn id="3" idx="2"/>
          </p:cNvCxnSpPr>
          <p:nvPr/>
        </p:nvCxnSpPr>
        <p:spPr>
          <a:xfrm rot="16200000" flipV="1">
            <a:off x="1977076" y="3407545"/>
            <a:ext cx="1533936" cy="157684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表格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3167347"/>
              </p:ext>
            </p:extLst>
          </p:nvPr>
        </p:nvGraphicFramePr>
        <p:xfrm>
          <a:off x="6982959" y="1117598"/>
          <a:ext cx="2854846" cy="16116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080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6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1161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CN" alt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一次性销售奖励</a:t>
                      </a:r>
                    </a:p>
                  </a:txBody>
                  <a:tcPr marL="0" marR="103603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1%</a:t>
                      </a:r>
                      <a:r>
                        <a:rPr lang="zh-CN" alt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（</a:t>
                      </a:r>
                      <a:r>
                        <a:rPr lang="en-US" altLang="zh-CN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0.9%+0.1%</a:t>
                      </a:r>
                      <a:r>
                        <a:rPr lang="zh-CN" alt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）</a:t>
                      </a:r>
                    </a:p>
                  </a:txBody>
                  <a:tcPr marL="103603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2" name="连接符: 肘形 21"/>
          <p:cNvCxnSpPr>
            <a:stCxn id="6" idx="0"/>
            <a:endCxn id="20" idx="2"/>
          </p:cNvCxnSpPr>
          <p:nvPr/>
        </p:nvCxnSpPr>
        <p:spPr>
          <a:xfrm rot="5400000" flipH="1" flipV="1">
            <a:off x="6175693" y="2728248"/>
            <a:ext cx="3684177" cy="785201"/>
          </a:xfrm>
          <a:prstGeom prst="bentConnector3">
            <a:avLst>
              <a:gd name="adj1" fmla="val 1599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267779" y="52425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投资策略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5D1D953-F249-1EE5-53A7-4FB5AF3D6634}"/>
              </a:ext>
            </a:extLst>
          </p:cNvPr>
          <p:cNvSpPr txBox="1"/>
          <p:nvPr/>
        </p:nvSpPr>
        <p:spPr>
          <a:xfrm>
            <a:off x="347265" y="6426039"/>
            <a:ext cx="53206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dirty="0">
                <a:solidFill>
                  <a:schemeClr val="bg2">
                    <a:lumMod val="75000"/>
                  </a:schemeClr>
                </a:solidFill>
              </a:rPr>
              <a:t>*</a:t>
            </a:r>
            <a:r>
              <a:rPr lang="zh-CN" altLang="en-US" sz="1100" dirty="0">
                <a:solidFill>
                  <a:schemeClr val="bg2">
                    <a:lumMod val="75000"/>
                  </a:schemeClr>
                </a:solidFill>
              </a:rPr>
              <a:t>为当前示意性报价，我部门可承诺场外期权实际成交价格不低于该示意性收益率。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E1781F6-DEED-92BF-B37D-03D494D27FBD}"/>
              </a:ext>
            </a:extLst>
          </p:cNvPr>
          <p:cNvSpPr txBox="1"/>
          <p:nvPr/>
        </p:nvSpPr>
        <p:spPr>
          <a:xfrm>
            <a:off x="8590744" y="2500723"/>
            <a:ext cx="3601256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概述：</a:t>
            </a:r>
            <a:endParaRPr lang="en-US" altLang="zh-CN" sz="1400" dirty="0"/>
          </a:p>
          <a:p>
            <a:r>
              <a:rPr lang="zh-CN" altLang="en-US" sz="1400" dirty="0"/>
              <a:t>若存续期间每期均发生派息，</a:t>
            </a:r>
            <a:endParaRPr lang="en-US" altLang="zh-CN" sz="1400" dirty="0"/>
          </a:p>
          <a:p>
            <a:endParaRPr lang="en-US" altLang="zh-CN" sz="1400" dirty="0"/>
          </a:p>
          <a:p>
            <a:r>
              <a:rPr lang="zh-CN" altLang="en-US" sz="1400" dirty="0"/>
              <a:t>首年敲出综合年化收益率约</a:t>
            </a:r>
            <a:endParaRPr lang="en-US" altLang="zh-CN" sz="1400" dirty="0"/>
          </a:p>
          <a:p>
            <a:r>
              <a:rPr lang="en-US" altLang="zh-CN" sz="1400" dirty="0"/>
              <a:t>0.65%*12 + 22%*0.1 = </a:t>
            </a:r>
            <a:r>
              <a:rPr lang="en-US" altLang="zh-CN" sz="1400" b="1" dirty="0">
                <a:solidFill>
                  <a:srgbClr val="FF0000"/>
                </a:solidFill>
              </a:rPr>
              <a:t>10%</a:t>
            </a:r>
          </a:p>
          <a:p>
            <a:endParaRPr lang="en-US" altLang="zh-CN" sz="1400" dirty="0"/>
          </a:p>
          <a:p>
            <a:r>
              <a:rPr lang="zh-CN" altLang="en-US" sz="1400" dirty="0"/>
              <a:t>次年敲出年化收益率约</a:t>
            </a:r>
            <a:endParaRPr lang="en-US" altLang="zh-CN" sz="1400" dirty="0"/>
          </a:p>
          <a:p>
            <a:r>
              <a:rPr lang="en-US" altLang="zh-CN" sz="1400" dirty="0"/>
              <a:t>0.65%*12 + 7%*0.1 = </a:t>
            </a:r>
            <a:r>
              <a:rPr lang="en-US" altLang="zh-CN" sz="1400" b="1" dirty="0">
                <a:solidFill>
                  <a:srgbClr val="FF0000"/>
                </a:solidFill>
              </a:rPr>
              <a:t>8.5%</a:t>
            </a:r>
          </a:p>
          <a:p>
            <a:endParaRPr lang="en-US" altLang="zh-CN" sz="1400" dirty="0"/>
          </a:p>
          <a:p>
            <a:r>
              <a:rPr lang="en-US" altLang="zh-CN" sz="1400" dirty="0"/>
              <a:t>*</a:t>
            </a:r>
            <a:r>
              <a:rPr lang="zh-CN" altLang="en-US" sz="1400" dirty="0"/>
              <a:t>预估了销售费、管理费、托管费，未计入业绩计提以及税费的影响。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0BA96-9DF3-E201-7517-0361F10E7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23">
            <a:extLst>
              <a:ext uri="{FF2B5EF4-FFF2-40B4-BE49-F238E27FC236}">
                <a16:creationId xmlns:a16="http://schemas.microsoft.com/office/drawing/2014/main" id="{DD40BDF6-A664-052E-9867-3AA6C32959A3}"/>
              </a:ext>
            </a:extLst>
          </p:cNvPr>
          <p:cNvSpPr txBox="1"/>
          <p:nvPr/>
        </p:nvSpPr>
        <p:spPr>
          <a:xfrm>
            <a:off x="267779" y="524251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收益风险概述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A8519C3-F9BB-CF4F-C10A-E043F92867AE}"/>
              </a:ext>
            </a:extLst>
          </p:cNvPr>
          <p:cNvSpPr txBox="1"/>
          <p:nvPr/>
        </p:nvSpPr>
        <p:spPr>
          <a:xfrm>
            <a:off x="267778" y="1124928"/>
            <a:ext cx="11267083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收益分析：</a:t>
            </a:r>
            <a:endParaRPr lang="en-US" altLang="zh-CN" sz="1400" dirty="0"/>
          </a:p>
          <a:p>
            <a:endParaRPr lang="en-US" altLang="zh-CN" sz="1400" dirty="0"/>
          </a:p>
          <a:p>
            <a:r>
              <a:rPr lang="zh-CN" altLang="en-US" sz="1400" dirty="0"/>
              <a:t>若存续期间每期均发生派息，首年敲出综合年化收益率约</a:t>
            </a:r>
            <a:r>
              <a:rPr lang="en-US" altLang="zh-CN" sz="1400" dirty="0"/>
              <a:t> 0.65%*12 + 22%*0.1 = </a:t>
            </a:r>
            <a:r>
              <a:rPr lang="en-US" altLang="zh-CN" sz="1400" b="1" dirty="0">
                <a:solidFill>
                  <a:srgbClr val="FF0000"/>
                </a:solidFill>
              </a:rPr>
              <a:t>10%</a:t>
            </a:r>
            <a:r>
              <a:rPr lang="zh-CN" altLang="en-US" sz="1400" b="1" dirty="0">
                <a:solidFill>
                  <a:srgbClr val="FF0000"/>
                </a:solidFill>
              </a:rPr>
              <a:t>；</a:t>
            </a:r>
            <a:r>
              <a:rPr lang="zh-CN" altLang="en-US" sz="1400" dirty="0"/>
              <a:t>次年敲出年化收益率约</a:t>
            </a:r>
            <a:r>
              <a:rPr lang="en-US" altLang="zh-CN" sz="1400" dirty="0"/>
              <a:t> 0.65%*12 + 7%*0.1 = </a:t>
            </a:r>
            <a:r>
              <a:rPr lang="en-US" altLang="zh-CN" sz="1400" b="1" dirty="0">
                <a:solidFill>
                  <a:srgbClr val="FF0000"/>
                </a:solidFill>
              </a:rPr>
              <a:t>8.5%</a:t>
            </a:r>
            <a:r>
              <a:rPr lang="zh-CN" altLang="en-US" sz="1400" b="1" dirty="0">
                <a:solidFill>
                  <a:srgbClr val="FF0000"/>
                </a:solidFill>
              </a:rPr>
              <a:t> </a:t>
            </a:r>
            <a:r>
              <a:rPr lang="zh-CN" altLang="en-US" sz="1400" dirty="0"/>
              <a:t>（预估了销售费、管理费、托管费，未计入业绩计提以及税费的影响）。</a:t>
            </a:r>
            <a:endParaRPr lang="en-US" altLang="zh-CN" sz="1400" dirty="0"/>
          </a:p>
          <a:p>
            <a:endParaRPr lang="en-US" altLang="zh-CN" sz="1400" dirty="0"/>
          </a:p>
          <a:p>
            <a:r>
              <a:rPr lang="zh-CN" altLang="en-US" sz="1400" dirty="0"/>
              <a:t>结构特点：</a:t>
            </a:r>
            <a:endParaRPr lang="en-US" altLang="zh-CN" sz="1400" dirty="0"/>
          </a:p>
          <a:p>
            <a:endParaRPr lang="en-US" altLang="zh-CN" sz="1400" dirty="0"/>
          </a:p>
          <a:p>
            <a:r>
              <a:rPr lang="zh-CN" altLang="en-US" sz="1400" dirty="0"/>
              <a:t>鉴于市场指数大幅走高，大幅降低</a:t>
            </a:r>
            <a:r>
              <a:rPr lang="en-US" altLang="zh-CN" sz="1400" dirty="0"/>
              <a:t>DCN</a:t>
            </a:r>
            <a:r>
              <a:rPr lang="zh-CN" altLang="en-US" sz="1400" dirty="0"/>
              <a:t>止盈线以及雪球部分的敲入线至</a:t>
            </a:r>
            <a:r>
              <a:rPr lang="en-US" altLang="zh-CN" sz="1400" dirty="0"/>
              <a:t>65%</a:t>
            </a:r>
            <a:r>
              <a:rPr lang="zh-CN" altLang="en-US" sz="1400" dirty="0"/>
              <a:t>，比如以</a:t>
            </a:r>
            <a:r>
              <a:rPr lang="en-US" altLang="zh-CN" sz="1400" dirty="0"/>
              <a:t>8500</a:t>
            </a:r>
            <a:r>
              <a:rPr lang="zh-CN" altLang="en-US" sz="1400" dirty="0"/>
              <a:t>计，对应的敲入水平仅</a:t>
            </a:r>
            <a:r>
              <a:rPr lang="en-US" altLang="zh-CN" sz="1400" dirty="0"/>
              <a:t>5525</a:t>
            </a:r>
            <a:r>
              <a:rPr lang="zh-CN" altLang="en-US" sz="1400" dirty="0"/>
              <a:t>；同时保留了降敲，提高敲出提前止盈的概率；</a:t>
            </a:r>
            <a:endParaRPr lang="en-US" altLang="zh-CN" sz="1400" dirty="0"/>
          </a:p>
          <a:p>
            <a:endParaRPr lang="en-US" altLang="zh-CN" sz="1400" dirty="0"/>
          </a:p>
          <a:p>
            <a:r>
              <a:rPr lang="zh-CN" altLang="en-US" sz="1400" dirty="0"/>
              <a:t>短期市场相对乐观，派息障碍为</a:t>
            </a:r>
            <a:r>
              <a:rPr lang="en-US" altLang="zh-CN" sz="1400" dirty="0"/>
              <a:t>75%</a:t>
            </a:r>
            <a:r>
              <a:rPr lang="zh-CN" altLang="en-US" sz="1400" dirty="0"/>
              <a:t>的水平，以实现较高的</a:t>
            </a:r>
            <a:r>
              <a:rPr lang="en-US" altLang="zh-CN" sz="1400" dirty="0"/>
              <a:t>DCN</a:t>
            </a:r>
            <a:r>
              <a:rPr lang="zh-CN" altLang="en-US" sz="1400" dirty="0"/>
              <a:t>派息水平；</a:t>
            </a:r>
            <a:endParaRPr lang="en-US" altLang="zh-CN" sz="1400" dirty="0"/>
          </a:p>
          <a:p>
            <a:endParaRPr lang="en-US" altLang="zh-CN" sz="1400" dirty="0"/>
          </a:p>
          <a:p>
            <a:r>
              <a:rPr lang="zh-CN" altLang="en-US" sz="1400" dirty="0"/>
              <a:t>复合策略仍选择早利雪球，以表达相对乐观的市场观点，但同时将投资比例维持在</a:t>
            </a:r>
            <a:r>
              <a:rPr lang="en-US" altLang="zh-CN" sz="1400" dirty="0"/>
              <a:t>10%</a:t>
            </a:r>
            <a:r>
              <a:rPr lang="zh-CN" altLang="en-US" sz="1400" dirty="0"/>
              <a:t>的水平，使风险相对可控。</a:t>
            </a:r>
          </a:p>
        </p:txBody>
      </p:sp>
    </p:spTree>
    <p:extLst>
      <p:ext uri="{BB962C8B-B14F-4D97-AF65-F5344CB8AC3E}">
        <p14:creationId xmlns:p14="http://schemas.microsoft.com/office/powerpoint/2010/main" val="25414047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ED44D587-DAAD-0887-F031-0C4B75402153}"/>
              </a:ext>
            </a:extLst>
          </p:cNvPr>
          <p:cNvSpPr/>
          <p:nvPr/>
        </p:nvSpPr>
        <p:spPr>
          <a:xfrm>
            <a:off x="352708" y="1636550"/>
            <a:ext cx="5550970" cy="2045689"/>
          </a:xfrm>
          <a:prstGeom prst="rect">
            <a:avLst/>
          </a:prstGeom>
          <a:solidFill>
            <a:srgbClr val="0F9ED5">
              <a:alpha val="2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267779" y="52425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情景一</a:t>
            </a:r>
          </a:p>
        </p:txBody>
      </p:sp>
      <p:cxnSp>
        <p:nvCxnSpPr>
          <p:cNvPr id="6" name="直接箭头连接符 5"/>
          <p:cNvCxnSpPr/>
          <p:nvPr/>
        </p:nvCxnSpPr>
        <p:spPr>
          <a:xfrm flipV="1">
            <a:off x="366471" y="1358315"/>
            <a:ext cx="6594" cy="30246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373066" y="3697166"/>
            <a:ext cx="9420099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 flipV="1">
            <a:off x="373066" y="1976805"/>
            <a:ext cx="946992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1639158" y="1976805"/>
            <a:ext cx="8142284" cy="729026"/>
          </a:xfrm>
          <a:prstGeom prst="line">
            <a:avLst/>
          </a:prstGeom>
          <a:ln>
            <a:solidFill>
              <a:schemeClr val="accent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1651133" y="1966363"/>
            <a:ext cx="0" cy="1201979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742646" y="1976805"/>
            <a:ext cx="0" cy="1201979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1198381" y="1976805"/>
            <a:ext cx="0" cy="1201979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2120107" y="2035419"/>
            <a:ext cx="0" cy="1143365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2580240" y="2094035"/>
            <a:ext cx="0" cy="1095006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3000804" y="2104293"/>
            <a:ext cx="0" cy="1084748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>
            <a:off x="9781442" y="2705831"/>
            <a:ext cx="0" cy="48321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>
            <a:off x="9313397" y="2723302"/>
            <a:ext cx="0" cy="483211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373065" y="3178784"/>
            <a:ext cx="9408377" cy="10257"/>
          </a:xfrm>
          <a:prstGeom prst="line">
            <a:avLst/>
          </a:prstGeom>
          <a:ln>
            <a:solidFill>
              <a:schemeClr val="accent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/>
          <p:cNvCxnSpPr/>
          <p:nvPr/>
        </p:nvCxnSpPr>
        <p:spPr>
          <a:xfrm>
            <a:off x="9771191" y="1314450"/>
            <a:ext cx="28051" cy="32267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椭圆 58"/>
          <p:cNvSpPr/>
          <p:nvPr/>
        </p:nvSpPr>
        <p:spPr>
          <a:xfrm>
            <a:off x="1628273" y="1941359"/>
            <a:ext cx="45719" cy="45719"/>
          </a:xfrm>
          <a:prstGeom prst="ellips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椭圆 59"/>
          <p:cNvSpPr/>
          <p:nvPr/>
        </p:nvSpPr>
        <p:spPr>
          <a:xfrm>
            <a:off x="2103885" y="2027230"/>
            <a:ext cx="45719" cy="45719"/>
          </a:xfrm>
          <a:prstGeom prst="ellips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椭圆 60"/>
          <p:cNvSpPr/>
          <p:nvPr/>
        </p:nvSpPr>
        <p:spPr>
          <a:xfrm>
            <a:off x="2572859" y="2050089"/>
            <a:ext cx="45719" cy="45719"/>
          </a:xfrm>
          <a:prstGeom prst="ellips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椭圆 61"/>
          <p:cNvSpPr/>
          <p:nvPr/>
        </p:nvSpPr>
        <p:spPr>
          <a:xfrm>
            <a:off x="3003496" y="2094035"/>
            <a:ext cx="45719" cy="45719"/>
          </a:xfrm>
          <a:prstGeom prst="ellips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椭圆 62"/>
          <p:cNvSpPr/>
          <p:nvPr/>
        </p:nvSpPr>
        <p:spPr>
          <a:xfrm>
            <a:off x="9302217" y="2645729"/>
            <a:ext cx="45719" cy="45719"/>
          </a:xfrm>
          <a:prstGeom prst="ellips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椭圆 63"/>
          <p:cNvSpPr/>
          <p:nvPr/>
        </p:nvSpPr>
        <p:spPr>
          <a:xfrm>
            <a:off x="9764206" y="2693413"/>
            <a:ext cx="45719" cy="45719"/>
          </a:xfrm>
          <a:prstGeom prst="ellips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椭圆 64"/>
          <p:cNvSpPr/>
          <p:nvPr/>
        </p:nvSpPr>
        <p:spPr>
          <a:xfrm>
            <a:off x="724413" y="3149478"/>
            <a:ext cx="45719" cy="45719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椭圆 66"/>
          <p:cNvSpPr/>
          <p:nvPr/>
        </p:nvSpPr>
        <p:spPr>
          <a:xfrm>
            <a:off x="1193386" y="3160794"/>
            <a:ext cx="45719" cy="45719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椭圆 67"/>
          <p:cNvSpPr/>
          <p:nvPr/>
        </p:nvSpPr>
        <p:spPr>
          <a:xfrm>
            <a:off x="1658731" y="3166181"/>
            <a:ext cx="45719" cy="45719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椭圆 68"/>
          <p:cNvSpPr/>
          <p:nvPr/>
        </p:nvSpPr>
        <p:spPr>
          <a:xfrm>
            <a:off x="2111266" y="3160794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椭圆 69"/>
          <p:cNvSpPr/>
          <p:nvPr/>
        </p:nvSpPr>
        <p:spPr>
          <a:xfrm>
            <a:off x="2572858" y="3160794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椭圆 70"/>
          <p:cNvSpPr/>
          <p:nvPr/>
        </p:nvSpPr>
        <p:spPr>
          <a:xfrm>
            <a:off x="2988731" y="3158889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椭圆 71"/>
          <p:cNvSpPr/>
          <p:nvPr/>
        </p:nvSpPr>
        <p:spPr>
          <a:xfrm>
            <a:off x="9302216" y="3154219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椭圆 72"/>
          <p:cNvSpPr/>
          <p:nvPr/>
        </p:nvSpPr>
        <p:spPr>
          <a:xfrm>
            <a:off x="9763315" y="3168342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椭圆 73"/>
          <p:cNvSpPr/>
          <p:nvPr/>
        </p:nvSpPr>
        <p:spPr>
          <a:xfrm>
            <a:off x="10322400" y="1764047"/>
            <a:ext cx="91440" cy="91440"/>
          </a:xfrm>
          <a:prstGeom prst="ellips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文本框 74"/>
          <p:cNvSpPr txBox="1"/>
          <p:nvPr/>
        </p:nvSpPr>
        <p:spPr>
          <a:xfrm>
            <a:off x="10413840" y="1668616"/>
            <a:ext cx="17299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/>
              <a:t>DCN</a:t>
            </a:r>
            <a:r>
              <a:rPr lang="zh-CN" altLang="en-US" sz="1200" dirty="0"/>
              <a:t>与雪球的敲出观察</a:t>
            </a:r>
          </a:p>
        </p:txBody>
      </p:sp>
      <p:sp>
        <p:nvSpPr>
          <p:cNvPr id="76" name="椭圆 75"/>
          <p:cNvSpPr/>
          <p:nvPr/>
        </p:nvSpPr>
        <p:spPr>
          <a:xfrm>
            <a:off x="10326367" y="2312741"/>
            <a:ext cx="91440" cy="91440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文本框 76"/>
          <p:cNvSpPr txBox="1"/>
          <p:nvPr/>
        </p:nvSpPr>
        <p:spPr>
          <a:xfrm>
            <a:off x="10413840" y="2219961"/>
            <a:ext cx="11144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/>
              <a:t>DCN</a:t>
            </a:r>
            <a:r>
              <a:rPr lang="zh-CN" altLang="en-US" sz="1200" dirty="0"/>
              <a:t>派息观察</a:t>
            </a:r>
          </a:p>
        </p:txBody>
      </p:sp>
      <p:cxnSp>
        <p:nvCxnSpPr>
          <p:cNvPr id="78" name="直接连接符 77"/>
          <p:cNvCxnSpPr/>
          <p:nvPr/>
        </p:nvCxnSpPr>
        <p:spPr>
          <a:xfrm>
            <a:off x="10322400" y="3418206"/>
            <a:ext cx="127792" cy="0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文本框 80"/>
          <p:cNvSpPr txBox="1"/>
          <p:nvPr/>
        </p:nvSpPr>
        <p:spPr>
          <a:xfrm>
            <a:off x="10415016" y="3293900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雪球敲入观察</a:t>
            </a:r>
          </a:p>
        </p:txBody>
      </p:sp>
      <p:sp>
        <p:nvSpPr>
          <p:cNvPr id="88" name="椭圆 87"/>
          <p:cNvSpPr/>
          <p:nvPr/>
        </p:nvSpPr>
        <p:spPr>
          <a:xfrm>
            <a:off x="352708" y="1953945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文本框 89"/>
          <p:cNvSpPr txBox="1"/>
          <p:nvPr/>
        </p:nvSpPr>
        <p:spPr>
          <a:xfrm>
            <a:off x="280035" y="4570730"/>
            <a:ext cx="7990840" cy="175895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zh-CN" altLang="en-US" sz="1200" dirty="0"/>
              <a:t>起息后，指数上涨强劲，产品在锁定期满后即敲出，那么：</a:t>
            </a:r>
            <a:endParaRPr lang="en-US" altLang="zh-CN" sz="1200" dirty="0"/>
          </a:p>
          <a:p>
            <a:endParaRPr lang="en-US" altLang="zh-CN" sz="1200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altLang="zh-CN" sz="1200" dirty="0"/>
              <a:t>DCN</a:t>
            </a:r>
            <a:r>
              <a:rPr lang="zh-CN" altLang="en-US" sz="1200" dirty="0"/>
              <a:t>部分产生</a:t>
            </a:r>
            <a:r>
              <a:rPr lang="en-US" altLang="zh-CN" sz="1200" dirty="0"/>
              <a:t>3</a:t>
            </a:r>
            <a:r>
              <a:rPr lang="zh-CN" altLang="en-US" sz="1200" dirty="0"/>
              <a:t>次派息，对产品的收益贡献为  </a:t>
            </a:r>
            <a:r>
              <a:rPr lang="en-US" altLang="zh-CN" sz="1200" dirty="0"/>
              <a:t>0.65%【</a:t>
            </a:r>
            <a:r>
              <a:rPr lang="zh-CN" altLang="en-US" sz="1200" dirty="0"/>
              <a:t>派息率</a:t>
            </a:r>
            <a:r>
              <a:rPr lang="en-US" altLang="zh-CN" sz="1200" dirty="0"/>
              <a:t>】 * 3【</a:t>
            </a:r>
            <a:r>
              <a:rPr lang="zh-CN" altLang="en-US" sz="1200" dirty="0"/>
              <a:t>派息次数</a:t>
            </a:r>
            <a:r>
              <a:rPr lang="en-US" altLang="zh-CN" sz="1200" dirty="0"/>
              <a:t>】 = </a:t>
            </a:r>
            <a:r>
              <a:rPr lang="en-US" altLang="zh-CN" sz="1200" b="1" dirty="0"/>
              <a:t>1.95%</a:t>
            </a:r>
            <a:r>
              <a:rPr lang="zh-CN" altLang="en-US" sz="1200" dirty="0"/>
              <a:t>；</a:t>
            </a:r>
            <a:endParaRPr lang="en-US" altLang="zh-CN" sz="1200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200" dirty="0"/>
              <a:t>早利雪球在首年敲出，获得早利票息，对产品的收益贡献为  </a:t>
            </a:r>
            <a:r>
              <a:rPr lang="en-US" altLang="zh-CN" sz="1200" dirty="0"/>
              <a:t>22%【</a:t>
            </a:r>
            <a:r>
              <a:rPr lang="zh-CN" altLang="en-US" sz="1200" dirty="0"/>
              <a:t>首年票息</a:t>
            </a:r>
            <a:r>
              <a:rPr lang="en-US" altLang="zh-CN" sz="1200" dirty="0"/>
              <a:t>】* 3/12 【</a:t>
            </a:r>
            <a:r>
              <a:rPr lang="zh-CN" altLang="en-US" sz="1200" dirty="0"/>
              <a:t>期限</a:t>
            </a:r>
            <a:r>
              <a:rPr lang="en-US" altLang="zh-CN" sz="1200" dirty="0"/>
              <a:t>】* 10%【</a:t>
            </a:r>
            <a:r>
              <a:rPr lang="zh-CN" altLang="en-US" sz="1200" dirty="0"/>
              <a:t>投资比例</a:t>
            </a:r>
            <a:r>
              <a:rPr lang="en-US" altLang="zh-CN" sz="1200" dirty="0"/>
              <a:t>】 = </a:t>
            </a:r>
            <a:r>
              <a:rPr lang="en-US" altLang="zh-CN" sz="1200" b="1" dirty="0"/>
              <a:t>0.55%</a:t>
            </a:r>
            <a:r>
              <a:rPr lang="en-US" altLang="zh-CN" sz="1200" dirty="0"/>
              <a:t>;</a:t>
            </a:r>
          </a:p>
          <a:p>
            <a:endParaRPr lang="en-US" altLang="zh-CN" sz="1200" dirty="0"/>
          </a:p>
          <a:p>
            <a:r>
              <a:rPr lang="zh-CN" altLang="en-US" sz="1200" dirty="0"/>
              <a:t>合计产品绝对收益率为 </a:t>
            </a:r>
            <a:r>
              <a:rPr lang="en-US" altLang="zh-CN" sz="1200" b="1" dirty="0">
                <a:solidFill>
                  <a:srgbClr val="C00000"/>
                </a:solidFill>
              </a:rPr>
              <a:t>2.50%</a:t>
            </a:r>
            <a:r>
              <a:rPr lang="zh-CN" altLang="en-US" sz="1200" dirty="0"/>
              <a:t>，年化约 </a:t>
            </a:r>
            <a:r>
              <a:rPr lang="en-US" altLang="zh-CN" sz="1200" b="1" dirty="0">
                <a:solidFill>
                  <a:srgbClr val="C00000"/>
                </a:solidFill>
              </a:rPr>
              <a:t>10.00%</a:t>
            </a:r>
            <a:r>
              <a:rPr lang="en-US" altLang="zh-CN" sz="1200" dirty="0"/>
              <a:t>*</a:t>
            </a:r>
            <a:r>
              <a:rPr lang="zh-CN" altLang="en-US" sz="1200" dirty="0"/>
              <a:t>。</a:t>
            </a:r>
            <a:endParaRPr lang="en-US" altLang="zh-CN" sz="1200" dirty="0"/>
          </a:p>
          <a:p>
            <a:endParaRPr lang="en-US" altLang="zh-CN" sz="1200" dirty="0">
              <a:solidFill>
                <a:srgbClr val="C00000"/>
              </a:solidFill>
            </a:endParaRPr>
          </a:p>
          <a:p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*</a:t>
            </a:r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收益测算基于情景分析，预估了销售费管理费，</a:t>
            </a:r>
            <a:r>
              <a:rPr lang="zh-CN" altLang="en-US" sz="9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未计入业绩计提</a:t>
            </a:r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以及可能产生的税费的影响，仅作为参考不作为收益承诺。</a:t>
            </a:r>
            <a:endParaRPr lang="en-US" altLang="zh-CN" sz="1200" dirty="0">
              <a:solidFill>
                <a:srgbClr val="C00000"/>
              </a:solidFill>
            </a:endParaRPr>
          </a:p>
        </p:txBody>
      </p:sp>
      <p:sp>
        <p:nvSpPr>
          <p:cNvPr id="3" name="椭圆 2"/>
          <p:cNvSpPr/>
          <p:nvPr/>
        </p:nvSpPr>
        <p:spPr>
          <a:xfrm>
            <a:off x="9771801" y="3671334"/>
            <a:ext cx="45719" cy="4571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10322346" y="2836800"/>
            <a:ext cx="90000" cy="900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0414800" y="2743355"/>
            <a:ext cx="1102995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/>
              <a:t>DCN</a:t>
            </a:r>
            <a:r>
              <a:rPr lang="zh-CN" altLang="en-US" sz="1200" dirty="0"/>
              <a:t>敲入观察</a:t>
            </a: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9672127A-3BCD-44DD-2FB8-4FE374933DCD}"/>
              </a:ext>
            </a:extLst>
          </p:cNvPr>
          <p:cNvSpPr/>
          <p:nvPr/>
        </p:nvSpPr>
        <p:spPr>
          <a:xfrm>
            <a:off x="364921" y="1489046"/>
            <a:ext cx="1266738" cy="673084"/>
          </a:xfrm>
          <a:custGeom>
            <a:avLst/>
            <a:gdLst>
              <a:gd name="csX0" fmla="*/ 0 w 1266738"/>
              <a:gd name="csY0" fmla="*/ 494950 h 673084"/>
              <a:gd name="csX1" fmla="*/ 440422 w 1266738"/>
              <a:gd name="csY1" fmla="*/ 637563 h 673084"/>
              <a:gd name="csX2" fmla="*/ 901817 w 1266738"/>
              <a:gd name="csY2" fmla="*/ 612396 h 673084"/>
              <a:gd name="csX3" fmla="*/ 1266738 w 1266738"/>
              <a:gd name="csY3" fmla="*/ 0 h 6730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66738" h="673084">
                <a:moveTo>
                  <a:pt x="0" y="494950"/>
                </a:moveTo>
                <a:cubicBezTo>
                  <a:pt x="145059" y="556469"/>
                  <a:pt x="290119" y="617989"/>
                  <a:pt x="440422" y="637563"/>
                </a:cubicBezTo>
                <a:cubicBezTo>
                  <a:pt x="590725" y="657137"/>
                  <a:pt x="764098" y="718656"/>
                  <a:pt x="901817" y="612396"/>
                </a:cubicBezTo>
                <a:cubicBezTo>
                  <a:pt x="1039536" y="506136"/>
                  <a:pt x="1153137" y="253068"/>
                  <a:pt x="1266738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6F2109E4-7BB1-8F9D-0184-7DDA6C78B6FD}"/>
              </a:ext>
            </a:extLst>
          </p:cNvPr>
          <p:cNvSpPr/>
          <p:nvPr/>
        </p:nvSpPr>
        <p:spPr>
          <a:xfrm>
            <a:off x="1620862" y="1445546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B981162-1712-5772-F01D-4E39DE06BA9A}"/>
              </a:ext>
            </a:extLst>
          </p:cNvPr>
          <p:cNvSpPr/>
          <p:nvPr/>
        </p:nvSpPr>
        <p:spPr>
          <a:xfrm>
            <a:off x="10322346" y="3841991"/>
            <a:ext cx="159654" cy="164592"/>
          </a:xfrm>
          <a:prstGeom prst="rect">
            <a:avLst/>
          </a:prstGeom>
          <a:solidFill>
            <a:srgbClr val="0F9ED5">
              <a:alpha val="2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8FEF02F-B281-38CE-5A3B-E81D2073E077}"/>
              </a:ext>
            </a:extLst>
          </p:cNvPr>
          <p:cNvSpPr txBox="1"/>
          <p:nvPr/>
        </p:nvSpPr>
        <p:spPr>
          <a:xfrm>
            <a:off x="10482000" y="3785306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早利期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7779" y="52425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情景二</a:t>
            </a:r>
          </a:p>
        </p:txBody>
      </p:sp>
      <p:cxnSp>
        <p:nvCxnSpPr>
          <p:cNvPr id="6" name="直接箭头连接符 5"/>
          <p:cNvCxnSpPr/>
          <p:nvPr/>
        </p:nvCxnSpPr>
        <p:spPr>
          <a:xfrm flipV="1">
            <a:off x="366471" y="1358315"/>
            <a:ext cx="6594" cy="30246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373066" y="3697166"/>
            <a:ext cx="9420099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 flipV="1">
            <a:off x="373066" y="1976805"/>
            <a:ext cx="946992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1639158" y="1976805"/>
            <a:ext cx="8142284" cy="729026"/>
          </a:xfrm>
          <a:prstGeom prst="line">
            <a:avLst/>
          </a:prstGeom>
          <a:ln>
            <a:solidFill>
              <a:schemeClr val="accent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1651133" y="1966363"/>
            <a:ext cx="0" cy="1201979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742646" y="1976805"/>
            <a:ext cx="0" cy="1201979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1198381" y="1976805"/>
            <a:ext cx="0" cy="1201979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2120107" y="2035419"/>
            <a:ext cx="0" cy="1143365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2580240" y="2094035"/>
            <a:ext cx="0" cy="1095006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3034450" y="2094036"/>
            <a:ext cx="0" cy="1084748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>
            <a:off x="9781442" y="2705831"/>
            <a:ext cx="0" cy="48321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>
            <a:off x="9313397" y="2723302"/>
            <a:ext cx="0" cy="483211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373065" y="3178784"/>
            <a:ext cx="9408377" cy="10257"/>
          </a:xfrm>
          <a:prstGeom prst="line">
            <a:avLst/>
          </a:prstGeom>
          <a:ln>
            <a:solidFill>
              <a:schemeClr val="accent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/>
          <p:cNvCxnSpPr/>
          <p:nvPr/>
        </p:nvCxnSpPr>
        <p:spPr>
          <a:xfrm>
            <a:off x="9771191" y="1314450"/>
            <a:ext cx="28051" cy="32267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椭圆 58"/>
          <p:cNvSpPr/>
          <p:nvPr/>
        </p:nvSpPr>
        <p:spPr>
          <a:xfrm>
            <a:off x="1628273" y="1941359"/>
            <a:ext cx="45719" cy="45719"/>
          </a:xfrm>
          <a:prstGeom prst="ellips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椭圆 59"/>
          <p:cNvSpPr/>
          <p:nvPr/>
        </p:nvSpPr>
        <p:spPr>
          <a:xfrm>
            <a:off x="2103885" y="2027230"/>
            <a:ext cx="45719" cy="45719"/>
          </a:xfrm>
          <a:prstGeom prst="ellips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椭圆 60"/>
          <p:cNvSpPr/>
          <p:nvPr/>
        </p:nvSpPr>
        <p:spPr>
          <a:xfrm>
            <a:off x="2572859" y="2050089"/>
            <a:ext cx="45719" cy="45719"/>
          </a:xfrm>
          <a:prstGeom prst="ellips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椭圆 61"/>
          <p:cNvSpPr/>
          <p:nvPr/>
        </p:nvSpPr>
        <p:spPr>
          <a:xfrm>
            <a:off x="3003496" y="2094035"/>
            <a:ext cx="45719" cy="45719"/>
          </a:xfrm>
          <a:prstGeom prst="ellips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椭圆 62"/>
          <p:cNvSpPr/>
          <p:nvPr/>
        </p:nvSpPr>
        <p:spPr>
          <a:xfrm>
            <a:off x="9302217" y="2645729"/>
            <a:ext cx="45719" cy="45719"/>
          </a:xfrm>
          <a:prstGeom prst="ellips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椭圆 63"/>
          <p:cNvSpPr/>
          <p:nvPr/>
        </p:nvSpPr>
        <p:spPr>
          <a:xfrm>
            <a:off x="9771191" y="2693413"/>
            <a:ext cx="45719" cy="45719"/>
          </a:xfrm>
          <a:prstGeom prst="ellips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椭圆 64"/>
          <p:cNvSpPr/>
          <p:nvPr/>
        </p:nvSpPr>
        <p:spPr>
          <a:xfrm>
            <a:off x="724413" y="3149478"/>
            <a:ext cx="45719" cy="45719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椭圆 66"/>
          <p:cNvSpPr/>
          <p:nvPr/>
        </p:nvSpPr>
        <p:spPr>
          <a:xfrm>
            <a:off x="1193386" y="3160794"/>
            <a:ext cx="45719" cy="45719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椭圆 67"/>
          <p:cNvSpPr/>
          <p:nvPr/>
        </p:nvSpPr>
        <p:spPr>
          <a:xfrm>
            <a:off x="1658731" y="3166181"/>
            <a:ext cx="45719" cy="45719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椭圆 68"/>
          <p:cNvSpPr/>
          <p:nvPr/>
        </p:nvSpPr>
        <p:spPr>
          <a:xfrm>
            <a:off x="2111266" y="3160794"/>
            <a:ext cx="45719" cy="45719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椭圆 69"/>
          <p:cNvSpPr/>
          <p:nvPr/>
        </p:nvSpPr>
        <p:spPr>
          <a:xfrm>
            <a:off x="2572858" y="3160794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椭圆 70"/>
          <p:cNvSpPr/>
          <p:nvPr/>
        </p:nvSpPr>
        <p:spPr>
          <a:xfrm>
            <a:off x="3014079" y="3147679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椭圆 71"/>
          <p:cNvSpPr/>
          <p:nvPr/>
        </p:nvSpPr>
        <p:spPr>
          <a:xfrm>
            <a:off x="9302216" y="3154219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椭圆 72"/>
          <p:cNvSpPr/>
          <p:nvPr/>
        </p:nvSpPr>
        <p:spPr>
          <a:xfrm>
            <a:off x="9749345" y="3168342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椭圆 87"/>
          <p:cNvSpPr/>
          <p:nvPr/>
        </p:nvSpPr>
        <p:spPr>
          <a:xfrm>
            <a:off x="352708" y="1953945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任意多边形: 形状 3"/>
          <p:cNvSpPr/>
          <p:nvPr/>
        </p:nvSpPr>
        <p:spPr>
          <a:xfrm>
            <a:off x="382465" y="1987078"/>
            <a:ext cx="4555796" cy="1427848"/>
          </a:xfrm>
          <a:custGeom>
            <a:avLst/>
            <a:gdLst>
              <a:gd name="csX0" fmla="*/ 0 w 4541227"/>
              <a:gd name="csY0" fmla="*/ 0 h 1423468"/>
              <a:gd name="csX1" fmla="*/ 364881 w 4541227"/>
              <a:gd name="csY1" fmla="*/ 628650 h 1423468"/>
              <a:gd name="csX2" fmla="*/ 804497 w 4541227"/>
              <a:gd name="csY2" fmla="*/ 800100 h 1423468"/>
              <a:gd name="csX3" fmla="*/ 1283677 w 4541227"/>
              <a:gd name="csY3" fmla="*/ 729761 h 1423468"/>
              <a:gd name="csX4" fmla="*/ 1723293 w 4541227"/>
              <a:gd name="csY4" fmla="*/ 984738 h 1423468"/>
              <a:gd name="csX5" fmla="*/ 2215662 w 4541227"/>
              <a:gd name="csY5" fmla="*/ 1397977 h 1423468"/>
              <a:gd name="csX6" fmla="*/ 3020158 w 4541227"/>
              <a:gd name="csY6" fmla="*/ 1314450 h 1423468"/>
              <a:gd name="csX7" fmla="*/ 3894993 w 4541227"/>
              <a:gd name="csY7" fmla="*/ 786911 h 1423468"/>
              <a:gd name="csX8" fmla="*/ 4541227 w 4541227"/>
              <a:gd name="csY8" fmla="*/ 162657 h 14234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4541227" h="1423468">
                <a:moveTo>
                  <a:pt x="0" y="0"/>
                </a:moveTo>
                <a:cubicBezTo>
                  <a:pt x="115399" y="247650"/>
                  <a:pt x="230798" y="495300"/>
                  <a:pt x="364881" y="628650"/>
                </a:cubicBezTo>
                <a:cubicBezTo>
                  <a:pt x="498964" y="762000"/>
                  <a:pt x="651364" y="783248"/>
                  <a:pt x="804497" y="800100"/>
                </a:cubicBezTo>
                <a:cubicBezTo>
                  <a:pt x="957630" y="816952"/>
                  <a:pt x="1130544" y="698988"/>
                  <a:pt x="1283677" y="729761"/>
                </a:cubicBezTo>
                <a:cubicBezTo>
                  <a:pt x="1436810" y="760534"/>
                  <a:pt x="1567962" y="873369"/>
                  <a:pt x="1723293" y="984738"/>
                </a:cubicBezTo>
                <a:cubicBezTo>
                  <a:pt x="1878624" y="1096107"/>
                  <a:pt x="1999518" y="1343025"/>
                  <a:pt x="2215662" y="1397977"/>
                </a:cubicBezTo>
                <a:cubicBezTo>
                  <a:pt x="2431806" y="1452929"/>
                  <a:pt x="2740270" y="1416294"/>
                  <a:pt x="3020158" y="1314450"/>
                </a:cubicBezTo>
                <a:cubicBezTo>
                  <a:pt x="3300046" y="1212606"/>
                  <a:pt x="3641481" y="978877"/>
                  <a:pt x="3894993" y="786911"/>
                </a:cubicBezTo>
                <a:cubicBezTo>
                  <a:pt x="4148505" y="594945"/>
                  <a:pt x="4344866" y="378801"/>
                  <a:pt x="4541227" y="162657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/>
          <p:cNvCxnSpPr/>
          <p:nvPr/>
        </p:nvCxnSpPr>
        <p:spPr>
          <a:xfrm>
            <a:off x="3469727" y="2139754"/>
            <a:ext cx="0" cy="103903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3929858" y="2149074"/>
            <a:ext cx="0" cy="1057439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4442743" y="2219961"/>
            <a:ext cx="0" cy="1013861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4942439" y="2272812"/>
            <a:ext cx="0" cy="905972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椭圆 13"/>
          <p:cNvSpPr/>
          <p:nvPr/>
        </p:nvSpPr>
        <p:spPr>
          <a:xfrm>
            <a:off x="3452440" y="3144928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/>
          <p:cNvSpPr/>
          <p:nvPr/>
        </p:nvSpPr>
        <p:spPr>
          <a:xfrm>
            <a:off x="3921414" y="3168237"/>
            <a:ext cx="45719" cy="45719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/>
          <p:cNvSpPr/>
          <p:nvPr/>
        </p:nvSpPr>
        <p:spPr>
          <a:xfrm>
            <a:off x="4427263" y="3153166"/>
            <a:ext cx="45719" cy="45719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/>
          <p:cNvSpPr/>
          <p:nvPr/>
        </p:nvSpPr>
        <p:spPr>
          <a:xfrm>
            <a:off x="4937793" y="3153165"/>
            <a:ext cx="45719" cy="45719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/>
        </p:nvSpPr>
        <p:spPr>
          <a:xfrm>
            <a:off x="4937599" y="2116894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/>
          <p:cNvSpPr/>
          <p:nvPr/>
        </p:nvSpPr>
        <p:spPr>
          <a:xfrm>
            <a:off x="3446856" y="2116894"/>
            <a:ext cx="45719" cy="45719"/>
          </a:xfrm>
          <a:prstGeom prst="ellips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椭圆 22"/>
          <p:cNvSpPr/>
          <p:nvPr/>
        </p:nvSpPr>
        <p:spPr>
          <a:xfrm>
            <a:off x="3910504" y="2149073"/>
            <a:ext cx="45719" cy="45719"/>
          </a:xfrm>
          <a:prstGeom prst="ellips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椭圆 23"/>
          <p:cNvSpPr/>
          <p:nvPr/>
        </p:nvSpPr>
        <p:spPr>
          <a:xfrm>
            <a:off x="4427262" y="2213327"/>
            <a:ext cx="45719" cy="45719"/>
          </a:xfrm>
          <a:prstGeom prst="ellips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/>
          <p:cNvSpPr/>
          <p:nvPr/>
        </p:nvSpPr>
        <p:spPr>
          <a:xfrm>
            <a:off x="4935667" y="2265548"/>
            <a:ext cx="45719" cy="45719"/>
          </a:xfrm>
          <a:prstGeom prst="ellips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文本框 89"/>
          <p:cNvSpPr txBox="1"/>
          <p:nvPr/>
        </p:nvSpPr>
        <p:spPr>
          <a:xfrm>
            <a:off x="280035" y="4570730"/>
            <a:ext cx="7990840" cy="175895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zh-CN" altLang="en-US" sz="1200" dirty="0"/>
              <a:t>锁定期满以后，在第八个敲出观察日（存续</a:t>
            </a:r>
            <a:r>
              <a:rPr lang="en-US" altLang="zh-CN" sz="1200" dirty="0"/>
              <a:t>10</a:t>
            </a:r>
            <a:r>
              <a:rPr lang="zh-CN" altLang="en-US" sz="1200" dirty="0"/>
              <a:t>个月）发生敲出，那么：</a:t>
            </a:r>
            <a:endParaRPr lang="en-US" altLang="zh-CN" sz="1200" dirty="0"/>
          </a:p>
          <a:p>
            <a:pPr algn="l"/>
            <a:endParaRPr lang="en-US" altLang="zh-CN" sz="1200" dirty="0"/>
          </a:p>
          <a:p>
            <a:pPr marL="171450" indent="-171450" algn="l">
              <a:buFont typeface="Wingdings" panose="05000000000000000000" pitchFamily="2" charset="2"/>
              <a:buChar char="Ø"/>
            </a:pPr>
            <a:r>
              <a:rPr lang="en-US" altLang="zh-CN" sz="1200" dirty="0"/>
              <a:t>DCN</a:t>
            </a:r>
            <a:r>
              <a:rPr lang="zh-CN" altLang="en-US" sz="1200" dirty="0"/>
              <a:t>部分产生</a:t>
            </a:r>
            <a:r>
              <a:rPr lang="en-US" altLang="zh-CN" sz="1200" dirty="0"/>
              <a:t>7</a:t>
            </a:r>
            <a:r>
              <a:rPr lang="zh-CN" altLang="en-US" sz="1200" dirty="0"/>
              <a:t>次派息，对产品的收益贡献为  </a:t>
            </a:r>
            <a:r>
              <a:rPr lang="en-US" altLang="zh-CN" sz="1200" dirty="0"/>
              <a:t>0.65%【</a:t>
            </a:r>
            <a:r>
              <a:rPr lang="zh-CN" altLang="en-US" sz="1200" dirty="0"/>
              <a:t>派息率</a:t>
            </a:r>
            <a:r>
              <a:rPr lang="en-US" altLang="zh-CN" sz="1200" dirty="0"/>
              <a:t>】 * 7【</a:t>
            </a:r>
            <a:r>
              <a:rPr lang="zh-CN" altLang="en-US" sz="1200" dirty="0"/>
              <a:t>派息次数</a:t>
            </a:r>
            <a:r>
              <a:rPr lang="en-US" altLang="zh-CN" sz="1200" dirty="0"/>
              <a:t>】 = </a:t>
            </a:r>
            <a:r>
              <a:rPr lang="en-US" altLang="zh-CN" sz="1200" b="1" dirty="0"/>
              <a:t>4.55%</a:t>
            </a:r>
            <a:r>
              <a:rPr lang="zh-CN" altLang="en-US" sz="1200" dirty="0"/>
              <a:t>；</a:t>
            </a:r>
            <a:endParaRPr lang="en-US" altLang="zh-CN" sz="1200" dirty="0"/>
          </a:p>
          <a:p>
            <a:pPr marL="171450" indent="-171450" algn="l">
              <a:buFont typeface="Wingdings" panose="05000000000000000000" pitchFamily="2" charset="2"/>
              <a:buChar char="Ø"/>
            </a:pPr>
            <a:r>
              <a:rPr lang="zh-CN" altLang="en-US" sz="1200" dirty="0"/>
              <a:t>早利雪球在首年发生敲出，对产品的收益贡献为    </a:t>
            </a:r>
            <a:r>
              <a:rPr lang="en-US" altLang="zh-CN" sz="1200" dirty="0"/>
              <a:t>22%【</a:t>
            </a:r>
            <a:r>
              <a:rPr lang="zh-CN" altLang="en-US" sz="1200" dirty="0"/>
              <a:t>首年票息</a:t>
            </a:r>
            <a:r>
              <a:rPr lang="en-US" altLang="zh-CN" sz="1200" dirty="0"/>
              <a:t>】* 10/12 【</a:t>
            </a:r>
            <a:r>
              <a:rPr lang="zh-CN" altLang="en-US" sz="1200" dirty="0"/>
              <a:t>期限</a:t>
            </a:r>
            <a:r>
              <a:rPr lang="en-US" altLang="zh-CN" sz="1200" dirty="0"/>
              <a:t>】* 10%【</a:t>
            </a:r>
            <a:r>
              <a:rPr lang="zh-CN" altLang="en-US" sz="1200" dirty="0"/>
              <a:t>投资比例</a:t>
            </a:r>
            <a:r>
              <a:rPr lang="en-US" altLang="zh-CN" sz="1200" dirty="0"/>
              <a:t>】 = </a:t>
            </a:r>
            <a:r>
              <a:rPr lang="en-US" altLang="zh-CN" sz="1200" b="1" dirty="0"/>
              <a:t>1.83%</a:t>
            </a:r>
            <a:r>
              <a:rPr lang="en-US" altLang="zh-CN" sz="1200" dirty="0"/>
              <a:t>;</a:t>
            </a:r>
          </a:p>
          <a:p>
            <a:pPr algn="l"/>
            <a:endParaRPr lang="en-US" altLang="zh-CN" sz="1200" dirty="0"/>
          </a:p>
          <a:p>
            <a:r>
              <a:rPr lang="zh-CN" altLang="en-US" sz="1200" dirty="0"/>
              <a:t>合计产品绝对收益率为</a:t>
            </a:r>
            <a:r>
              <a:rPr lang="en-US" altLang="zh-CN" sz="1200" b="1" dirty="0">
                <a:solidFill>
                  <a:srgbClr val="C00000"/>
                </a:solidFill>
              </a:rPr>
              <a:t> 6.38%</a:t>
            </a:r>
            <a:r>
              <a:rPr lang="zh-CN" altLang="en-US" sz="1200" dirty="0"/>
              <a:t>，年化约</a:t>
            </a:r>
            <a:r>
              <a:rPr lang="en-US" altLang="zh-CN" sz="1200" b="1" dirty="0">
                <a:solidFill>
                  <a:srgbClr val="C00000"/>
                </a:solidFill>
              </a:rPr>
              <a:t> 7.656%</a:t>
            </a:r>
            <a:r>
              <a:rPr lang="en-US" altLang="zh-CN" sz="1200" dirty="0"/>
              <a:t>*</a:t>
            </a:r>
            <a:r>
              <a:rPr lang="zh-CN" altLang="en-US" sz="1200" dirty="0"/>
              <a:t>。</a:t>
            </a:r>
            <a:endParaRPr lang="en-US" altLang="zh-CN" sz="1200" dirty="0"/>
          </a:p>
          <a:p>
            <a:pPr algn="l"/>
            <a:endParaRPr lang="en-US" altLang="zh-CN" sz="1200" dirty="0">
              <a:solidFill>
                <a:srgbClr val="C00000"/>
              </a:solidFill>
            </a:endParaRPr>
          </a:p>
          <a:p>
            <a:pPr algn="l"/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*</a:t>
            </a:r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收益测算基于情景分析，预估了销售费管理费，未计入业绩计提以及可能产生的税费的影响，仅作为参考不作为收益承诺。</a:t>
            </a:r>
            <a:endParaRPr lang="en-US" altLang="zh-CN" sz="1200" dirty="0">
              <a:solidFill>
                <a:srgbClr val="C00000"/>
              </a:solidFill>
            </a:endParaRPr>
          </a:p>
        </p:txBody>
      </p:sp>
      <p:sp>
        <p:nvSpPr>
          <p:cNvPr id="3" name="椭圆 2"/>
          <p:cNvSpPr/>
          <p:nvPr/>
        </p:nvSpPr>
        <p:spPr>
          <a:xfrm>
            <a:off x="10322400" y="1764047"/>
            <a:ext cx="91440" cy="91440"/>
          </a:xfrm>
          <a:prstGeom prst="ellips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0413840" y="1668616"/>
            <a:ext cx="17299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/>
              <a:t>DCN</a:t>
            </a:r>
            <a:r>
              <a:rPr lang="zh-CN" altLang="en-US" sz="1200" dirty="0"/>
              <a:t>与雪球的敲出观察</a:t>
            </a:r>
          </a:p>
        </p:txBody>
      </p:sp>
      <p:sp>
        <p:nvSpPr>
          <p:cNvPr id="11" name="椭圆 10"/>
          <p:cNvSpPr/>
          <p:nvPr/>
        </p:nvSpPr>
        <p:spPr>
          <a:xfrm>
            <a:off x="10326367" y="2312741"/>
            <a:ext cx="91440" cy="91440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10413840" y="2219961"/>
            <a:ext cx="11144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/>
              <a:t>DCN</a:t>
            </a:r>
            <a:r>
              <a:rPr lang="zh-CN" altLang="en-US" sz="1200" dirty="0"/>
              <a:t>派息观察</a:t>
            </a:r>
          </a:p>
        </p:txBody>
      </p:sp>
      <p:cxnSp>
        <p:nvCxnSpPr>
          <p:cNvPr id="13" name="直接连接符 12"/>
          <p:cNvCxnSpPr/>
          <p:nvPr/>
        </p:nvCxnSpPr>
        <p:spPr>
          <a:xfrm>
            <a:off x="10322400" y="3418206"/>
            <a:ext cx="127792" cy="0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10415016" y="3293900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雪球敲入观察</a:t>
            </a:r>
          </a:p>
        </p:txBody>
      </p:sp>
      <p:sp>
        <p:nvSpPr>
          <p:cNvPr id="31" name="椭圆 30"/>
          <p:cNvSpPr/>
          <p:nvPr/>
        </p:nvSpPr>
        <p:spPr>
          <a:xfrm>
            <a:off x="10322346" y="2836800"/>
            <a:ext cx="90000" cy="900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/>
        </p:nvSpPr>
        <p:spPr>
          <a:xfrm>
            <a:off x="10414800" y="2743355"/>
            <a:ext cx="1102995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/>
              <a:t>DCN</a:t>
            </a:r>
            <a:r>
              <a:rPr lang="zh-CN" altLang="en-US" sz="1200" dirty="0"/>
              <a:t>敲入观察</a:t>
            </a:r>
          </a:p>
        </p:txBody>
      </p:sp>
      <p:sp>
        <p:nvSpPr>
          <p:cNvPr id="35" name="椭圆 34"/>
          <p:cNvSpPr/>
          <p:nvPr/>
        </p:nvSpPr>
        <p:spPr>
          <a:xfrm>
            <a:off x="9771801" y="3671334"/>
            <a:ext cx="45719" cy="4571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9893EDD8-CD94-18D1-E51D-503D4BCB3D94}"/>
              </a:ext>
            </a:extLst>
          </p:cNvPr>
          <p:cNvSpPr/>
          <p:nvPr/>
        </p:nvSpPr>
        <p:spPr>
          <a:xfrm>
            <a:off x="367447" y="1631591"/>
            <a:ext cx="5550970" cy="2045689"/>
          </a:xfrm>
          <a:prstGeom prst="rect">
            <a:avLst/>
          </a:prstGeom>
          <a:solidFill>
            <a:srgbClr val="0F9ED5">
              <a:alpha val="2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D98E3ECE-09B1-244E-B786-B3CB64F25DCE}"/>
              </a:ext>
            </a:extLst>
          </p:cNvPr>
          <p:cNvSpPr/>
          <p:nvPr/>
        </p:nvSpPr>
        <p:spPr>
          <a:xfrm>
            <a:off x="10322346" y="3841991"/>
            <a:ext cx="159654" cy="164592"/>
          </a:xfrm>
          <a:prstGeom prst="rect">
            <a:avLst/>
          </a:prstGeom>
          <a:solidFill>
            <a:srgbClr val="0F9ED5">
              <a:alpha val="2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77AF202A-440C-E807-5DA3-88766F82AF74}"/>
              </a:ext>
            </a:extLst>
          </p:cNvPr>
          <p:cNvSpPr txBox="1"/>
          <p:nvPr/>
        </p:nvSpPr>
        <p:spPr>
          <a:xfrm>
            <a:off x="10482000" y="3785306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早利期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58502-CFBF-5596-FF5F-CFC5C295A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>
            <a:extLst>
              <a:ext uri="{FF2B5EF4-FFF2-40B4-BE49-F238E27FC236}">
                <a16:creationId xmlns:a16="http://schemas.microsoft.com/office/drawing/2014/main" id="{41A93FE0-6DC6-6F31-F810-8113951DE7FF}"/>
              </a:ext>
            </a:extLst>
          </p:cNvPr>
          <p:cNvSpPr/>
          <p:nvPr/>
        </p:nvSpPr>
        <p:spPr>
          <a:xfrm>
            <a:off x="387744" y="1636513"/>
            <a:ext cx="5550970" cy="2045689"/>
          </a:xfrm>
          <a:prstGeom prst="rect">
            <a:avLst/>
          </a:prstGeom>
          <a:solidFill>
            <a:srgbClr val="0F9ED5">
              <a:alpha val="2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0D6D9B4-C9FC-F7D5-0E94-8DBB299D167C}"/>
              </a:ext>
            </a:extLst>
          </p:cNvPr>
          <p:cNvSpPr txBox="1"/>
          <p:nvPr/>
        </p:nvSpPr>
        <p:spPr>
          <a:xfrm>
            <a:off x="267779" y="52425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情景三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E359AE37-2126-3616-25FA-EF84B3855F3C}"/>
              </a:ext>
            </a:extLst>
          </p:cNvPr>
          <p:cNvCxnSpPr/>
          <p:nvPr/>
        </p:nvCxnSpPr>
        <p:spPr>
          <a:xfrm flipV="1">
            <a:off x="366471" y="1358315"/>
            <a:ext cx="6594" cy="30246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348F0DF7-0EED-39EC-0FD1-367C21EE08A2}"/>
              </a:ext>
            </a:extLst>
          </p:cNvPr>
          <p:cNvCxnSpPr/>
          <p:nvPr/>
        </p:nvCxnSpPr>
        <p:spPr>
          <a:xfrm>
            <a:off x="373066" y="3697166"/>
            <a:ext cx="9420099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D1DBC73E-ACEE-DDCE-6195-BC95799ECEB1}"/>
              </a:ext>
            </a:extLst>
          </p:cNvPr>
          <p:cNvCxnSpPr/>
          <p:nvPr/>
        </p:nvCxnSpPr>
        <p:spPr>
          <a:xfrm flipV="1">
            <a:off x="373066" y="1976805"/>
            <a:ext cx="946992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76126552-ED01-D3FF-1B84-1185060D755C}"/>
              </a:ext>
            </a:extLst>
          </p:cNvPr>
          <p:cNvCxnSpPr/>
          <p:nvPr/>
        </p:nvCxnSpPr>
        <p:spPr>
          <a:xfrm>
            <a:off x="1639158" y="1976805"/>
            <a:ext cx="8142284" cy="729026"/>
          </a:xfrm>
          <a:prstGeom prst="line">
            <a:avLst/>
          </a:prstGeom>
          <a:ln>
            <a:solidFill>
              <a:schemeClr val="accent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2A48E3DE-0FA7-3562-404C-3FC0789F004C}"/>
              </a:ext>
            </a:extLst>
          </p:cNvPr>
          <p:cNvCxnSpPr/>
          <p:nvPr/>
        </p:nvCxnSpPr>
        <p:spPr>
          <a:xfrm>
            <a:off x="1651133" y="1966363"/>
            <a:ext cx="0" cy="1201979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3172DF66-BAB7-FE67-1AAB-25AD81508A46}"/>
              </a:ext>
            </a:extLst>
          </p:cNvPr>
          <p:cNvCxnSpPr/>
          <p:nvPr/>
        </p:nvCxnSpPr>
        <p:spPr>
          <a:xfrm>
            <a:off x="742646" y="1976805"/>
            <a:ext cx="0" cy="1201979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4F482FA1-64B5-CCE9-A591-086D6C511E4D}"/>
              </a:ext>
            </a:extLst>
          </p:cNvPr>
          <p:cNvCxnSpPr/>
          <p:nvPr/>
        </p:nvCxnSpPr>
        <p:spPr>
          <a:xfrm>
            <a:off x="1198381" y="1976805"/>
            <a:ext cx="0" cy="1201979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EC13A127-6D11-F25B-2FE8-E2AFE09CFC75}"/>
              </a:ext>
            </a:extLst>
          </p:cNvPr>
          <p:cNvCxnSpPr/>
          <p:nvPr/>
        </p:nvCxnSpPr>
        <p:spPr>
          <a:xfrm>
            <a:off x="2120107" y="2035419"/>
            <a:ext cx="0" cy="1143365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06DD7DBC-FEC8-1B1E-5544-B0B24072CA4D}"/>
              </a:ext>
            </a:extLst>
          </p:cNvPr>
          <p:cNvCxnSpPr/>
          <p:nvPr/>
        </p:nvCxnSpPr>
        <p:spPr>
          <a:xfrm>
            <a:off x="2580240" y="2094035"/>
            <a:ext cx="0" cy="1095006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31B8AAE6-9489-4AE9-C006-E468FB47B56C}"/>
              </a:ext>
            </a:extLst>
          </p:cNvPr>
          <p:cNvCxnSpPr/>
          <p:nvPr/>
        </p:nvCxnSpPr>
        <p:spPr>
          <a:xfrm>
            <a:off x="3034450" y="2094036"/>
            <a:ext cx="0" cy="1084748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75EF6C90-AFD4-8136-5F50-631D663DF95B}"/>
              </a:ext>
            </a:extLst>
          </p:cNvPr>
          <p:cNvCxnSpPr/>
          <p:nvPr/>
        </p:nvCxnSpPr>
        <p:spPr>
          <a:xfrm>
            <a:off x="9781442" y="2705831"/>
            <a:ext cx="0" cy="48321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C3D6E0FE-24B4-9223-0359-6B6DB71B6CB2}"/>
              </a:ext>
            </a:extLst>
          </p:cNvPr>
          <p:cNvCxnSpPr/>
          <p:nvPr/>
        </p:nvCxnSpPr>
        <p:spPr>
          <a:xfrm>
            <a:off x="9313397" y="2723302"/>
            <a:ext cx="0" cy="483211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9487CFDB-DAA7-4689-994B-4AD73E9E5A7A}"/>
              </a:ext>
            </a:extLst>
          </p:cNvPr>
          <p:cNvCxnSpPr/>
          <p:nvPr/>
        </p:nvCxnSpPr>
        <p:spPr>
          <a:xfrm>
            <a:off x="373065" y="3178784"/>
            <a:ext cx="9408377" cy="10257"/>
          </a:xfrm>
          <a:prstGeom prst="line">
            <a:avLst/>
          </a:prstGeom>
          <a:ln>
            <a:solidFill>
              <a:schemeClr val="accent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365A715B-75DC-CC78-FACD-0B30B72F77D0}"/>
              </a:ext>
            </a:extLst>
          </p:cNvPr>
          <p:cNvCxnSpPr/>
          <p:nvPr/>
        </p:nvCxnSpPr>
        <p:spPr>
          <a:xfrm>
            <a:off x="9771191" y="1314450"/>
            <a:ext cx="28051" cy="32267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椭圆 58">
            <a:extLst>
              <a:ext uri="{FF2B5EF4-FFF2-40B4-BE49-F238E27FC236}">
                <a16:creationId xmlns:a16="http://schemas.microsoft.com/office/drawing/2014/main" id="{639231E0-1969-349A-68F4-4C6F4C2FA8BD}"/>
              </a:ext>
            </a:extLst>
          </p:cNvPr>
          <p:cNvSpPr/>
          <p:nvPr/>
        </p:nvSpPr>
        <p:spPr>
          <a:xfrm>
            <a:off x="1628273" y="1941359"/>
            <a:ext cx="45719" cy="45719"/>
          </a:xfrm>
          <a:prstGeom prst="ellips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椭圆 59">
            <a:extLst>
              <a:ext uri="{FF2B5EF4-FFF2-40B4-BE49-F238E27FC236}">
                <a16:creationId xmlns:a16="http://schemas.microsoft.com/office/drawing/2014/main" id="{9F3FADC0-AC65-1DC5-5102-A37AF89AC271}"/>
              </a:ext>
            </a:extLst>
          </p:cNvPr>
          <p:cNvSpPr/>
          <p:nvPr/>
        </p:nvSpPr>
        <p:spPr>
          <a:xfrm>
            <a:off x="2103885" y="2027230"/>
            <a:ext cx="45719" cy="45719"/>
          </a:xfrm>
          <a:prstGeom prst="ellips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椭圆 60">
            <a:extLst>
              <a:ext uri="{FF2B5EF4-FFF2-40B4-BE49-F238E27FC236}">
                <a16:creationId xmlns:a16="http://schemas.microsoft.com/office/drawing/2014/main" id="{E98343DF-44F3-8C45-6C3A-B356F9239E30}"/>
              </a:ext>
            </a:extLst>
          </p:cNvPr>
          <p:cNvSpPr/>
          <p:nvPr/>
        </p:nvSpPr>
        <p:spPr>
          <a:xfrm>
            <a:off x="2572859" y="2050089"/>
            <a:ext cx="45719" cy="45719"/>
          </a:xfrm>
          <a:prstGeom prst="ellips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椭圆 61">
            <a:extLst>
              <a:ext uri="{FF2B5EF4-FFF2-40B4-BE49-F238E27FC236}">
                <a16:creationId xmlns:a16="http://schemas.microsoft.com/office/drawing/2014/main" id="{FA7DCA20-AB2F-F461-8A28-BE32EC85F53B}"/>
              </a:ext>
            </a:extLst>
          </p:cNvPr>
          <p:cNvSpPr/>
          <p:nvPr/>
        </p:nvSpPr>
        <p:spPr>
          <a:xfrm>
            <a:off x="3003496" y="2094035"/>
            <a:ext cx="45719" cy="45719"/>
          </a:xfrm>
          <a:prstGeom prst="ellips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椭圆 62">
            <a:extLst>
              <a:ext uri="{FF2B5EF4-FFF2-40B4-BE49-F238E27FC236}">
                <a16:creationId xmlns:a16="http://schemas.microsoft.com/office/drawing/2014/main" id="{44082B1C-AD93-BC3A-F703-8FBFC091057D}"/>
              </a:ext>
            </a:extLst>
          </p:cNvPr>
          <p:cNvSpPr/>
          <p:nvPr/>
        </p:nvSpPr>
        <p:spPr>
          <a:xfrm>
            <a:off x="9302217" y="2645729"/>
            <a:ext cx="45719" cy="45719"/>
          </a:xfrm>
          <a:prstGeom prst="ellips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椭圆 63">
            <a:extLst>
              <a:ext uri="{FF2B5EF4-FFF2-40B4-BE49-F238E27FC236}">
                <a16:creationId xmlns:a16="http://schemas.microsoft.com/office/drawing/2014/main" id="{FE29DEDC-01E4-6C05-64BB-A1EFDCA1629C}"/>
              </a:ext>
            </a:extLst>
          </p:cNvPr>
          <p:cNvSpPr/>
          <p:nvPr/>
        </p:nvSpPr>
        <p:spPr>
          <a:xfrm>
            <a:off x="9771191" y="2693413"/>
            <a:ext cx="45719" cy="45719"/>
          </a:xfrm>
          <a:prstGeom prst="ellips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椭圆 64">
            <a:extLst>
              <a:ext uri="{FF2B5EF4-FFF2-40B4-BE49-F238E27FC236}">
                <a16:creationId xmlns:a16="http://schemas.microsoft.com/office/drawing/2014/main" id="{CC0A0262-34A8-8620-415A-DDD6033FD804}"/>
              </a:ext>
            </a:extLst>
          </p:cNvPr>
          <p:cNvSpPr/>
          <p:nvPr/>
        </p:nvSpPr>
        <p:spPr>
          <a:xfrm>
            <a:off x="724413" y="3149478"/>
            <a:ext cx="45719" cy="45719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椭圆 66">
            <a:extLst>
              <a:ext uri="{FF2B5EF4-FFF2-40B4-BE49-F238E27FC236}">
                <a16:creationId xmlns:a16="http://schemas.microsoft.com/office/drawing/2014/main" id="{36327492-364C-C895-8516-5CA3C2AC6EEE}"/>
              </a:ext>
            </a:extLst>
          </p:cNvPr>
          <p:cNvSpPr/>
          <p:nvPr/>
        </p:nvSpPr>
        <p:spPr>
          <a:xfrm>
            <a:off x="1193386" y="3160794"/>
            <a:ext cx="45719" cy="45719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椭圆 67">
            <a:extLst>
              <a:ext uri="{FF2B5EF4-FFF2-40B4-BE49-F238E27FC236}">
                <a16:creationId xmlns:a16="http://schemas.microsoft.com/office/drawing/2014/main" id="{49B43DA9-ABAC-7816-2BB2-BDACAE51975C}"/>
              </a:ext>
            </a:extLst>
          </p:cNvPr>
          <p:cNvSpPr/>
          <p:nvPr/>
        </p:nvSpPr>
        <p:spPr>
          <a:xfrm>
            <a:off x="1658731" y="3166181"/>
            <a:ext cx="45719" cy="45719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椭圆 68">
            <a:extLst>
              <a:ext uri="{FF2B5EF4-FFF2-40B4-BE49-F238E27FC236}">
                <a16:creationId xmlns:a16="http://schemas.microsoft.com/office/drawing/2014/main" id="{36A492E0-0D69-DD95-FC18-9C4AC73492A5}"/>
              </a:ext>
            </a:extLst>
          </p:cNvPr>
          <p:cNvSpPr/>
          <p:nvPr/>
        </p:nvSpPr>
        <p:spPr>
          <a:xfrm>
            <a:off x="2111266" y="3160794"/>
            <a:ext cx="45719" cy="45719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椭圆 69">
            <a:extLst>
              <a:ext uri="{FF2B5EF4-FFF2-40B4-BE49-F238E27FC236}">
                <a16:creationId xmlns:a16="http://schemas.microsoft.com/office/drawing/2014/main" id="{65104C6A-73B8-F7D1-950D-13818C3FF264}"/>
              </a:ext>
            </a:extLst>
          </p:cNvPr>
          <p:cNvSpPr/>
          <p:nvPr/>
        </p:nvSpPr>
        <p:spPr>
          <a:xfrm>
            <a:off x="2572858" y="3160794"/>
            <a:ext cx="45719" cy="45719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椭圆 70">
            <a:extLst>
              <a:ext uri="{FF2B5EF4-FFF2-40B4-BE49-F238E27FC236}">
                <a16:creationId xmlns:a16="http://schemas.microsoft.com/office/drawing/2014/main" id="{0092D761-4578-D74C-E1F8-FA392FD56736}"/>
              </a:ext>
            </a:extLst>
          </p:cNvPr>
          <p:cNvSpPr/>
          <p:nvPr/>
        </p:nvSpPr>
        <p:spPr>
          <a:xfrm>
            <a:off x="3014079" y="3147679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椭圆 71">
            <a:extLst>
              <a:ext uri="{FF2B5EF4-FFF2-40B4-BE49-F238E27FC236}">
                <a16:creationId xmlns:a16="http://schemas.microsoft.com/office/drawing/2014/main" id="{C2FCB941-88E8-EFEA-7FBA-04B1CC8F7D8D}"/>
              </a:ext>
            </a:extLst>
          </p:cNvPr>
          <p:cNvSpPr/>
          <p:nvPr/>
        </p:nvSpPr>
        <p:spPr>
          <a:xfrm>
            <a:off x="9302216" y="3154219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椭圆 72">
            <a:extLst>
              <a:ext uri="{FF2B5EF4-FFF2-40B4-BE49-F238E27FC236}">
                <a16:creationId xmlns:a16="http://schemas.microsoft.com/office/drawing/2014/main" id="{1D231C46-8A55-67BF-1694-2656C6533D24}"/>
              </a:ext>
            </a:extLst>
          </p:cNvPr>
          <p:cNvSpPr/>
          <p:nvPr/>
        </p:nvSpPr>
        <p:spPr>
          <a:xfrm>
            <a:off x="9749345" y="3168342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椭圆 87">
            <a:extLst>
              <a:ext uri="{FF2B5EF4-FFF2-40B4-BE49-F238E27FC236}">
                <a16:creationId xmlns:a16="http://schemas.microsoft.com/office/drawing/2014/main" id="{70B31516-FF6E-9E42-F4E8-71A2D052E6EB}"/>
              </a:ext>
            </a:extLst>
          </p:cNvPr>
          <p:cNvSpPr/>
          <p:nvPr/>
        </p:nvSpPr>
        <p:spPr>
          <a:xfrm>
            <a:off x="352708" y="1953945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B43765FB-A504-BCE9-02C4-621FBAB0F482}"/>
              </a:ext>
            </a:extLst>
          </p:cNvPr>
          <p:cNvCxnSpPr/>
          <p:nvPr/>
        </p:nvCxnSpPr>
        <p:spPr>
          <a:xfrm>
            <a:off x="3469727" y="2139754"/>
            <a:ext cx="0" cy="103903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5895E135-D0C9-3C35-C6CA-FA7437F4DB3A}"/>
              </a:ext>
            </a:extLst>
          </p:cNvPr>
          <p:cNvCxnSpPr/>
          <p:nvPr/>
        </p:nvCxnSpPr>
        <p:spPr>
          <a:xfrm>
            <a:off x="3929858" y="2149074"/>
            <a:ext cx="0" cy="1057439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2B136821-540B-7C93-710D-825782CC6129}"/>
              </a:ext>
            </a:extLst>
          </p:cNvPr>
          <p:cNvCxnSpPr/>
          <p:nvPr/>
        </p:nvCxnSpPr>
        <p:spPr>
          <a:xfrm>
            <a:off x="4442743" y="2219961"/>
            <a:ext cx="0" cy="1013861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69C53D32-B7E5-D883-6721-2D352CDCEAE4}"/>
              </a:ext>
            </a:extLst>
          </p:cNvPr>
          <p:cNvCxnSpPr/>
          <p:nvPr/>
        </p:nvCxnSpPr>
        <p:spPr>
          <a:xfrm>
            <a:off x="4942439" y="2272812"/>
            <a:ext cx="0" cy="905972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椭圆 13">
            <a:extLst>
              <a:ext uri="{FF2B5EF4-FFF2-40B4-BE49-F238E27FC236}">
                <a16:creationId xmlns:a16="http://schemas.microsoft.com/office/drawing/2014/main" id="{A0DBCE20-47F3-51A9-F8BA-349F61D13B77}"/>
              </a:ext>
            </a:extLst>
          </p:cNvPr>
          <p:cNvSpPr/>
          <p:nvPr/>
        </p:nvSpPr>
        <p:spPr>
          <a:xfrm>
            <a:off x="3452440" y="3144928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127B941D-0FD4-2EBF-8472-CBBEBBDE972C}"/>
              </a:ext>
            </a:extLst>
          </p:cNvPr>
          <p:cNvSpPr/>
          <p:nvPr/>
        </p:nvSpPr>
        <p:spPr>
          <a:xfrm>
            <a:off x="3921414" y="3168237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2B6135FA-BEF4-06AC-FEE5-67251D976DF6}"/>
              </a:ext>
            </a:extLst>
          </p:cNvPr>
          <p:cNvSpPr/>
          <p:nvPr/>
        </p:nvSpPr>
        <p:spPr>
          <a:xfrm>
            <a:off x="4427263" y="3153166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A2DA3986-8571-2F49-5BF9-49C26AD4B898}"/>
              </a:ext>
            </a:extLst>
          </p:cNvPr>
          <p:cNvSpPr/>
          <p:nvPr/>
        </p:nvSpPr>
        <p:spPr>
          <a:xfrm>
            <a:off x="4937793" y="3153165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E93692AB-F682-760D-6E6B-86DD935F7F3B}"/>
              </a:ext>
            </a:extLst>
          </p:cNvPr>
          <p:cNvSpPr/>
          <p:nvPr/>
        </p:nvSpPr>
        <p:spPr>
          <a:xfrm>
            <a:off x="3446856" y="2116894"/>
            <a:ext cx="45719" cy="45719"/>
          </a:xfrm>
          <a:prstGeom prst="ellips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2033ADAD-C907-F6F0-91F5-C167D6E519F2}"/>
              </a:ext>
            </a:extLst>
          </p:cNvPr>
          <p:cNvSpPr/>
          <p:nvPr/>
        </p:nvSpPr>
        <p:spPr>
          <a:xfrm>
            <a:off x="3910504" y="2149073"/>
            <a:ext cx="45719" cy="45719"/>
          </a:xfrm>
          <a:prstGeom prst="ellips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A1355933-122E-26FB-1205-AF0292152DD8}"/>
              </a:ext>
            </a:extLst>
          </p:cNvPr>
          <p:cNvSpPr/>
          <p:nvPr/>
        </p:nvSpPr>
        <p:spPr>
          <a:xfrm>
            <a:off x="4427262" y="2213327"/>
            <a:ext cx="45719" cy="45719"/>
          </a:xfrm>
          <a:prstGeom prst="ellips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1BC38C3C-16DE-C3D3-0EB4-B89C60539109}"/>
              </a:ext>
            </a:extLst>
          </p:cNvPr>
          <p:cNvSpPr/>
          <p:nvPr/>
        </p:nvSpPr>
        <p:spPr>
          <a:xfrm>
            <a:off x="4935667" y="2265548"/>
            <a:ext cx="45719" cy="45719"/>
          </a:xfrm>
          <a:prstGeom prst="ellips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F3930F78-B1BF-B964-8B5B-D4F102F844CB}"/>
              </a:ext>
            </a:extLst>
          </p:cNvPr>
          <p:cNvSpPr txBox="1"/>
          <p:nvPr/>
        </p:nvSpPr>
        <p:spPr>
          <a:xfrm>
            <a:off x="280035" y="4570730"/>
            <a:ext cx="7990840" cy="175895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zh-CN" altLang="en-US" sz="1200" dirty="0"/>
              <a:t>存续期间指数波动较大，急跌超过</a:t>
            </a:r>
            <a:r>
              <a:rPr lang="en-US" altLang="zh-CN" sz="1200" dirty="0"/>
              <a:t>30%</a:t>
            </a:r>
            <a:r>
              <a:rPr lang="zh-CN" altLang="en-US" sz="1200" dirty="0"/>
              <a:t>后又在第</a:t>
            </a:r>
            <a:r>
              <a:rPr lang="en-US" altLang="zh-CN" sz="1200" dirty="0"/>
              <a:t>11</a:t>
            </a:r>
            <a:r>
              <a:rPr lang="zh-CN" altLang="en-US" sz="1200" dirty="0"/>
              <a:t>个敲出观察日（第</a:t>
            </a:r>
            <a:r>
              <a:rPr lang="en-US" altLang="zh-CN" sz="1200" dirty="0"/>
              <a:t>13</a:t>
            </a:r>
            <a:r>
              <a:rPr lang="zh-CN" altLang="en-US" sz="1200" dirty="0"/>
              <a:t>个月）强劲反弹，发生敲出，那么：</a:t>
            </a:r>
            <a:endParaRPr lang="en-US" altLang="zh-CN" sz="1200" dirty="0"/>
          </a:p>
          <a:p>
            <a:pPr algn="l"/>
            <a:endParaRPr lang="en-US" altLang="zh-CN" sz="1200" dirty="0"/>
          </a:p>
          <a:p>
            <a:pPr marL="171450" indent="-171450" algn="l">
              <a:buFont typeface="Wingdings" panose="05000000000000000000" pitchFamily="2" charset="2"/>
              <a:buChar char="Ø"/>
            </a:pPr>
            <a:r>
              <a:rPr lang="en-US" altLang="zh-CN" sz="1200" dirty="0"/>
              <a:t>DCN</a:t>
            </a:r>
            <a:r>
              <a:rPr lang="zh-CN" altLang="en-US" sz="1200" dirty="0"/>
              <a:t>部分产生</a:t>
            </a:r>
            <a:r>
              <a:rPr lang="en-US" altLang="zh-CN" sz="1200" dirty="0"/>
              <a:t>8</a:t>
            </a:r>
            <a:r>
              <a:rPr lang="zh-CN" altLang="en-US" sz="1200" dirty="0"/>
              <a:t>次派息，对产品的收益贡献为  </a:t>
            </a:r>
            <a:r>
              <a:rPr lang="en-US" altLang="zh-CN" sz="1200" dirty="0"/>
              <a:t>0.65%【</a:t>
            </a:r>
            <a:r>
              <a:rPr lang="zh-CN" altLang="en-US" sz="1200" dirty="0"/>
              <a:t>派息率</a:t>
            </a:r>
            <a:r>
              <a:rPr lang="en-US" altLang="zh-CN" sz="1200" dirty="0"/>
              <a:t>】 * 8【</a:t>
            </a:r>
            <a:r>
              <a:rPr lang="zh-CN" altLang="en-US" sz="1200" dirty="0"/>
              <a:t>派息次数</a:t>
            </a:r>
            <a:r>
              <a:rPr lang="en-US" altLang="zh-CN" sz="1200" dirty="0"/>
              <a:t>】 = </a:t>
            </a:r>
            <a:r>
              <a:rPr lang="en-US" altLang="zh-CN" sz="1200" b="1" dirty="0"/>
              <a:t>5.20%</a:t>
            </a:r>
            <a:r>
              <a:rPr lang="zh-CN" altLang="en-US" sz="1200" dirty="0"/>
              <a:t>；</a:t>
            </a:r>
            <a:endParaRPr lang="en-US" altLang="zh-CN" sz="1200" dirty="0"/>
          </a:p>
          <a:p>
            <a:pPr marL="171450" indent="-171450" algn="l">
              <a:buFont typeface="Wingdings" panose="05000000000000000000" pitchFamily="2" charset="2"/>
              <a:buChar char="Ø"/>
            </a:pPr>
            <a:r>
              <a:rPr lang="zh-CN" altLang="en-US" sz="1200" dirty="0"/>
              <a:t>早利雪球虽然发生敲入，但仍在次年发生敲出，对产品的收益贡献为    </a:t>
            </a:r>
            <a:r>
              <a:rPr lang="en-US" altLang="zh-CN" sz="1200" dirty="0"/>
              <a:t>7.00%【</a:t>
            </a:r>
            <a:r>
              <a:rPr lang="zh-CN" altLang="en-US" sz="1200" dirty="0"/>
              <a:t>次年票息</a:t>
            </a:r>
            <a:r>
              <a:rPr lang="en-US" altLang="zh-CN" sz="1200" dirty="0"/>
              <a:t>】* 13/12 【</a:t>
            </a:r>
            <a:r>
              <a:rPr lang="zh-CN" altLang="en-US" sz="1200" dirty="0"/>
              <a:t>期限</a:t>
            </a:r>
            <a:r>
              <a:rPr lang="en-US" altLang="zh-CN" sz="1200" dirty="0"/>
              <a:t>】* 10%【</a:t>
            </a:r>
            <a:r>
              <a:rPr lang="zh-CN" altLang="en-US" sz="1200" dirty="0"/>
              <a:t>投资比例</a:t>
            </a:r>
            <a:r>
              <a:rPr lang="en-US" altLang="zh-CN" sz="1200" dirty="0"/>
              <a:t>】 = </a:t>
            </a:r>
            <a:r>
              <a:rPr lang="en-US" altLang="zh-CN" sz="1200" b="1" dirty="0"/>
              <a:t>0.758%</a:t>
            </a:r>
            <a:r>
              <a:rPr lang="en-US" altLang="zh-CN" sz="1200" dirty="0"/>
              <a:t>;</a:t>
            </a:r>
          </a:p>
          <a:p>
            <a:pPr algn="l"/>
            <a:endParaRPr lang="en-US" altLang="zh-CN" sz="1200" dirty="0"/>
          </a:p>
          <a:p>
            <a:pPr algn="l"/>
            <a:r>
              <a:rPr lang="zh-CN" altLang="en-US" sz="1200" dirty="0"/>
              <a:t>合计产品绝对收益率为</a:t>
            </a:r>
            <a:r>
              <a:rPr lang="en-US" altLang="zh-CN" sz="1200" b="1" dirty="0">
                <a:solidFill>
                  <a:srgbClr val="C00000"/>
                </a:solidFill>
              </a:rPr>
              <a:t> 5.958%</a:t>
            </a:r>
            <a:r>
              <a:rPr lang="en-US" altLang="zh-CN" sz="1200" dirty="0"/>
              <a:t>*</a:t>
            </a:r>
            <a:r>
              <a:rPr lang="zh-CN" altLang="en-US" sz="1200" dirty="0"/>
              <a:t>，年化约</a:t>
            </a:r>
            <a:r>
              <a:rPr lang="en-US" altLang="zh-CN" sz="1200" b="1" dirty="0">
                <a:solidFill>
                  <a:srgbClr val="C00000"/>
                </a:solidFill>
              </a:rPr>
              <a:t> 5.50%</a:t>
            </a:r>
            <a:r>
              <a:rPr lang="en-US" altLang="zh-CN" sz="1200" dirty="0"/>
              <a:t>*</a:t>
            </a:r>
            <a:r>
              <a:rPr lang="zh-CN" altLang="en-US" sz="1200" dirty="0"/>
              <a:t>。</a:t>
            </a:r>
            <a:endParaRPr lang="en-US" altLang="zh-CN" sz="1200" dirty="0"/>
          </a:p>
          <a:p>
            <a:pPr algn="l"/>
            <a:endParaRPr lang="en-US" altLang="zh-CN" sz="1200" dirty="0">
              <a:solidFill>
                <a:srgbClr val="C00000"/>
              </a:solidFill>
            </a:endParaRPr>
          </a:p>
          <a:p>
            <a:pPr algn="l"/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*</a:t>
            </a:r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收益测算基于情景分析，预估了销售费管理费，未计入业绩计提以及可能产生的税费的影响，仅作为参考不作为收益承诺。</a:t>
            </a:r>
            <a:endParaRPr lang="en-US" altLang="zh-CN" sz="1200" dirty="0">
              <a:solidFill>
                <a:srgbClr val="C00000"/>
              </a:solidFill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B064CB2-72C7-5CAE-7B51-22036585C28C}"/>
              </a:ext>
            </a:extLst>
          </p:cNvPr>
          <p:cNvSpPr/>
          <p:nvPr/>
        </p:nvSpPr>
        <p:spPr>
          <a:xfrm>
            <a:off x="10322400" y="1764047"/>
            <a:ext cx="91440" cy="91440"/>
          </a:xfrm>
          <a:prstGeom prst="ellips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338ADCB-DAC1-EEE3-A9BA-307CB62ABAA9}"/>
              </a:ext>
            </a:extLst>
          </p:cNvPr>
          <p:cNvSpPr txBox="1"/>
          <p:nvPr/>
        </p:nvSpPr>
        <p:spPr>
          <a:xfrm>
            <a:off x="10413840" y="1668616"/>
            <a:ext cx="17299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/>
              <a:t>DCN</a:t>
            </a:r>
            <a:r>
              <a:rPr lang="zh-CN" altLang="en-US" sz="1200" dirty="0"/>
              <a:t>与雪球的敲出观察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A11ECF8D-D355-1681-687A-FE61299C0704}"/>
              </a:ext>
            </a:extLst>
          </p:cNvPr>
          <p:cNvSpPr/>
          <p:nvPr/>
        </p:nvSpPr>
        <p:spPr>
          <a:xfrm>
            <a:off x="10326367" y="2312741"/>
            <a:ext cx="91440" cy="91440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C237354-7A42-C6AB-8AD5-8C0993D40EB4}"/>
              </a:ext>
            </a:extLst>
          </p:cNvPr>
          <p:cNvSpPr txBox="1"/>
          <p:nvPr/>
        </p:nvSpPr>
        <p:spPr>
          <a:xfrm>
            <a:off x="10413840" y="2219961"/>
            <a:ext cx="11144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/>
              <a:t>DCN</a:t>
            </a:r>
            <a:r>
              <a:rPr lang="zh-CN" altLang="en-US" sz="1200" dirty="0"/>
              <a:t>派息观察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7205F114-ED1A-E291-C9DA-4268FE2C8AC2}"/>
              </a:ext>
            </a:extLst>
          </p:cNvPr>
          <p:cNvCxnSpPr/>
          <p:nvPr/>
        </p:nvCxnSpPr>
        <p:spPr>
          <a:xfrm>
            <a:off x="10322400" y="3418206"/>
            <a:ext cx="127792" cy="0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91B7E01B-2F94-308A-D63E-9102BB2E8783}"/>
              </a:ext>
            </a:extLst>
          </p:cNvPr>
          <p:cNvSpPr txBox="1"/>
          <p:nvPr/>
        </p:nvSpPr>
        <p:spPr>
          <a:xfrm>
            <a:off x="10415016" y="3293900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雪球敲入观察</a:t>
            </a: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E973E5D7-E80A-5000-BCFA-E61EA9A0042C}"/>
              </a:ext>
            </a:extLst>
          </p:cNvPr>
          <p:cNvSpPr/>
          <p:nvPr/>
        </p:nvSpPr>
        <p:spPr>
          <a:xfrm>
            <a:off x="10322346" y="2836800"/>
            <a:ext cx="90000" cy="900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E50891A8-F06E-2381-0F22-602758228423}"/>
              </a:ext>
            </a:extLst>
          </p:cNvPr>
          <p:cNvSpPr txBox="1"/>
          <p:nvPr/>
        </p:nvSpPr>
        <p:spPr>
          <a:xfrm>
            <a:off x="10414800" y="2743355"/>
            <a:ext cx="1102995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/>
              <a:t>DCN</a:t>
            </a:r>
            <a:r>
              <a:rPr lang="zh-CN" altLang="en-US" sz="1200" dirty="0"/>
              <a:t>敲入观察</a:t>
            </a:r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A32902EB-1F6C-3296-08BA-A48E82507493}"/>
              </a:ext>
            </a:extLst>
          </p:cNvPr>
          <p:cNvSpPr/>
          <p:nvPr/>
        </p:nvSpPr>
        <p:spPr>
          <a:xfrm>
            <a:off x="9771801" y="3671334"/>
            <a:ext cx="45719" cy="4571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1E8F717C-07A5-F144-F042-AB6C4A0761E7}"/>
              </a:ext>
            </a:extLst>
          </p:cNvPr>
          <p:cNvCxnSpPr/>
          <p:nvPr/>
        </p:nvCxnSpPr>
        <p:spPr>
          <a:xfrm>
            <a:off x="5447177" y="2300541"/>
            <a:ext cx="0" cy="905972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椭圆 43">
            <a:extLst>
              <a:ext uri="{FF2B5EF4-FFF2-40B4-BE49-F238E27FC236}">
                <a16:creationId xmlns:a16="http://schemas.microsoft.com/office/drawing/2014/main" id="{B4909DAA-CC5E-B79C-47F0-A7E05E5A5F68}"/>
              </a:ext>
            </a:extLst>
          </p:cNvPr>
          <p:cNvSpPr/>
          <p:nvPr/>
        </p:nvSpPr>
        <p:spPr>
          <a:xfrm>
            <a:off x="5428399" y="2294097"/>
            <a:ext cx="45719" cy="45719"/>
          </a:xfrm>
          <a:prstGeom prst="ellips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id="{555828F2-CEEF-C4A5-263C-332CC96ED5EA}"/>
              </a:ext>
            </a:extLst>
          </p:cNvPr>
          <p:cNvSpPr/>
          <p:nvPr/>
        </p:nvSpPr>
        <p:spPr>
          <a:xfrm>
            <a:off x="5434778" y="3167238"/>
            <a:ext cx="45719" cy="45719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0C6DBE10-00AC-B891-8624-56E1F2883698}"/>
              </a:ext>
            </a:extLst>
          </p:cNvPr>
          <p:cNvSpPr/>
          <p:nvPr/>
        </p:nvSpPr>
        <p:spPr>
          <a:xfrm>
            <a:off x="5918369" y="3180199"/>
            <a:ext cx="45719" cy="45719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A9AB0166-63AE-F4FD-0B09-25852CA815E0}"/>
              </a:ext>
            </a:extLst>
          </p:cNvPr>
          <p:cNvSpPr/>
          <p:nvPr/>
        </p:nvSpPr>
        <p:spPr>
          <a:xfrm>
            <a:off x="6454058" y="3173624"/>
            <a:ext cx="45719" cy="45719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B34E9C9F-64B7-966D-348D-F59D673B0B99}"/>
              </a:ext>
            </a:extLst>
          </p:cNvPr>
          <p:cNvSpPr/>
          <p:nvPr/>
        </p:nvSpPr>
        <p:spPr>
          <a:xfrm>
            <a:off x="5929355" y="2353116"/>
            <a:ext cx="45719" cy="45719"/>
          </a:xfrm>
          <a:prstGeom prst="ellips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75D815B2-245A-EC8A-3418-511501E08F52}"/>
              </a:ext>
            </a:extLst>
          </p:cNvPr>
          <p:cNvCxnSpPr>
            <a:cxnSpLocks/>
          </p:cNvCxnSpPr>
          <p:nvPr/>
        </p:nvCxnSpPr>
        <p:spPr>
          <a:xfrm flipH="1">
            <a:off x="5945308" y="2392658"/>
            <a:ext cx="0" cy="768654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5D851703-F5C6-9B0D-3C13-A713487FDAC5}"/>
              </a:ext>
            </a:extLst>
          </p:cNvPr>
          <p:cNvCxnSpPr>
            <a:cxnSpLocks/>
          </p:cNvCxnSpPr>
          <p:nvPr/>
        </p:nvCxnSpPr>
        <p:spPr>
          <a:xfrm>
            <a:off x="6454058" y="2404181"/>
            <a:ext cx="0" cy="757131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椭圆 48">
            <a:extLst>
              <a:ext uri="{FF2B5EF4-FFF2-40B4-BE49-F238E27FC236}">
                <a16:creationId xmlns:a16="http://schemas.microsoft.com/office/drawing/2014/main" id="{ABC2F18A-AB34-8D6A-4879-27D436C5BB91}"/>
              </a:ext>
            </a:extLst>
          </p:cNvPr>
          <p:cNvSpPr/>
          <p:nvPr/>
        </p:nvSpPr>
        <p:spPr>
          <a:xfrm>
            <a:off x="6431198" y="2371421"/>
            <a:ext cx="45719" cy="45719"/>
          </a:xfrm>
          <a:prstGeom prst="ellips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0A8F2715-A615-E5A5-EC22-1485B87AE477}"/>
              </a:ext>
            </a:extLst>
          </p:cNvPr>
          <p:cNvSpPr/>
          <p:nvPr/>
        </p:nvSpPr>
        <p:spPr>
          <a:xfrm>
            <a:off x="10322346" y="3841991"/>
            <a:ext cx="159654" cy="164592"/>
          </a:xfrm>
          <a:prstGeom prst="rect">
            <a:avLst/>
          </a:prstGeom>
          <a:solidFill>
            <a:srgbClr val="0F9ED5">
              <a:alpha val="2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6CA9C272-E1EA-D81E-9D23-40EA6E4C4B9F}"/>
              </a:ext>
            </a:extLst>
          </p:cNvPr>
          <p:cNvSpPr txBox="1"/>
          <p:nvPr/>
        </p:nvSpPr>
        <p:spPr>
          <a:xfrm>
            <a:off x="10482000" y="3785306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早利期</a:t>
            </a:r>
          </a:p>
        </p:txBody>
      </p:sp>
      <p:sp>
        <p:nvSpPr>
          <p:cNvPr id="56" name="任意多边形: 形状 55">
            <a:extLst>
              <a:ext uri="{FF2B5EF4-FFF2-40B4-BE49-F238E27FC236}">
                <a16:creationId xmlns:a16="http://schemas.microsoft.com/office/drawing/2014/main" id="{4BA81D91-30DA-8DB4-6DCD-7045E2B93E44}"/>
              </a:ext>
            </a:extLst>
          </p:cNvPr>
          <p:cNvSpPr/>
          <p:nvPr/>
        </p:nvSpPr>
        <p:spPr>
          <a:xfrm>
            <a:off x="390088" y="2021747"/>
            <a:ext cx="6077824" cy="1812666"/>
          </a:xfrm>
          <a:custGeom>
            <a:avLst/>
            <a:gdLst>
              <a:gd name="csX0" fmla="*/ 0 w 6077824"/>
              <a:gd name="csY0" fmla="*/ 0 h 1812666"/>
              <a:gd name="csX1" fmla="*/ 335560 w 6077824"/>
              <a:gd name="csY1" fmla="*/ 411060 h 1812666"/>
              <a:gd name="csX2" fmla="*/ 792760 w 6077824"/>
              <a:gd name="csY2" fmla="*/ 587229 h 1812666"/>
              <a:gd name="csX3" fmla="*/ 1258349 w 6077824"/>
              <a:gd name="csY3" fmla="*/ 771787 h 1812666"/>
              <a:gd name="csX4" fmla="*/ 1736521 w 6077824"/>
              <a:gd name="csY4" fmla="*/ 872455 h 1812666"/>
              <a:gd name="csX5" fmla="*/ 2185332 w 6077824"/>
              <a:gd name="csY5" fmla="*/ 960539 h 1812666"/>
              <a:gd name="csX6" fmla="*/ 2634143 w 6077824"/>
              <a:gd name="csY6" fmla="*/ 1325460 h 1812666"/>
              <a:gd name="csX7" fmla="*/ 3338818 w 6077824"/>
              <a:gd name="csY7" fmla="*/ 1812022 h 1812666"/>
              <a:gd name="csX8" fmla="*/ 4332914 w 6077824"/>
              <a:gd name="csY8" fmla="*/ 1417739 h 1812666"/>
              <a:gd name="csX9" fmla="*/ 5071145 w 6077824"/>
              <a:gd name="csY9" fmla="*/ 935372 h 1812666"/>
              <a:gd name="csX10" fmla="*/ 5570290 w 6077824"/>
              <a:gd name="csY10" fmla="*/ 713064 h 1812666"/>
              <a:gd name="csX11" fmla="*/ 6077824 w 6077824"/>
              <a:gd name="csY11" fmla="*/ 159391 h 18126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6077824" h="1812666">
                <a:moveTo>
                  <a:pt x="0" y="0"/>
                </a:moveTo>
                <a:cubicBezTo>
                  <a:pt x="101716" y="156594"/>
                  <a:pt x="203433" y="313189"/>
                  <a:pt x="335560" y="411060"/>
                </a:cubicBezTo>
                <a:cubicBezTo>
                  <a:pt x="467687" y="508932"/>
                  <a:pt x="792760" y="587229"/>
                  <a:pt x="792760" y="587229"/>
                </a:cubicBezTo>
                <a:cubicBezTo>
                  <a:pt x="946558" y="647350"/>
                  <a:pt x="1101056" y="724249"/>
                  <a:pt x="1258349" y="771787"/>
                </a:cubicBezTo>
                <a:cubicBezTo>
                  <a:pt x="1415642" y="819325"/>
                  <a:pt x="1736521" y="872455"/>
                  <a:pt x="1736521" y="872455"/>
                </a:cubicBezTo>
                <a:cubicBezTo>
                  <a:pt x="1891018" y="903914"/>
                  <a:pt x="2035728" y="885038"/>
                  <a:pt x="2185332" y="960539"/>
                </a:cubicBezTo>
                <a:cubicBezTo>
                  <a:pt x="2334936" y="1036040"/>
                  <a:pt x="2441895" y="1183546"/>
                  <a:pt x="2634143" y="1325460"/>
                </a:cubicBezTo>
                <a:cubicBezTo>
                  <a:pt x="2826391" y="1467374"/>
                  <a:pt x="3055690" y="1796642"/>
                  <a:pt x="3338818" y="1812022"/>
                </a:cubicBezTo>
                <a:cubicBezTo>
                  <a:pt x="3621947" y="1827402"/>
                  <a:pt x="4044193" y="1563847"/>
                  <a:pt x="4332914" y="1417739"/>
                </a:cubicBezTo>
                <a:cubicBezTo>
                  <a:pt x="4621635" y="1271631"/>
                  <a:pt x="4864916" y="1052818"/>
                  <a:pt x="5071145" y="935372"/>
                </a:cubicBezTo>
                <a:cubicBezTo>
                  <a:pt x="5277374" y="817926"/>
                  <a:pt x="5402510" y="842394"/>
                  <a:pt x="5570290" y="713064"/>
                </a:cubicBezTo>
                <a:cubicBezTo>
                  <a:pt x="5738070" y="583734"/>
                  <a:pt x="5907947" y="371562"/>
                  <a:pt x="6077824" y="159391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椭圆 56">
            <a:extLst>
              <a:ext uri="{FF2B5EF4-FFF2-40B4-BE49-F238E27FC236}">
                <a16:creationId xmlns:a16="http://schemas.microsoft.com/office/drawing/2014/main" id="{7C7E80E7-6012-738B-C754-FA718ADC66FA}"/>
              </a:ext>
            </a:extLst>
          </p:cNvPr>
          <p:cNvSpPr/>
          <p:nvPr/>
        </p:nvSpPr>
        <p:spPr>
          <a:xfrm>
            <a:off x="6447980" y="2162290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96858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67779" y="52425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情景四</a:t>
            </a:r>
          </a:p>
        </p:txBody>
      </p:sp>
      <p:cxnSp>
        <p:nvCxnSpPr>
          <p:cNvPr id="6" name="直接箭头连接符 5"/>
          <p:cNvCxnSpPr/>
          <p:nvPr/>
        </p:nvCxnSpPr>
        <p:spPr>
          <a:xfrm flipV="1">
            <a:off x="366471" y="1358315"/>
            <a:ext cx="6594" cy="30246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373066" y="3697166"/>
            <a:ext cx="9420099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 flipV="1">
            <a:off x="373066" y="1976805"/>
            <a:ext cx="946992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1639158" y="1976805"/>
            <a:ext cx="8142284" cy="729026"/>
          </a:xfrm>
          <a:prstGeom prst="line">
            <a:avLst/>
          </a:prstGeom>
          <a:ln>
            <a:solidFill>
              <a:schemeClr val="accent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1651133" y="1966363"/>
            <a:ext cx="0" cy="1201979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742646" y="1976805"/>
            <a:ext cx="0" cy="1201979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1198381" y="1976805"/>
            <a:ext cx="0" cy="1201979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2120107" y="2035419"/>
            <a:ext cx="0" cy="1143365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2580240" y="2094035"/>
            <a:ext cx="0" cy="1095006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3034450" y="2094036"/>
            <a:ext cx="0" cy="1084748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>
            <a:off x="9781442" y="2705831"/>
            <a:ext cx="0" cy="48321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>
            <a:off x="9313397" y="2723302"/>
            <a:ext cx="0" cy="483211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373065" y="3178784"/>
            <a:ext cx="9408377" cy="10257"/>
          </a:xfrm>
          <a:prstGeom prst="line">
            <a:avLst/>
          </a:prstGeom>
          <a:ln>
            <a:solidFill>
              <a:schemeClr val="accent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/>
          <p:cNvCxnSpPr/>
          <p:nvPr/>
        </p:nvCxnSpPr>
        <p:spPr>
          <a:xfrm>
            <a:off x="9771191" y="1314450"/>
            <a:ext cx="28051" cy="32267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椭圆 58"/>
          <p:cNvSpPr/>
          <p:nvPr/>
        </p:nvSpPr>
        <p:spPr>
          <a:xfrm>
            <a:off x="1628273" y="1941359"/>
            <a:ext cx="45719" cy="45719"/>
          </a:xfrm>
          <a:prstGeom prst="ellips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椭圆 59"/>
          <p:cNvSpPr/>
          <p:nvPr/>
        </p:nvSpPr>
        <p:spPr>
          <a:xfrm>
            <a:off x="2103885" y="2027230"/>
            <a:ext cx="45719" cy="45719"/>
          </a:xfrm>
          <a:prstGeom prst="ellips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椭圆 60"/>
          <p:cNvSpPr/>
          <p:nvPr/>
        </p:nvSpPr>
        <p:spPr>
          <a:xfrm>
            <a:off x="2572859" y="2050089"/>
            <a:ext cx="45719" cy="45719"/>
          </a:xfrm>
          <a:prstGeom prst="ellips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椭圆 61"/>
          <p:cNvSpPr/>
          <p:nvPr/>
        </p:nvSpPr>
        <p:spPr>
          <a:xfrm>
            <a:off x="3003496" y="2094035"/>
            <a:ext cx="45719" cy="45719"/>
          </a:xfrm>
          <a:prstGeom prst="ellips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椭圆 62"/>
          <p:cNvSpPr/>
          <p:nvPr/>
        </p:nvSpPr>
        <p:spPr>
          <a:xfrm>
            <a:off x="9302217" y="2645729"/>
            <a:ext cx="45719" cy="45719"/>
          </a:xfrm>
          <a:prstGeom prst="ellips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椭圆 63"/>
          <p:cNvSpPr/>
          <p:nvPr/>
        </p:nvSpPr>
        <p:spPr>
          <a:xfrm>
            <a:off x="9771191" y="2693413"/>
            <a:ext cx="45719" cy="45719"/>
          </a:xfrm>
          <a:prstGeom prst="ellips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椭圆 64"/>
          <p:cNvSpPr/>
          <p:nvPr/>
        </p:nvSpPr>
        <p:spPr>
          <a:xfrm>
            <a:off x="724413" y="3149478"/>
            <a:ext cx="45719" cy="45719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椭圆 66"/>
          <p:cNvSpPr/>
          <p:nvPr/>
        </p:nvSpPr>
        <p:spPr>
          <a:xfrm>
            <a:off x="1193386" y="3160794"/>
            <a:ext cx="45719" cy="45719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椭圆 67"/>
          <p:cNvSpPr/>
          <p:nvPr/>
        </p:nvSpPr>
        <p:spPr>
          <a:xfrm>
            <a:off x="1658731" y="3166181"/>
            <a:ext cx="45719" cy="45719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椭圆 68"/>
          <p:cNvSpPr/>
          <p:nvPr/>
        </p:nvSpPr>
        <p:spPr>
          <a:xfrm>
            <a:off x="2111266" y="3160794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椭圆 69"/>
          <p:cNvSpPr/>
          <p:nvPr/>
        </p:nvSpPr>
        <p:spPr>
          <a:xfrm>
            <a:off x="2572858" y="3160794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椭圆 70"/>
          <p:cNvSpPr/>
          <p:nvPr/>
        </p:nvSpPr>
        <p:spPr>
          <a:xfrm>
            <a:off x="3014079" y="3147679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椭圆 71"/>
          <p:cNvSpPr/>
          <p:nvPr/>
        </p:nvSpPr>
        <p:spPr>
          <a:xfrm>
            <a:off x="9302216" y="3154219"/>
            <a:ext cx="45719" cy="45719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椭圆 72"/>
          <p:cNvSpPr/>
          <p:nvPr/>
        </p:nvSpPr>
        <p:spPr>
          <a:xfrm>
            <a:off x="9749345" y="3168342"/>
            <a:ext cx="45719" cy="45719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椭圆 87"/>
          <p:cNvSpPr/>
          <p:nvPr/>
        </p:nvSpPr>
        <p:spPr>
          <a:xfrm>
            <a:off x="352708" y="1953945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/>
          <p:cNvCxnSpPr/>
          <p:nvPr/>
        </p:nvCxnSpPr>
        <p:spPr>
          <a:xfrm>
            <a:off x="3469727" y="2139754"/>
            <a:ext cx="0" cy="103903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3929858" y="2149074"/>
            <a:ext cx="0" cy="1057439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4442743" y="2219961"/>
            <a:ext cx="0" cy="1013861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4942439" y="2272812"/>
            <a:ext cx="0" cy="905972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椭圆 13"/>
          <p:cNvSpPr/>
          <p:nvPr/>
        </p:nvSpPr>
        <p:spPr>
          <a:xfrm>
            <a:off x="3452440" y="3144928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/>
          <p:cNvSpPr/>
          <p:nvPr/>
        </p:nvSpPr>
        <p:spPr>
          <a:xfrm>
            <a:off x="3921414" y="3168237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/>
          <p:cNvSpPr/>
          <p:nvPr/>
        </p:nvSpPr>
        <p:spPr>
          <a:xfrm>
            <a:off x="4427263" y="3153166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/>
          <p:cNvSpPr/>
          <p:nvPr/>
        </p:nvSpPr>
        <p:spPr>
          <a:xfrm>
            <a:off x="4937793" y="3153165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/>
          <p:cNvSpPr/>
          <p:nvPr/>
        </p:nvSpPr>
        <p:spPr>
          <a:xfrm>
            <a:off x="3446856" y="2116894"/>
            <a:ext cx="45719" cy="45719"/>
          </a:xfrm>
          <a:prstGeom prst="ellips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椭圆 22"/>
          <p:cNvSpPr/>
          <p:nvPr/>
        </p:nvSpPr>
        <p:spPr>
          <a:xfrm>
            <a:off x="3910504" y="2149073"/>
            <a:ext cx="45719" cy="45719"/>
          </a:xfrm>
          <a:prstGeom prst="ellips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椭圆 23"/>
          <p:cNvSpPr/>
          <p:nvPr/>
        </p:nvSpPr>
        <p:spPr>
          <a:xfrm>
            <a:off x="4427262" y="2213327"/>
            <a:ext cx="45719" cy="45719"/>
          </a:xfrm>
          <a:prstGeom prst="ellips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/>
          <p:cNvSpPr/>
          <p:nvPr/>
        </p:nvSpPr>
        <p:spPr>
          <a:xfrm>
            <a:off x="4935667" y="2265548"/>
            <a:ext cx="45719" cy="45719"/>
          </a:xfrm>
          <a:prstGeom prst="ellips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任意多边形: 形状 10"/>
          <p:cNvSpPr/>
          <p:nvPr/>
        </p:nvSpPr>
        <p:spPr>
          <a:xfrm>
            <a:off x="390152" y="1987078"/>
            <a:ext cx="9391290" cy="1846424"/>
          </a:xfrm>
          <a:custGeom>
            <a:avLst/>
            <a:gdLst>
              <a:gd name="csX0" fmla="*/ 0 w 9355015"/>
              <a:gd name="csY0" fmla="*/ 0 h 1846424"/>
              <a:gd name="csX1" fmla="*/ 303335 w 9355015"/>
              <a:gd name="csY1" fmla="*/ 602273 h 1846424"/>
              <a:gd name="csX2" fmla="*/ 769327 w 9355015"/>
              <a:gd name="csY2" fmla="*/ 813289 h 1846424"/>
              <a:gd name="csX3" fmla="*/ 1226527 w 9355015"/>
              <a:gd name="csY3" fmla="*/ 1006719 h 1846424"/>
              <a:gd name="csX4" fmla="*/ 1714500 w 9355015"/>
              <a:gd name="csY4" fmla="*/ 1437542 h 1846424"/>
              <a:gd name="csX5" fmla="*/ 2193681 w 9355015"/>
              <a:gd name="csY5" fmla="*/ 1538654 h 1846424"/>
              <a:gd name="csX6" fmla="*/ 2668465 w 9355015"/>
              <a:gd name="csY6" fmla="*/ 1578219 h 1846424"/>
              <a:gd name="csX7" fmla="*/ 3486150 w 9355015"/>
              <a:gd name="csY7" fmla="*/ 1846385 h 1846424"/>
              <a:gd name="csX8" fmla="*/ 5125915 w 9355015"/>
              <a:gd name="csY8" fmla="*/ 1600200 h 1846424"/>
              <a:gd name="csX9" fmla="*/ 6453554 w 9355015"/>
              <a:gd name="csY9" fmla="*/ 1424354 h 1846424"/>
              <a:gd name="csX10" fmla="*/ 7873512 w 9355015"/>
              <a:gd name="csY10" fmla="*/ 1543050 h 1846424"/>
              <a:gd name="csX11" fmla="*/ 8897815 w 9355015"/>
              <a:gd name="csY11" fmla="*/ 1028700 h 1846424"/>
              <a:gd name="csX12" fmla="*/ 9355015 w 9355015"/>
              <a:gd name="csY12" fmla="*/ 971550 h 18464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9355015" h="1846424">
                <a:moveTo>
                  <a:pt x="0" y="0"/>
                </a:moveTo>
                <a:cubicBezTo>
                  <a:pt x="87557" y="233362"/>
                  <a:pt x="175114" y="466725"/>
                  <a:pt x="303335" y="602273"/>
                </a:cubicBezTo>
                <a:cubicBezTo>
                  <a:pt x="431556" y="737821"/>
                  <a:pt x="615462" y="745881"/>
                  <a:pt x="769327" y="813289"/>
                </a:cubicBezTo>
                <a:cubicBezTo>
                  <a:pt x="923192" y="880697"/>
                  <a:pt x="1068998" y="902677"/>
                  <a:pt x="1226527" y="1006719"/>
                </a:cubicBezTo>
                <a:cubicBezTo>
                  <a:pt x="1384056" y="1110761"/>
                  <a:pt x="1553308" y="1348886"/>
                  <a:pt x="1714500" y="1437542"/>
                </a:cubicBezTo>
                <a:cubicBezTo>
                  <a:pt x="1875692" y="1526198"/>
                  <a:pt x="2034687" y="1515208"/>
                  <a:pt x="2193681" y="1538654"/>
                </a:cubicBezTo>
                <a:cubicBezTo>
                  <a:pt x="2352675" y="1562100"/>
                  <a:pt x="2453053" y="1526930"/>
                  <a:pt x="2668465" y="1578219"/>
                </a:cubicBezTo>
                <a:cubicBezTo>
                  <a:pt x="2883877" y="1629508"/>
                  <a:pt x="3076575" y="1842722"/>
                  <a:pt x="3486150" y="1846385"/>
                </a:cubicBezTo>
                <a:cubicBezTo>
                  <a:pt x="3895725" y="1850049"/>
                  <a:pt x="5125915" y="1600200"/>
                  <a:pt x="5125915" y="1600200"/>
                </a:cubicBezTo>
                <a:cubicBezTo>
                  <a:pt x="5620482" y="1529862"/>
                  <a:pt x="5995621" y="1433879"/>
                  <a:pt x="6453554" y="1424354"/>
                </a:cubicBezTo>
                <a:cubicBezTo>
                  <a:pt x="6911487" y="1414829"/>
                  <a:pt x="7466135" y="1608992"/>
                  <a:pt x="7873512" y="1543050"/>
                </a:cubicBezTo>
                <a:cubicBezTo>
                  <a:pt x="8280889" y="1477108"/>
                  <a:pt x="8650898" y="1123950"/>
                  <a:pt x="8897815" y="1028700"/>
                </a:cubicBezTo>
                <a:cubicBezTo>
                  <a:pt x="9144732" y="933450"/>
                  <a:pt x="9249873" y="952500"/>
                  <a:pt x="9355015" y="97155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>
            <a:off x="8849154" y="2645729"/>
            <a:ext cx="0" cy="560784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椭圆 26"/>
          <p:cNvSpPr/>
          <p:nvPr/>
        </p:nvSpPr>
        <p:spPr>
          <a:xfrm>
            <a:off x="8820750" y="3160794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椭圆 30"/>
          <p:cNvSpPr/>
          <p:nvPr/>
        </p:nvSpPr>
        <p:spPr>
          <a:xfrm>
            <a:off x="8820750" y="2597790"/>
            <a:ext cx="45719" cy="45719"/>
          </a:xfrm>
          <a:prstGeom prst="ellips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椭圆 33"/>
          <p:cNvSpPr/>
          <p:nvPr/>
        </p:nvSpPr>
        <p:spPr>
          <a:xfrm>
            <a:off x="9778270" y="2934627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文本框 89"/>
          <p:cNvSpPr txBox="1"/>
          <p:nvPr/>
        </p:nvSpPr>
        <p:spPr>
          <a:xfrm>
            <a:off x="280035" y="4570730"/>
            <a:ext cx="7990840" cy="175895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zh-CN" altLang="en-US" sz="1200" dirty="0"/>
              <a:t>锁定期满以后，产品存续到期，指数期末价格为期初价格的</a:t>
            </a:r>
            <a:r>
              <a:rPr lang="en-US" altLang="zh-CN" sz="1200" b="1" dirty="0"/>
              <a:t>76%</a:t>
            </a:r>
            <a:r>
              <a:rPr lang="zh-CN" altLang="en-US" sz="1200" dirty="0"/>
              <a:t>，那么：</a:t>
            </a:r>
            <a:endParaRPr lang="en-US" altLang="zh-CN" sz="1200" dirty="0"/>
          </a:p>
          <a:p>
            <a:pPr algn="l"/>
            <a:endParaRPr lang="en-US" altLang="zh-CN" sz="1200" dirty="0"/>
          </a:p>
          <a:p>
            <a:pPr marL="171450" indent="-171450" algn="l">
              <a:buFont typeface="Wingdings" panose="05000000000000000000" pitchFamily="2" charset="2"/>
              <a:buChar char="Ø"/>
            </a:pPr>
            <a:r>
              <a:rPr lang="en-US" altLang="zh-CN" sz="1200" dirty="0"/>
              <a:t>DCN</a:t>
            </a:r>
            <a:r>
              <a:rPr lang="zh-CN" altLang="en-US" sz="1200" dirty="0"/>
              <a:t>部分产生</a:t>
            </a:r>
            <a:r>
              <a:rPr lang="en-US" altLang="zh-CN" sz="1200" dirty="0"/>
              <a:t>5</a:t>
            </a:r>
            <a:r>
              <a:rPr lang="zh-CN" altLang="en-US" sz="1200" dirty="0"/>
              <a:t>次派息，对产品的收益贡献为  </a:t>
            </a:r>
            <a:r>
              <a:rPr lang="en-US" altLang="zh-CN" sz="1200" dirty="0"/>
              <a:t>0.65%【</a:t>
            </a:r>
            <a:r>
              <a:rPr lang="zh-CN" altLang="en-US" sz="1200" dirty="0"/>
              <a:t>派息率</a:t>
            </a:r>
            <a:r>
              <a:rPr lang="en-US" altLang="zh-CN" sz="1200" dirty="0"/>
              <a:t>】 * 5【</a:t>
            </a:r>
            <a:r>
              <a:rPr lang="zh-CN" altLang="en-US" sz="1200" dirty="0"/>
              <a:t>派息次数</a:t>
            </a:r>
            <a:r>
              <a:rPr lang="en-US" altLang="zh-CN" sz="1200" dirty="0"/>
              <a:t>】 = </a:t>
            </a:r>
            <a:r>
              <a:rPr lang="en-US" altLang="zh-CN" sz="1200" b="1" dirty="0"/>
              <a:t>3.50%</a:t>
            </a:r>
            <a:r>
              <a:rPr lang="zh-CN" altLang="en-US" sz="1200" dirty="0"/>
              <a:t>；</a:t>
            </a:r>
            <a:endParaRPr lang="en-US" altLang="zh-CN" sz="1200" dirty="0"/>
          </a:p>
          <a:p>
            <a:pPr marL="171450" indent="-171450" algn="l">
              <a:buFont typeface="Wingdings" panose="05000000000000000000" pitchFamily="2" charset="2"/>
              <a:buChar char="Ø"/>
            </a:pPr>
            <a:r>
              <a:rPr lang="zh-CN" altLang="en-US" sz="1200" dirty="0">
                <a:sym typeface="+mn-ea"/>
              </a:rPr>
              <a:t>因期末价格高于</a:t>
            </a:r>
            <a:r>
              <a:rPr lang="en-US" altLang="zh-CN" sz="1200" dirty="0">
                <a:sym typeface="+mn-ea"/>
              </a:rPr>
              <a:t>DCN</a:t>
            </a:r>
            <a:r>
              <a:rPr lang="zh-CN" altLang="en-US" sz="1200" dirty="0">
                <a:sym typeface="+mn-ea"/>
              </a:rPr>
              <a:t>期末止盈水平，</a:t>
            </a:r>
            <a:r>
              <a:rPr lang="en-US" altLang="zh-CN" sz="1200" dirty="0">
                <a:sym typeface="+mn-ea"/>
              </a:rPr>
              <a:t>DCN</a:t>
            </a:r>
            <a:r>
              <a:rPr lang="zh-CN" altLang="en-US" sz="1200" dirty="0">
                <a:sym typeface="+mn-ea"/>
              </a:rPr>
              <a:t>部分本金未发生亏损</a:t>
            </a:r>
            <a:r>
              <a:rPr lang="en-US" altLang="zh-CN" sz="1200" dirty="0">
                <a:sym typeface="+mn-ea"/>
              </a:rPr>
              <a:t>;</a:t>
            </a:r>
            <a:endParaRPr lang="en-US" altLang="zh-CN" sz="1200" dirty="0"/>
          </a:p>
          <a:p>
            <a:pPr marL="171450" indent="-171450" algn="l">
              <a:buFont typeface="Wingdings" panose="05000000000000000000" pitchFamily="2" charset="2"/>
              <a:buChar char="Ø"/>
            </a:pPr>
            <a:r>
              <a:rPr lang="zh-CN" altLang="en-US" sz="1200" dirty="0">
                <a:sym typeface="+mn-ea"/>
              </a:rPr>
              <a:t>因早利雪球部分存续期内发生敲入，且未发生敲出，对产品的收益贡献为</a:t>
            </a:r>
            <a:r>
              <a:rPr lang="en-US" altLang="zh-CN" sz="1200" dirty="0">
                <a:sym typeface="+mn-ea"/>
              </a:rPr>
              <a:t> </a:t>
            </a:r>
            <a:r>
              <a:rPr lang="zh-CN" altLang="en-US" sz="1200" dirty="0">
                <a:sym typeface="+mn-ea"/>
              </a:rPr>
              <a:t>（</a:t>
            </a:r>
            <a:r>
              <a:rPr lang="en-US" altLang="zh-CN" sz="1200" dirty="0">
                <a:sym typeface="+mn-ea"/>
              </a:rPr>
              <a:t>76%【</a:t>
            </a:r>
            <a:r>
              <a:rPr lang="zh-CN" altLang="en-US" sz="1200" dirty="0">
                <a:sym typeface="+mn-ea"/>
              </a:rPr>
              <a:t>期末价格</a:t>
            </a:r>
            <a:r>
              <a:rPr lang="en-US" altLang="zh-CN" sz="1200" dirty="0">
                <a:sym typeface="+mn-ea"/>
              </a:rPr>
              <a:t>】- 100%【</a:t>
            </a:r>
            <a:r>
              <a:rPr lang="zh-CN" altLang="en-US" sz="1200" dirty="0">
                <a:sym typeface="+mn-ea"/>
              </a:rPr>
              <a:t>期初价格</a:t>
            </a:r>
            <a:r>
              <a:rPr lang="en-US" altLang="zh-CN" sz="1200" dirty="0">
                <a:sym typeface="+mn-ea"/>
              </a:rPr>
              <a:t>】</a:t>
            </a:r>
            <a:r>
              <a:rPr lang="zh-CN" altLang="en-US" sz="1200" dirty="0">
                <a:sym typeface="+mn-ea"/>
              </a:rPr>
              <a:t>）</a:t>
            </a:r>
            <a:r>
              <a:rPr lang="en-US" altLang="zh-CN" sz="1200" dirty="0">
                <a:sym typeface="+mn-ea"/>
              </a:rPr>
              <a:t>* 10%</a:t>
            </a:r>
            <a:r>
              <a:rPr lang="zh-CN" altLang="en-US" sz="1200" dirty="0">
                <a:sym typeface="+mn-ea"/>
              </a:rPr>
              <a:t>【投资比例】</a:t>
            </a:r>
            <a:r>
              <a:rPr lang="en-US" altLang="zh-CN" sz="1200" dirty="0">
                <a:sym typeface="+mn-ea"/>
              </a:rPr>
              <a:t>= </a:t>
            </a:r>
            <a:r>
              <a:rPr lang="en-US" altLang="zh-CN" sz="1200" b="1" dirty="0">
                <a:sym typeface="+mn-ea"/>
              </a:rPr>
              <a:t>-2.4%</a:t>
            </a:r>
            <a:r>
              <a:rPr lang="zh-CN" altLang="en-US" sz="1200" dirty="0">
                <a:sym typeface="+mn-ea"/>
              </a:rPr>
              <a:t>；</a:t>
            </a:r>
            <a:endParaRPr lang="en-US" altLang="zh-CN" sz="1200" dirty="0"/>
          </a:p>
          <a:p>
            <a:pPr algn="l"/>
            <a:endParaRPr lang="en-US" altLang="zh-CN" sz="1200" dirty="0"/>
          </a:p>
          <a:p>
            <a:pPr algn="l"/>
            <a:r>
              <a:rPr lang="zh-CN" altLang="en-US" sz="1200" dirty="0"/>
              <a:t>合计产品绝对收益率为</a:t>
            </a:r>
            <a:r>
              <a:rPr lang="zh-CN" altLang="en-US" sz="1200" b="1" dirty="0"/>
              <a:t> </a:t>
            </a:r>
            <a:r>
              <a:rPr lang="en-US" altLang="zh-CN" sz="1200" b="1" dirty="0">
                <a:solidFill>
                  <a:srgbClr val="C00000"/>
                </a:solidFill>
              </a:rPr>
              <a:t>1.1%</a:t>
            </a:r>
            <a:r>
              <a:rPr lang="en-US" altLang="zh-CN" sz="1200" dirty="0"/>
              <a:t>*</a:t>
            </a:r>
            <a:r>
              <a:rPr lang="zh-CN" altLang="en-US" sz="1200" dirty="0">
                <a:sym typeface="+mn-ea"/>
              </a:rPr>
              <a:t>，年化约</a:t>
            </a:r>
            <a:r>
              <a:rPr lang="en-US" altLang="zh-CN" sz="1200" dirty="0">
                <a:solidFill>
                  <a:srgbClr val="C00000"/>
                </a:solidFill>
                <a:sym typeface="+mn-ea"/>
              </a:rPr>
              <a:t> </a:t>
            </a:r>
            <a:r>
              <a:rPr lang="en-US" altLang="zh-CN" sz="1200" b="1" dirty="0">
                <a:solidFill>
                  <a:srgbClr val="C00000"/>
                </a:solidFill>
                <a:sym typeface="+mn-ea"/>
              </a:rPr>
              <a:t>0.5%</a:t>
            </a:r>
            <a:r>
              <a:rPr lang="zh-CN" altLang="en-US" sz="1200" dirty="0"/>
              <a:t>。</a:t>
            </a:r>
            <a:endParaRPr lang="en-US" altLang="zh-CN" sz="1200" dirty="0"/>
          </a:p>
          <a:p>
            <a:pPr algn="l"/>
            <a:endParaRPr lang="en-US" altLang="zh-CN" sz="1200" dirty="0">
              <a:solidFill>
                <a:srgbClr val="C00000"/>
              </a:solidFill>
            </a:endParaRPr>
          </a:p>
          <a:p>
            <a:pPr algn="l"/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*</a:t>
            </a:r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收益测算基于情景分析，预估了销售费管理费，未计入业绩计提以及可能产生的税费的影响，仅作为参考不作为收益承诺。</a:t>
            </a:r>
            <a:endParaRPr lang="en-US" altLang="zh-CN" sz="1200" dirty="0">
              <a:solidFill>
                <a:srgbClr val="C00000"/>
              </a:solidFill>
            </a:endParaRPr>
          </a:p>
        </p:txBody>
      </p:sp>
      <p:sp>
        <p:nvSpPr>
          <p:cNvPr id="3" name="椭圆 2"/>
          <p:cNvSpPr/>
          <p:nvPr/>
        </p:nvSpPr>
        <p:spPr>
          <a:xfrm>
            <a:off x="10322400" y="1764047"/>
            <a:ext cx="91440" cy="91440"/>
          </a:xfrm>
          <a:prstGeom prst="ellips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0413840" y="1668616"/>
            <a:ext cx="17299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/>
              <a:t>DCN</a:t>
            </a:r>
            <a:r>
              <a:rPr lang="zh-CN" altLang="en-US" sz="1200" dirty="0"/>
              <a:t>与雪球的敲出观察</a:t>
            </a:r>
          </a:p>
        </p:txBody>
      </p:sp>
      <p:sp>
        <p:nvSpPr>
          <p:cNvPr id="10" name="椭圆 9"/>
          <p:cNvSpPr/>
          <p:nvPr/>
        </p:nvSpPr>
        <p:spPr>
          <a:xfrm>
            <a:off x="10326367" y="2312741"/>
            <a:ext cx="91440" cy="91440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0413840" y="2219961"/>
            <a:ext cx="11144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/>
              <a:t>DCN</a:t>
            </a:r>
            <a:r>
              <a:rPr lang="zh-CN" altLang="en-US" sz="1200" dirty="0"/>
              <a:t>派息观察</a:t>
            </a:r>
          </a:p>
        </p:txBody>
      </p:sp>
      <p:cxnSp>
        <p:nvCxnSpPr>
          <p:cNvPr id="21" name="直接连接符 20"/>
          <p:cNvCxnSpPr/>
          <p:nvPr/>
        </p:nvCxnSpPr>
        <p:spPr>
          <a:xfrm>
            <a:off x="10322400" y="3418206"/>
            <a:ext cx="127792" cy="0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文本框 34"/>
          <p:cNvSpPr txBox="1"/>
          <p:nvPr/>
        </p:nvSpPr>
        <p:spPr>
          <a:xfrm>
            <a:off x="10415016" y="3293900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雪球敲入观察</a:t>
            </a:r>
          </a:p>
        </p:txBody>
      </p:sp>
      <p:sp>
        <p:nvSpPr>
          <p:cNvPr id="36" name="椭圆 35"/>
          <p:cNvSpPr/>
          <p:nvPr/>
        </p:nvSpPr>
        <p:spPr>
          <a:xfrm>
            <a:off x="10322346" y="2836800"/>
            <a:ext cx="90000" cy="900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10414800" y="2743355"/>
            <a:ext cx="1102995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/>
              <a:t>DCN</a:t>
            </a:r>
            <a:r>
              <a:rPr lang="zh-CN" altLang="en-US" sz="1200" dirty="0"/>
              <a:t>敲入观察</a:t>
            </a:r>
          </a:p>
        </p:txBody>
      </p:sp>
      <p:sp>
        <p:nvSpPr>
          <p:cNvPr id="38" name="椭圆 37"/>
          <p:cNvSpPr/>
          <p:nvPr/>
        </p:nvSpPr>
        <p:spPr>
          <a:xfrm>
            <a:off x="9771801" y="3671334"/>
            <a:ext cx="45719" cy="4571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AAC629EA-0F4E-586B-32E3-CFF5872C42AA}"/>
              </a:ext>
            </a:extLst>
          </p:cNvPr>
          <p:cNvSpPr/>
          <p:nvPr/>
        </p:nvSpPr>
        <p:spPr>
          <a:xfrm>
            <a:off x="352708" y="1636550"/>
            <a:ext cx="5550970" cy="2045689"/>
          </a:xfrm>
          <a:prstGeom prst="rect">
            <a:avLst/>
          </a:prstGeom>
          <a:solidFill>
            <a:srgbClr val="0F9ED5">
              <a:alpha val="2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887C9F41-912D-E604-2F4E-B83706F89237}"/>
              </a:ext>
            </a:extLst>
          </p:cNvPr>
          <p:cNvSpPr/>
          <p:nvPr/>
        </p:nvSpPr>
        <p:spPr>
          <a:xfrm>
            <a:off x="10322346" y="3841991"/>
            <a:ext cx="159654" cy="164592"/>
          </a:xfrm>
          <a:prstGeom prst="rect">
            <a:avLst/>
          </a:prstGeom>
          <a:solidFill>
            <a:srgbClr val="0F9ED5">
              <a:alpha val="2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70022422-8694-E30A-142D-320092192BC2}"/>
              </a:ext>
            </a:extLst>
          </p:cNvPr>
          <p:cNvSpPr txBox="1"/>
          <p:nvPr/>
        </p:nvSpPr>
        <p:spPr>
          <a:xfrm>
            <a:off x="10482000" y="3785306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早利期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E499209E-12EF-32A8-8CAD-A3DCA445E507}"/>
              </a:ext>
            </a:extLst>
          </p:cNvPr>
          <p:cNvSpPr/>
          <p:nvPr/>
        </p:nvSpPr>
        <p:spPr>
          <a:xfrm>
            <a:off x="352708" y="1636550"/>
            <a:ext cx="5550970" cy="2045689"/>
          </a:xfrm>
          <a:prstGeom prst="rect">
            <a:avLst/>
          </a:prstGeom>
          <a:solidFill>
            <a:srgbClr val="0F9ED5">
              <a:alpha val="2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267779" y="52425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情景五</a:t>
            </a:r>
          </a:p>
        </p:txBody>
      </p:sp>
      <p:cxnSp>
        <p:nvCxnSpPr>
          <p:cNvPr id="6" name="直接箭头连接符 5"/>
          <p:cNvCxnSpPr/>
          <p:nvPr/>
        </p:nvCxnSpPr>
        <p:spPr>
          <a:xfrm flipV="1">
            <a:off x="366471" y="1358315"/>
            <a:ext cx="6594" cy="30246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373066" y="3697166"/>
            <a:ext cx="9420099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 flipV="1">
            <a:off x="373066" y="1976805"/>
            <a:ext cx="946992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1639158" y="1976805"/>
            <a:ext cx="8142284" cy="729026"/>
          </a:xfrm>
          <a:prstGeom prst="line">
            <a:avLst/>
          </a:prstGeom>
          <a:ln>
            <a:solidFill>
              <a:schemeClr val="accent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1651133" y="1966363"/>
            <a:ext cx="0" cy="1201979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742646" y="1976805"/>
            <a:ext cx="0" cy="1201979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1198381" y="1976805"/>
            <a:ext cx="0" cy="1201979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2120107" y="2035419"/>
            <a:ext cx="0" cy="1143365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2580240" y="2094035"/>
            <a:ext cx="0" cy="1095006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3034450" y="2094036"/>
            <a:ext cx="0" cy="1084748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>
            <a:off x="9781442" y="2705831"/>
            <a:ext cx="0" cy="48321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/>
          <p:nvPr/>
        </p:nvCxnSpPr>
        <p:spPr>
          <a:xfrm>
            <a:off x="9313397" y="2723302"/>
            <a:ext cx="0" cy="483211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373065" y="3178784"/>
            <a:ext cx="9408377" cy="10257"/>
          </a:xfrm>
          <a:prstGeom prst="line">
            <a:avLst/>
          </a:prstGeom>
          <a:ln>
            <a:solidFill>
              <a:schemeClr val="accent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/>
          <p:cNvCxnSpPr/>
          <p:nvPr/>
        </p:nvCxnSpPr>
        <p:spPr>
          <a:xfrm>
            <a:off x="9771191" y="1314450"/>
            <a:ext cx="28051" cy="32267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椭圆 58"/>
          <p:cNvSpPr/>
          <p:nvPr/>
        </p:nvSpPr>
        <p:spPr>
          <a:xfrm>
            <a:off x="1628273" y="1941359"/>
            <a:ext cx="45719" cy="45719"/>
          </a:xfrm>
          <a:prstGeom prst="ellips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椭圆 59"/>
          <p:cNvSpPr/>
          <p:nvPr/>
        </p:nvSpPr>
        <p:spPr>
          <a:xfrm>
            <a:off x="2103885" y="2027230"/>
            <a:ext cx="45719" cy="45719"/>
          </a:xfrm>
          <a:prstGeom prst="ellips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椭圆 60"/>
          <p:cNvSpPr/>
          <p:nvPr/>
        </p:nvSpPr>
        <p:spPr>
          <a:xfrm>
            <a:off x="2572859" y="2050089"/>
            <a:ext cx="45719" cy="45719"/>
          </a:xfrm>
          <a:prstGeom prst="ellips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椭圆 61"/>
          <p:cNvSpPr/>
          <p:nvPr/>
        </p:nvSpPr>
        <p:spPr>
          <a:xfrm>
            <a:off x="3003496" y="2094035"/>
            <a:ext cx="45719" cy="45719"/>
          </a:xfrm>
          <a:prstGeom prst="ellips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椭圆 62"/>
          <p:cNvSpPr/>
          <p:nvPr/>
        </p:nvSpPr>
        <p:spPr>
          <a:xfrm>
            <a:off x="9302217" y="2645729"/>
            <a:ext cx="45719" cy="45719"/>
          </a:xfrm>
          <a:prstGeom prst="ellips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椭圆 63"/>
          <p:cNvSpPr/>
          <p:nvPr/>
        </p:nvSpPr>
        <p:spPr>
          <a:xfrm>
            <a:off x="9771191" y="2693413"/>
            <a:ext cx="45719" cy="45719"/>
          </a:xfrm>
          <a:prstGeom prst="ellips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椭圆 64"/>
          <p:cNvSpPr/>
          <p:nvPr/>
        </p:nvSpPr>
        <p:spPr>
          <a:xfrm>
            <a:off x="724413" y="3149478"/>
            <a:ext cx="45719" cy="45719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椭圆 66"/>
          <p:cNvSpPr/>
          <p:nvPr/>
        </p:nvSpPr>
        <p:spPr>
          <a:xfrm>
            <a:off x="1193386" y="3160794"/>
            <a:ext cx="45719" cy="45719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椭圆 67"/>
          <p:cNvSpPr/>
          <p:nvPr/>
        </p:nvSpPr>
        <p:spPr>
          <a:xfrm>
            <a:off x="1658731" y="3166181"/>
            <a:ext cx="45719" cy="45719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椭圆 68"/>
          <p:cNvSpPr/>
          <p:nvPr/>
        </p:nvSpPr>
        <p:spPr>
          <a:xfrm>
            <a:off x="2111266" y="3160794"/>
            <a:ext cx="45719" cy="45719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椭圆 69"/>
          <p:cNvSpPr/>
          <p:nvPr/>
        </p:nvSpPr>
        <p:spPr>
          <a:xfrm>
            <a:off x="2572858" y="3160794"/>
            <a:ext cx="45719" cy="45719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椭圆 70"/>
          <p:cNvSpPr/>
          <p:nvPr/>
        </p:nvSpPr>
        <p:spPr>
          <a:xfrm>
            <a:off x="3014079" y="3147679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椭圆 71"/>
          <p:cNvSpPr/>
          <p:nvPr/>
        </p:nvSpPr>
        <p:spPr>
          <a:xfrm>
            <a:off x="9302216" y="3154219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椭圆 72"/>
          <p:cNvSpPr/>
          <p:nvPr/>
        </p:nvSpPr>
        <p:spPr>
          <a:xfrm>
            <a:off x="9749345" y="3168342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椭圆 87"/>
          <p:cNvSpPr/>
          <p:nvPr/>
        </p:nvSpPr>
        <p:spPr>
          <a:xfrm>
            <a:off x="352708" y="1953945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/>
          <p:cNvCxnSpPr/>
          <p:nvPr/>
        </p:nvCxnSpPr>
        <p:spPr>
          <a:xfrm>
            <a:off x="3469727" y="2139754"/>
            <a:ext cx="0" cy="103903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3929858" y="2149074"/>
            <a:ext cx="0" cy="1057439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4442743" y="2219961"/>
            <a:ext cx="0" cy="1013861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4942439" y="2272812"/>
            <a:ext cx="0" cy="905972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椭圆 13"/>
          <p:cNvSpPr/>
          <p:nvPr/>
        </p:nvSpPr>
        <p:spPr>
          <a:xfrm>
            <a:off x="3452440" y="3144928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/>
          <p:cNvSpPr/>
          <p:nvPr/>
        </p:nvSpPr>
        <p:spPr>
          <a:xfrm>
            <a:off x="3921414" y="3168237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/>
          <p:cNvSpPr/>
          <p:nvPr/>
        </p:nvSpPr>
        <p:spPr>
          <a:xfrm>
            <a:off x="4427263" y="3153166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/>
          <p:cNvSpPr/>
          <p:nvPr/>
        </p:nvSpPr>
        <p:spPr>
          <a:xfrm>
            <a:off x="4937793" y="3153165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/>
          <p:cNvSpPr/>
          <p:nvPr/>
        </p:nvSpPr>
        <p:spPr>
          <a:xfrm>
            <a:off x="3446856" y="2116894"/>
            <a:ext cx="45719" cy="45719"/>
          </a:xfrm>
          <a:prstGeom prst="ellips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椭圆 22"/>
          <p:cNvSpPr/>
          <p:nvPr/>
        </p:nvSpPr>
        <p:spPr>
          <a:xfrm>
            <a:off x="3910504" y="2149073"/>
            <a:ext cx="45719" cy="45719"/>
          </a:xfrm>
          <a:prstGeom prst="ellips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椭圆 23"/>
          <p:cNvSpPr/>
          <p:nvPr/>
        </p:nvSpPr>
        <p:spPr>
          <a:xfrm>
            <a:off x="4427262" y="2213327"/>
            <a:ext cx="45719" cy="45719"/>
          </a:xfrm>
          <a:prstGeom prst="ellips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/>
          <p:cNvSpPr/>
          <p:nvPr/>
        </p:nvSpPr>
        <p:spPr>
          <a:xfrm>
            <a:off x="4935667" y="2265548"/>
            <a:ext cx="45719" cy="45719"/>
          </a:xfrm>
          <a:prstGeom prst="ellips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>
            <a:off x="8849154" y="2645729"/>
            <a:ext cx="0" cy="560784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椭圆 26"/>
          <p:cNvSpPr/>
          <p:nvPr/>
        </p:nvSpPr>
        <p:spPr>
          <a:xfrm>
            <a:off x="8820750" y="3160794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椭圆 30"/>
          <p:cNvSpPr/>
          <p:nvPr/>
        </p:nvSpPr>
        <p:spPr>
          <a:xfrm>
            <a:off x="8820750" y="2597790"/>
            <a:ext cx="45719" cy="45719"/>
          </a:xfrm>
          <a:prstGeom prst="ellips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任意多边形: 形状 2"/>
          <p:cNvSpPr/>
          <p:nvPr/>
        </p:nvSpPr>
        <p:spPr>
          <a:xfrm>
            <a:off x="373673" y="2000251"/>
            <a:ext cx="9421391" cy="2089354"/>
          </a:xfrm>
          <a:custGeom>
            <a:avLst/>
            <a:gdLst>
              <a:gd name="csX0" fmla="*/ 0 w 9460047"/>
              <a:gd name="csY0" fmla="*/ 0 h 2183287"/>
              <a:gd name="csX1" fmla="*/ 369277 w 9460047"/>
              <a:gd name="csY1" fmla="*/ 364881 h 2183287"/>
              <a:gd name="csX2" fmla="*/ 835269 w 9460047"/>
              <a:gd name="csY2" fmla="*/ 597877 h 2183287"/>
              <a:gd name="csX3" fmla="*/ 1270489 w 9460047"/>
              <a:gd name="csY3" fmla="*/ 905608 h 2183287"/>
              <a:gd name="csX4" fmla="*/ 1762858 w 9460047"/>
              <a:gd name="csY4" fmla="*/ 1002323 h 2183287"/>
              <a:gd name="csX5" fmla="*/ 2193681 w 9460047"/>
              <a:gd name="csY5" fmla="*/ 1041888 h 2183287"/>
              <a:gd name="csX6" fmla="*/ 2567354 w 9460047"/>
              <a:gd name="csY6" fmla="*/ 1257300 h 2183287"/>
              <a:gd name="csX7" fmla="*/ 3130062 w 9460047"/>
              <a:gd name="csY7" fmla="*/ 1406769 h 2183287"/>
              <a:gd name="csX8" fmla="*/ 4066442 w 9460047"/>
              <a:gd name="csY8" fmla="*/ 1547446 h 2183287"/>
              <a:gd name="csX9" fmla="*/ 4611565 w 9460047"/>
              <a:gd name="csY9" fmla="*/ 1538654 h 2183287"/>
              <a:gd name="csX10" fmla="*/ 5943600 w 9460047"/>
              <a:gd name="csY10" fmla="*/ 1837592 h 2183287"/>
              <a:gd name="csX11" fmla="*/ 7754815 w 9460047"/>
              <a:gd name="csY11" fmla="*/ 1894742 h 2183287"/>
              <a:gd name="csX12" fmla="*/ 8532935 w 9460047"/>
              <a:gd name="csY12" fmla="*/ 1947496 h 2183287"/>
              <a:gd name="csX13" fmla="*/ 9012115 w 9460047"/>
              <a:gd name="csY13" fmla="*/ 2101362 h 2183287"/>
              <a:gd name="csX14" fmla="*/ 9416562 w 9460047"/>
              <a:gd name="csY14" fmla="*/ 2176096 h 2183287"/>
              <a:gd name="csX15" fmla="*/ 9429750 w 9460047"/>
              <a:gd name="csY15" fmla="*/ 2176096 h 21832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9460047" h="2183287">
                <a:moveTo>
                  <a:pt x="0" y="0"/>
                </a:moveTo>
                <a:cubicBezTo>
                  <a:pt x="115033" y="132617"/>
                  <a:pt x="230066" y="265235"/>
                  <a:pt x="369277" y="364881"/>
                </a:cubicBezTo>
                <a:cubicBezTo>
                  <a:pt x="508488" y="464527"/>
                  <a:pt x="685067" y="507756"/>
                  <a:pt x="835269" y="597877"/>
                </a:cubicBezTo>
                <a:cubicBezTo>
                  <a:pt x="985471" y="687998"/>
                  <a:pt x="1115891" y="838200"/>
                  <a:pt x="1270489" y="905608"/>
                </a:cubicBezTo>
                <a:cubicBezTo>
                  <a:pt x="1425087" y="973016"/>
                  <a:pt x="1608993" y="979610"/>
                  <a:pt x="1762858" y="1002323"/>
                </a:cubicBezTo>
                <a:cubicBezTo>
                  <a:pt x="1916723" y="1025036"/>
                  <a:pt x="2059598" y="999392"/>
                  <a:pt x="2193681" y="1041888"/>
                </a:cubicBezTo>
                <a:cubicBezTo>
                  <a:pt x="2327764" y="1084384"/>
                  <a:pt x="2411291" y="1196487"/>
                  <a:pt x="2567354" y="1257300"/>
                </a:cubicBezTo>
                <a:cubicBezTo>
                  <a:pt x="2723418" y="1318114"/>
                  <a:pt x="2880214" y="1358411"/>
                  <a:pt x="3130062" y="1406769"/>
                </a:cubicBezTo>
                <a:cubicBezTo>
                  <a:pt x="3379910" y="1455127"/>
                  <a:pt x="3819525" y="1525465"/>
                  <a:pt x="4066442" y="1547446"/>
                </a:cubicBezTo>
                <a:cubicBezTo>
                  <a:pt x="4313359" y="1569427"/>
                  <a:pt x="4298705" y="1490296"/>
                  <a:pt x="4611565" y="1538654"/>
                </a:cubicBezTo>
                <a:cubicBezTo>
                  <a:pt x="4924425" y="1587012"/>
                  <a:pt x="5419725" y="1778244"/>
                  <a:pt x="5943600" y="1837592"/>
                </a:cubicBezTo>
                <a:cubicBezTo>
                  <a:pt x="6467475" y="1896940"/>
                  <a:pt x="7323259" y="1876425"/>
                  <a:pt x="7754815" y="1894742"/>
                </a:cubicBezTo>
                <a:cubicBezTo>
                  <a:pt x="8186371" y="1913059"/>
                  <a:pt x="8323385" y="1913059"/>
                  <a:pt x="8532935" y="1947496"/>
                </a:cubicBezTo>
                <a:cubicBezTo>
                  <a:pt x="8742485" y="1981933"/>
                  <a:pt x="8864844" y="2063262"/>
                  <a:pt x="9012115" y="2101362"/>
                </a:cubicBezTo>
                <a:cubicBezTo>
                  <a:pt x="9159386" y="2139462"/>
                  <a:pt x="9346956" y="2163640"/>
                  <a:pt x="9416562" y="2176096"/>
                </a:cubicBezTo>
                <a:cubicBezTo>
                  <a:pt x="9486168" y="2188552"/>
                  <a:pt x="9457959" y="2182324"/>
                  <a:pt x="9429750" y="2176096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9772499" y="4066745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文本框 89"/>
          <p:cNvSpPr txBox="1"/>
          <p:nvPr/>
        </p:nvSpPr>
        <p:spPr>
          <a:xfrm>
            <a:off x="280035" y="4570730"/>
            <a:ext cx="11419840" cy="1744345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r>
              <a:rPr lang="zh-CN" altLang="en-US" sz="1200" dirty="0"/>
              <a:t>锁定期满以后，产品存续到期，</a:t>
            </a:r>
            <a:r>
              <a:rPr lang="zh-CN" altLang="en-US" sz="1200" dirty="0">
                <a:sym typeface="+mn-ea"/>
              </a:rPr>
              <a:t>指数期末价格为期初价格的</a:t>
            </a:r>
            <a:r>
              <a:rPr lang="en-US" altLang="zh-CN" sz="1200" b="1" dirty="0">
                <a:sym typeface="+mn-ea"/>
              </a:rPr>
              <a:t>64%</a:t>
            </a:r>
            <a:r>
              <a:rPr lang="zh-CN" altLang="en-US" sz="1200" dirty="0"/>
              <a:t>，那么：</a:t>
            </a:r>
            <a:endParaRPr lang="en-US" altLang="zh-CN" sz="1200" dirty="0"/>
          </a:p>
          <a:p>
            <a:pPr algn="l"/>
            <a:endParaRPr lang="en-US" altLang="zh-CN" sz="1200" dirty="0"/>
          </a:p>
          <a:p>
            <a:pPr marL="171450" indent="-171450" algn="l">
              <a:buFont typeface="Wingdings" panose="05000000000000000000" pitchFamily="2" charset="2"/>
              <a:buChar char="Ø"/>
            </a:pPr>
            <a:r>
              <a:rPr lang="en-US" altLang="zh-CN" sz="1200" dirty="0"/>
              <a:t>DCN</a:t>
            </a:r>
            <a:r>
              <a:rPr lang="zh-CN" altLang="en-US" sz="1200" dirty="0"/>
              <a:t>部分产生</a:t>
            </a:r>
            <a:r>
              <a:rPr lang="en-US" altLang="zh-CN" sz="1200" dirty="0"/>
              <a:t>5</a:t>
            </a:r>
            <a:r>
              <a:rPr lang="zh-CN" altLang="en-US" sz="1200" dirty="0"/>
              <a:t>次派息，对产品的收益贡献为  </a:t>
            </a:r>
            <a:r>
              <a:rPr lang="en-US" altLang="zh-CN" sz="1200" dirty="0"/>
              <a:t>0.65%【</a:t>
            </a:r>
            <a:r>
              <a:rPr lang="zh-CN" altLang="en-US" sz="1200" dirty="0"/>
              <a:t>派息率</a:t>
            </a:r>
            <a:r>
              <a:rPr lang="en-US" altLang="zh-CN" sz="1200" dirty="0"/>
              <a:t>】 * 5【</a:t>
            </a:r>
            <a:r>
              <a:rPr lang="zh-CN" altLang="en-US" sz="1200" dirty="0"/>
              <a:t>派息次数</a:t>
            </a:r>
            <a:r>
              <a:rPr lang="en-US" altLang="zh-CN" sz="1200" dirty="0"/>
              <a:t>】 = </a:t>
            </a:r>
            <a:r>
              <a:rPr lang="en-US" altLang="zh-CN" sz="1200" b="1" dirty="0"/>
              <a:t>3.25%</a:t>
            </a:r>
            <a:r>
              <a:rPr lang="zh-CN" altLang="en-US" sz="1200" dirty="0"/>
              <a:t>；</a:t>
            </a:r>
            <a:endParaRPr lang="en-US" altLang="zh-CN" sz="1200" dirty="0"/>
          </a:p>
          <a:p>
            <a:pPr marL="171450" indent="-171450" algn="l">
              <a:buFont typeface="Wingdings" panose="05000000000000000000" pitchFamily="2" charset="2"/>
              <a:buChar char="Ø"/>
            </a:pPr>
            <a:r>
              <a:rPr lang="zh-CN" altLang="en-US" sz="1200" dirty="0">
                <a:sym typeface="+mn-ea"/>
              </a:rPr>
              <a:t>因期末价格低于</a:t>
            </a:r>
            <a:r>
              <a:rPr lang="en-US" altLang="zh-CN" sz="1200" dirty="0">
                <a:sym typeface="+mn-ea"/>
              </a:rPr>
              <a:t>DCN</a:t>
            </a:r>
            <a:r>
              <a:rPr lang="zh-CN" altLang="en-US" sz="1200" dirty="0">
                <a:sym typeface="+mn-ea"/>
              </a:rPr>
              <a:t>期末止盈水平，</a:t>
            </a:r>
            <a:r>
              <a:rPr lang="en-US" altLang="zh-CN" sz="1200" dirty="0">
                <a:sym typeface="+mn-ea"/>
              </a:rPr>
              <a:t>DCN</a:t>
            </a:r>
            <a:r>
              <a:rPr lang="zh-CN" altLang="en-US" sz="1200" dirty="0">
                <a:sym typeface="+mn-ea"/>
              </a:rPr>
              <a:t>部分导致产品亏损为</a:t>
            </a:r>
            <a:r>
              <a:rPr lang="en-US" altLang="zh-CN" sz="1200" dirty="0">
                <a:sym typeface="+mn-ea"/>
              </a:rPr>
              <a:t> 64%</a:t>
            </a:r>
            <a:r>
              <a:rPr lang="zh-CN" altLang="en-US" sz="1200" dirty="0">
                <a:sym typeface="+mn-ea"/>
              </a:rPr>
              <a:t>【期末价格】</a:t>
            </a:r>
            <a:r>
              <a:rPr lang="en-US" altLang="zh-CN" sz="1200" dirty="0">
                <a:sym typeface="+mn-ea"/>
              </a:rPr>
              <a:t>- 100%【</a:t>
            </a:r>
            <a:r>
              <a:rPr lang="zh-CN" altLang="en-US" sz="1200" dirty="0">
                <a:sym typeface="+mn-ea"/>
              </a:rPr>
              <a:t>期初价格</a:t>
            </a:r>
            <a:r>
              <a:rPr lang="en-US" altLang="zh-CN" sz="1200" dirty="0">
                <a:sym typeface="+mn-ea"/>
              </a:rPr>
              <a:t>】 = </a:t>
            </a:r>
            <a:r>
              <a:rPr lang="en-US" altLang="zh-CN" sz="1200" b="1" dirty="0">
                <a:sym typeface="+mn-ea"/>
              </a:rPr>
              <a:t>-36.00%</a:t>
            </a:r>
            <a:r>
              <a:rPr lang="zh-CN" altLang="en-US" sz="1200" dirty="0">
                <a:sym typeface="+mn-ea"/>
              </a:rPr>
              <a:t>；</a:t>
            </a:r>
            <a:endParaRPr lang="en-US" altLang="zh-CN" sz="1200" dirty="0"/>
          </a:p>
          <a:p>
            <a:pPr marL="171450" indent="-171450" algn="l">
              <a:buFont typeface="Wingdings" panose="05000000000000000000" pitchFamily="2" charset="2"/>
              <a:buChar char="Ø"/>
            </a:pPr>
            <a:r>
              <a:rPr lang="zh-CN" altLang="en-US" sz="1200" dirty="0">
                <a:sym typeface="+mn-ea"/>
              </a:rPr>
              <a:t>因早利雪球部分存续期内发生敲入，且未发生敲出，对产品的收益贡献为</a:t>
            </a:r>
            <a:r>
              <a:rPr lang="en-US" altLang="zh-CN" sz="1200" dirty="0">
                <a:sym typeface="+mn-ea"/>
              </a:rPr>
              <a:t>  </a:t>
            </a:r>
            <a:r>
              <a:rPr lang="zh-CN" altLang="en-US" sz="1200" dirty="0">
                <a:sym typeface="+mn-ea"/>
              </a:rPr>
              <a:t>（</a:t>
            </a:r>
            <a:r>
              <a:rPr lang="en-US" altLang="zh-CN" sz="1200" dirty="0">
                <a:sym typeface="+mn-ea"/>
              </a:rPr>
              <a:t>64%【</a:t>
            </a:r>
            <a:r>
              <a:rPr lang="zh-CN" altLang="en-US" sz="1200" dirty="0">
                <a:sym typeface="+mn-ea"/>
              </a:rPr>
              <a:t>期末价格</a:t>
            </a:r>
            <a:r>
              <a:rPr lang="en-US" altLang="zh-CN" sz="1200" dirty="0">
                <a:sym typeface="+mn-ea"/>
              </a:rPr>
              <a:t>】- 100%【</a:t>
            </a:r>
            <a:r>
              <a:rPr lang="zh-CN" altLang="en-US" sz="1200" dirty="0">
                <a:sym typeface="+mn-ea"/>
              </a:rPr>
              <a:t>期初价格</a:t>
            </a:r>
            <a:r>
              <a:rPr lang="en-US" altLang="zh-CN" sz="1200" dirty="0">
                <a:sym typeface="+mn-ea"/>
              </a:rPr>
              <a:t>】</a:t>
            </a:r>
            <a:r>
              <a:rPr lang="zh-CN" altLang="en-US" sz="1200" dirty="0">
                <a:sym typeface="+mn-ea"/>
              </a:rPr>
              <a:t>）</a:t>
            </a:r>
            <a:r>
              <a:rPr lang="en-US" altLang="zh-CN" sz="1200" dirty="0">
                <a:sym typeface="+mn-ea"/>
              </a:rPr>
              <a:t>* 10%</a:t>
            </a:r>
            <a:r>
              <a:rPr lang="zh-CN" altLang="en-US" sz="1200" dirty="0">
                <a:sym typeface="+mn-ea"/>
              </a:rPr>
              <a:t>【投资比例】</a:t>
            </a:r>
            <a:r>
              <a:rPr lang="en-US" altLang="zh-CN" sz="1200" dirty="0">
                <a:sym typeface="+mn-ea"/>
              </a:rPr>
              <a:t> = -</a:t>
            </a:r>
            <a:r>
              <a:rPr lang="en-US" altLang="zh-CN" sz="1200" b="1" dirty="0">
                <a:sym typeface="+mn-ea"/>
              </a:rPr>
              <a:t>3.6%</a:t>
            </a:r>
            <a:r>
              <a:rPr lang="zh-CN" altLang="en-US" sz="1200" dirty="0">
                <a:sym typeface="+mn-ea"/>
              </a:rPr>
              <a:t>；</a:t>
            </a:r>
            <a:endParaRPr lang="en-US" altLang="zh-CN" sz="1200" dirty="0"/>
          </a:p>
          <a:p>
            <a:pPr indent="0" algn="l">
              <a:buFont typeface="Wingdings" panose="05000000000000000000" pitchFamily="2" charset="2"/>
              <a:buNone/>
            </a:pPr>
            <a:endParaRPr lang="en-US" altLang="zh-CN" sz="1200" dirty="0"/>
          </a:p>
          <a:p>
            <a:pPr algn="l"/>
            <a:r>
              <a:rPr lang="zh-CN" altLang="en-US" sz="1200" dirty="0"/>
              <a:t>合计产品绝对收益率为 </a:t>
            </a:r>
            <a:r>
              <a:rPr lang="en-US" altLang="zh-CN" sz="1200" b="1" dirty="0">
                <a:solidFill>
                  <a:srgbClr val="C00000"/>
                </a:solidFill>
              </a:rPr>
              <a:t>-36.35%</a:t>
            </a:r>
            <a:r>
              <a:rPr lang="en-US" altLang="zh-CN" sz="1200" dirty="0"/>
              <a:t>*</a:t>
            </a:r>
            <a:r>
              <a:rPr lang="zh-CN" altLang="en-US" sz="1200" dirty="0"/>
              <a:t>。</a:t>
            </a:r>
            <a:endParaRPr lang="en-US" altLang="zh-CN" sz="1200" dirty="0"/>
          </a:p>
          <a:p>
            <a:pPr algn="l"/>
            <a:endParaRPr lang="en-US" altLang="zh-CN" sz="1200" dirty="0">
              <a:solidFill>
                <a:srgbClr val="C00000"/>
              </a:solidFill>
            </a:endParaRPr>
          </a:p>
          <a:p>
            <a:pPr algn="l"/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*</a:t>
            </a:r>
            <a:r>
              <a:rPr lang="zh-CN" altLang="en-US" sz="9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收益测算基于情景分析，预估了销售费管理费，未计入业绩计提以及可能产生的税费的影响，仅作为参考不作为收益承诺。</a:t>
            </a:r>
            <a:endParaRPr lang="en-US" altLang="zh-CN" sz="1200" dirty="0">
              <a:solidFill>
                <a:srgbClr val="C00000"/>
              </a:solidFill>
            </a:endParaRPr>
          </a:p>
        </p:txBody>
      </p:sp>
      <p:sp>
        <p:nvSpPr>
          <p:cNvPr id="10" name="椭圆 9"/>
          <p:cNvSpPr/>
          <p:nvPr/>
        </p:nvSpPr>
        <p:spPr>
          <a:xfrm>
            <a:off x="10322400" y="1764047"/>
            <a:ext cx="91440" cy="91440"/>
          </a:xfrm>
          <a:prstGeom prst="ellips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0413840" y="1668616"/>
            <a:ext cx="17299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/>
              <a:t>DCN</a:t>
            </a:r>
            <a:r>
              <a:rPr lang="zh-CN" altLang="en-US" sz="1200" dirty="0"/>
              <a:t>与雪球的敲出观察</a:t>
            </a:r>
          </a:p>
        </p:txBody>
      </p:sp>
      <p:sp>
        <p:nvSpPr>
          <p:cNvPr id="13" name="椭圆 12"/>
          <p:cNvSpPr/>
          <p:nvPr/>
        </p:nvSpPr>
        <p:spPr>
          <a:xfrm>
            <a:off x="10326367" y="2312741"/>
            <a:ext cx="91440" cy="91440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10413840" y="2219961"/>
            <a:ext cx="11144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/>
              <a:t>DCN</a:t>
            </a:r>
            <a:r>
              <a:rPr lang="zh-CN" altLang="en-US" sz="1200" dirty="0"/>
              <a:t>派息观察</a:t>
            </a:r>
          </a:p>
        </p:txBody>
      </p:sp>
      <p:cxnSp>
        <p:nvCxnSpPr>
          <p:cNvPr id="34" name="直接连接符 33"/>
          <p:cNvCxnSpPr/>
          <p:nvPr/>
        </p:nvCxnSpPr>
        <p:spPr>
          <a:xfrm>
            <a:off x="10322400" y="3418206"/>
            <a:ext cx="127792" cy="0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文本框 34"/>
          <p:cNvSpPr txBox="1"/>
          <p:nvPr/>
        </p:nvSpPr>
        <p:spPr>
          <a:xfrm>
            <a:off x="10415016" y="3293900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雪球敲入观察</a:t>
            </a:r>
          </a:p>
        </p:txBody>
      </p:sp>
      <p:sp>
        <p:nvSpPr>
          <p:cNvPr id="36" name="椭圆 35"/>
          <p:cNvSpPr/>
          <p:nvPr/>
        </p:nvSpPr>
        <p:spPr>
          <a:xfrm>
            <a:off x="10322346" y="2836800"/>
            <a:ext cx="90000" cy="9000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10414800" y="2743355"/>
            <a:ext cx="1102995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/>
              <a:t>DCN</a:t>
            </a:r>
            <a:r>
              <a:rPr lang="zh-CN" altLang="en-US" sz="1200" dirty="0"/>
              <a:t>敲入观察</a:t>
            </a:r>
          </a:p>
        </p:txBody>
      </p:sp>
      <p:sp>
        <p:nvSpPr>
          <p:cNvPr id="38" name="椭圆 37"/>
          <p:cNvSpPr/>
          <p:nvPr/>
        </p:nvSpPr>
        <p:spPr>
          <a:xfrm>
            <a:off x="9771801" y="3671334"/>
            <a:ext cx="45719" cy="45719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1D3357D9-03ED-D6F1-46FA-9B63D2615117}"/>
              </a:ext>
            </a:extLst>
          </p:cNvPr>
          <p:cNvSpPr/>
          <p:nvPr/>
        </p:nvSpPr>
        <p:spPr>
          <a:xfrm>
            <a:off x="10322346" y="3841991"/>
            <a:ext cx="159654" cy="164592"/>
          </a:xfrm>
          <a:prstGeom prst="rect">
            <a:avLst/>
          </a:prstGeom>
          <a:solidFill>
            <a:srgbClr val="0F9ED5">
              <a:alpha val="2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7FD79938-97E0-6F82-36EE-206A745F2C8F}"/>
              </a:ext>
            </a:extLst>
          </p:cNvPr>
          <p:cNvSpPr txBox="1"/>
          <p:nvPr/>
        </p:nvSpPr>
        <p:spPr>
          <a:xfrm>
            <a:off x="10482000" y="3785306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早利期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</TotalTime>
  <Words>1336</Words>
  <Application>Microsoft Office PowerPoint</Application>
  <PresentationFormat>宽屏</PresentationFormat>
  <Paragraphs>152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3" baseType="lpstr">
      <vt:lpstr>等线</vt:lpstr>
      <vt:lpstr>等线 Light</vt:lpstr>
      <vt:lpstr>Arial</vt:lpstr>
      <vt:lpstr>Wingdings</vt:lpstr>
      <vt:lpstr>Office 主题​​</vt:lpstr>
      <vt:lpstr>华银元鼎月利2号2期 投资策略介绍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Liao Song</dc:creator>
  <cp:lastModifiedBy>Liao Song</cp:lastModifiedBy>
  <cp:revision>14</cp:revision>
  <dcterms:created xsi:type="dcterms:W3CDTF">2026-02-27T06:35:00Z</dcterms:created>
  <dcterms:modified xsi:type="dcterms:W3CDTF">2026-05-06T02:30:22Z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F3CBE62844D9431495AAB9DF49EB70C0_12</vt:lpwstr>
  </property>
</Properties>
</file>