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2.xml" ContentType="application/vnd.openxmlformats-officedocument.presentationml.notesSlide+xml"/>
  <Override PartName="/ppt/tags/tag118.xml" ContentType="application/vnd.openxmlformats-officedocument.presentationml.tags+xml"/>
  <Override PartName="/ppt/notesSlides/notesSlide3.xml" ContentType="application/vnd.openxmlformats-officedocument.presentationml.notesSlide+xml"/>
  <Override PartName="/ppt/tags/tag119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60" r:id="rId5"/>
    <p:sldId id="452" r:id="rId6"/>
    <p:sldId id="453" r:id="rId7"/>
    <p:sldId id="1016" r:id="rId8"/>
    <p:sldId id="1017" r:id="rId9"/>
    <p:sldId id="821" r:id="rId10"/>
    <p:sldId id="412" r:id="rId11"/>
    <p:sldId id="824" r:id="rId12"/>
    <p:sldId id="825" r:id="rId13"/>
    <p:sldId id="826" r:id="rId14"/>
    <p:sldId id="416" r:id="rId15"/>
    <p:sldId id="261" r:id="rId16"/>
    <p:sldId id="559" r:id="rId17"/>
    <p:sldId id="560" r:id="rId18"/>
    <p:sldId id="56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o Song" userId="7514f73fdf211de7" providerId="LiveId" clId="{091EBDC4-4E33-4798-B98B-25E283820AAC}"/>
    <pc:docChg chg="delSld">
      <pc:chgData name="Liao Song" userId="7514f73fdf211de7" providerId="LiveId" clId="{091EBDC4-4E33-4798-B98B-25E283820AAC}" dt="2026-05-11T01:44:16.599" v="4" actId="47"/>
      <pc:docMkLst>
        <pc:docMk/>
      </pc:docMkLst>
      <pc:sldChg chg="del">
        <pc:chgData name="Liao Song" userId="7514f73fdf211de7" providerId="LiveId" clId="{091EBDC4-4E33-4798-B98B-25E283820AAC}" dt="2026-05-11T01:43:57.621" v="2" actId="47"/>
        <pc:sldMkLst>
          <pc:docMk/>
          <pc:sldMk cId="0" sldId="320"/>
        </pc:sldMkLst>
      </pc:sldChg>
      <pc:sldChg chg="del">
        <pc:chgData name="Liao Song" userId="7514f73fdf211de7" providerId="LiveId" clId="{091EBDC4-4E33-4798-B98B-25E283820AAC}" dt="2026-05-11T01:44:14.856" v="3" actId="47"/>
        <pc:sldMkLst>
          <pc:docMk/>
          <pc:sldMk cId="0" sldId="495"/>
        </pc:sldMkLst>
      </pc:sldChg>
      <pc:sldChg chg="del">
        <pc:chgData name="Liao Song" userId="7514f73fdf211de7" providerId="LiveId" clId="{091EBDC4-4E33-4798-B98B-25E283820AAC}" dt="2026-05-11T01:43:55.151" v="0" actId="47"/>
        <pc:sldMkLst>
          <pc:docMk/>
          <pc:sldMk cId="0" sldId="517"/>
        </pc:sldMkLst>
      </pc:sldChg>
      <pc:sldChg chg="del">
        <pc:chgData name="Liao Song" userId="7514f73fdf211de7" providerId="LiveId" clId="{091EBDC4-4E33-4798-B98B-25E283820AAC}" dt="2026-05-11T01:43:55.981" v="1" actId="47"/>
        <pc:sldMkLst>
          <pc:docMk/>
          <pc:sldMk cId="0" sldId="518"/>
        </pc:sldMkLst>
      </pc:sldChg>
      <pc:sldChg chg="del">
        <pc:chgData name="Liao Song" userId="7514f73fdf211de7" providerId="LiveId" clId="{091EBDC4-4E33-4798-B98B-25E283820AAC}" dt="2026-05-11T01:44:16.599" v="4" actId="47"/>
        <pc:sldMkLst>
          <pc:docMk/>
          <pc:sldMk cId="0" sldId="107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87951512650244"/>
          <c:y val="0.10537689340364417"/>
          <c:w val="0.8061578114148199"/>
          <c:h val="0.588870600512285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历史行情!$C$4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历史行情!$A$5:$A$100</c:f>
              <c:numCache>
                <c:formatCode>yyyy\-mm\-dd</c:formatCode>
                <c:ptCount val="96"/>
                <c:pt idx="0">
                  <c:v>44399</c:v>
                </c:pt>
                <c:pt idx="1">
                  <c:v>44400</c:v>
                </c:pt>
                <c:pt idx="2">
                  <c:v>44403</c:v>
                </c:pt>
                <c:pt idx="3">
                  <c:v>44404</c:v>
                </c:pt>
                <c:pt idx="4">
                  <c:v>44405</c:v>
                </c:pt>
                <c:pt idx="5">
                  <c:v>44406</c:v>
                </c:pt>
                <c:pt idx="6">
                  <c:v>44407</c:v>
                </c:pt>
                <c:pt idx="7">
                  <c:v>44410</c:v>
                </c:pt>
                <c:pt idx="8">
                  <c:v>44411</c:v>
                </c:pt>
                <c:pt idx="9">
                  <c:v>44412</c:v>
                </c:pt>
                <c:pt idx="10">
                  <c:v>44413</c:v>
                </c:pt>
                <c:pt idx="11">
                  <c:v>44414</c:v>
                </c:pt>
                <c:pt idx="12">
                  <c:v>44417</c:v>
                </c:pt>
                <c:pt idx="13">
                  <c:v>44418</c:v>
                </c:pt>
                <c:pt idx="14">
                  <c:v>44419</c:v>
                </c:pt>
                <c:pt idx="15">
                  <c:v>44420</c:v>
                </c:pt>
                <c:pt idx="16">
                  <c:v>44421</c:v>
                </c:pt>
                <c:pt idx="17">
                  <c:v>44424</c:v>
                </c:pt>
                <c:pt idx="18">
                  <c:v>44425</c:v>
                </c:pt>
                <c:pt idx="19">
                  <c:v>44426</c:v>
                </c:pt>
                <c:pt idx="20">
                  <c:v>44427</c:v>
                </c:pt>
                <c:pt idx="21">
                  <c:v>44428</c:v>
                </c:pt>
                <c:pt idx="22">
                  <c:v>44431</c:v>
                </c:pt>
                <c:pt idx="23">
                  <c:v>44432</c:v>
                </c:pt>
                <c:pt idx="24">
                  <c:v>44433</c:v>
                </c:pt>
                <c:pt idx="25">
                  <c:v>44434</c:v>
                </c:pt>
                <c:pt idx="26">
                  <c:v>44435</c:v>
                </c:pt>
                <c:pt idx="27">
                  <c:v>44438</c:v>
                </c:pt>
                <c:pt idx="28">
                  <c:v>44439</c:v>
                </c:pt>
                <c:pt idx="29">
                  <c:v>44440</c:v>
                </c:pt>
                <c:pt idx="30">
                  <c:v>44441</c:v>
                </c:pt>
                <c:pt idx="31">
                  <c:v>44442</c:v>
                </c:pt>
                <c:pt idx="32">
                  <c:v>44445</c:v>
                </c:pt>
                <c:pt idx="33">
                  <c:v>44446</c:v>
                </c:pt>
                <c:pt idx="34">
                  <c:v>44447</c:v>
                </c:pt>
                <c:pt idx="35">
                  <c:v>44448</c:v>
                </c:pt>
                <c:pt idx="36">
                  <c:v>44449</c:v>
                </c:pt>
                <c:pt idx="37">
                  <c:v>44452</c:v>
                </c:pt>
                <c:pt idx="38">
                  <c:v>44453</c:v>
                </c:pt>
                <c:pt idx="39">
                  <c:v>44454</c:v>
                </c:pt>
                <c:pt idx="40">
                  <c:v>44455</c:v>
                </c:pt>
                <c:pt idx="41">
                  <c:v>44456</c:v>
                </c:pt>
                <c:pt idx="42">
                  <c:v>44461</c:v>
                </c:pt>
                <c:pt idx="43">
                  <c:v>44462</c:v>
                </c:pt>
                <c:pt idx="44">
                  <c:v>44463</c:v>
                </c:pt>
                <c:pt idx="45">
                  <c:v>44466</c:v>
                </c:pt>
                <c:pt idx="46">
                  <c:v>44467</c:v>
                </c:pt>
                <c:pt idx="47">
                  <c:v>44468</c:v>
                </c:pt>
                <c:pt idx="48">
                  <c:v>44469</c:v>
                </c:pt>
                <c:pt idx="49">
                  <c:v>44477</c:v>
                </c:pt>
                <c:pt idx="50">
                  <c:v>44480</c:v>
                </c:pt>
                <c:pt idx="51">
                  <c:v>44481</c:v>
                </c:pt>
                <c:pt idx="52">
                  <c:v>44482</c:v>
                </c:pt>
                <c:pt idx="53">
                  <c:v>44483</c:v>
                </c:pt>
                <c:pt idx="54">
                  <c:v>44484</c:v>
                </c:pt>
                <c:pt idx="55">
                  <c:v>44487</c:v>
                </c:pt>
                <c:pt idx="56">
                  <c:v>44488</c:v>
                </c:pt>
                <c:pt idx="57">
                  <c:v>44489</c:v>
                </c:pt>
                <c:pt idx="58">
                  <c:v>44490</c:v>
                </c:pt>
                <c:pt idx="59">
                  <c:v>44491</c:v>
                </c:pt>
                <c:pt idx="60">
                  <c:v>44494</c:v>
                </c:pt>
                <c:pt idx="61">
                  <c:v>44495</c:v>
                </c:pt>
                <c:pt idx="62">
                  <c:v>44496</c:v>
                </c:pt>
                <c:pt idx="63">
                  <c:v>44497</c:v>
                </c:pt>
                <c:pt idx="64">
                  <c:v>44498</c:v>
                </c:pt>
                <c:pt idx="65">
                  <c:v>44501</c:v>
                </c:pt>
                <c:pt idx="66">
                  <c:v>44502</c:v>
                </c:pt>
                <c:pt idx="67">
                  <c:v>44503</c:v>
                </c:pt>
                <c:pt idx="68">
                  <c:v>44504</c:v>
                </c:pt>
                <c:pt idx="69">
                  <c:v>44505</c:v>
                </c:pt>
                <c:pt idx="70">
                  <c:v>44508</c:v>
                </c:pt>
                <c:pt idx="71">
                  <c:v>44509</c:v>
                </c:pt>
                <c:pt idx="72">
                  <c:v>44510</c:v>
                </c:pt>
                <c:pt idx="73">
                  <c:v>44511</c:v>
                </c:pt>
                <c:pt idx="74">
                  <c:v>44512</c:v>
                </c:pt>
                <c:pt idx="75">
                  <c:v>44515</c:v>
                </c:pt>
                <c:pt idx="76">
                  <c:v>44516</c:v>
                </c:pt>
                <c:pt idx="77">
                  <c:v>44517</c:v>
                </c:pt>
                <c:pt idx="78">
                  <c:v>44518</c:v>
                </c:pt>
                <c:pt idx="79">
                  <c:v>44519</c:v>
                </c:pt>
                <c:pt idx="80">
                  <c:v>44522</c:v>
                </c:pt>
                <c:pt idx="81">
                  <c:v>44523</c:v>
                </c:pt>
                <c:pt idx="82">
                  <c:v>44524</c:v>
                </c:pt>
                <c:pt idx="83">
                  <c:v>44525</c:v>
                </c:pt>
                <c:pt idx="84">
                  <c:v>44526</c:v>
                </c:pt>
                <c:pt idx="85">
                  <c:v>44529</c:v>
                </c:pt>
                <c:pt idx="86">
                  <c:v>44530</c:v>
                </c:pt>
                <c:pt idx="87">
                  <c:v>44531</c:v>
                </c:pt>
                <c:pt idx="88">
                  <c:v>44532</c:v>
                </c:pt>
                <c:pt idx="89">
                  <c:v>44533</c:v>
                </c:pt>
                <c:pt idx="90">
                  <c:v>44536</c:v>
                </c:pt>
                <c:pt idx="91">
                  <c:v>44537</c:v>
                </c:pt>
                <c:pt idx="92">
                  <c:v>44538</c:v>
                </c:pt>
                <c:pt idx="93">
                  <c:v>44539</c:v>
                </c:pt>
                <c:pt idx="94">
                  <c:v>44540</c:v>
                </c:pt>
                <c:pt idx="95">
                  <c:v>44543</c:v>
                </c:pt>
              </c:numCache>
            </c:numRef>
          </c:cat>
          <c:val>
            <c:numRef>
              <c:f>历史行情!$C$5:$C$100</c:f>
              <c:numCache>
                <c:formatCode>General</c:formatCode>
                <c:ptCount val="96"/>
                <c:pt idx="0">
                  <c:v>0.31043106834556611</c:v>
                </c:pt>
                <c:pt idx="1">
                  <c:v>0.33744503410529281</c:v>
                </c:pt>
                <c:pt idx="2">
                  <c:v>0.41780550076205769</c:v>
                </c:pt>
                <c:pt idx="3">
                  <c:v>0.51191010042791862</c:v>
                </c:pt>
                <c:pt idx="4">
                  <c:v>0.50801115233279726</c:v>
                </c:pt>
                <c:pt idx="5">
                  <c:v>0.45892763533257908</c:v>
                </c:pt>
                <c:pt idx="6">
                  <c:v>0.48178535482707741</c:v>
                </c:pt>
                <c:pt idx="7">
                  <c:v>0.41334852432939961</c:v>
                </c:pt>
                <c:pt idx="8">
                  <c:v>0.41314246072492133</c:v>
                </c:pt>
                <c:pt idx="9">
                  <c:v>0.38805304306612975</c:v>
                </c:pt>
                <c:pt idx="10">
                  <c:v>0.40559073710229659</c:v>
                </c:pt>
                <c:pt idx="11">
                  <c:v>0.42235502375950901</c:v>
                </c:pt>
                <c:pt idx="12">
                  <c:v>0.38436229427200369</c:v>
                </c:pt>
                <c:pt idx="13">
                  <c:v>0.34952032669194982</c:v>
                </c:pt>
                <c:pt idx="14">
                  <c:v>0.36672814615732485</c:v>
                </c:pt>
                <c:pt idx="15">
                  <c:v>0.39477597270720238</c:v>
                </c:pt>
                <c:pt idx="16">
                  <c:v>0.41523786304040111</c:v>
                </c:pt>
                <c:pt idx="17">
                  <c:v>0.42202080226749855</c:v>
                </c:pt>
                <c:pt idx="18">
                  <c:v>0.49826453003810622</c:v>
                </c:pt>
                <c:pt idx="19">
                  <c:v>0.46655270529754528</c:v>
                </c:pt>
                <c:pt idx="20">
                  <c:v>0.49713229339876458</c:v>
                </c:pt>
                <c:pt idx="21">
                  <c:v>0.56044065274943822</c:v>
                </c:pt>
                <c:pt idx="22">
                  <c:v>0.52591906030706725</c:v>
                </c:pt>
                <c:pt idx="23">
                  <c:v>0.49458080954905081</c:v>
                </c:pt>
                <c:pt idx="24">
                  <c:v>0.48996533089059663</c:v>
                </c:pt>
                <c:pt idx="25">
                  <c:v>0.54736028724781005</c:v>
                </c:pt>
                <c:pt idx="26">
                  <c:v>0.53417282407336064</c:v>
                </c:pt>
                <c:pt idx="27">
                  <c:v>0.54436347898893866</c:v>
                </c:pt>
                <c:pt idx="28">
                  <c:v>0.55124602635088626</c:v>
                </c:pt>
                <c:pt idx="29">
                  <c:v>0.51427786162935696</c:v>
                </c:pt>
                <c:pt idx="30">
                  <c:v>0.51650686356520237</c:v>
                </c:pt>
                <c:pt idx="31">
                  <c:v>0.53585352127139763</c:v>
                </c:pt>
                <c:pt idx="32">
                  <c:v>0.48007484046876736</c:v>
                </c:pt>
                <c:pt idx="33">
                  <c:v>0.44336323558284985</c:v>
                </c:pt>
                <c:pt idx="34">
                  <c:v>0.45964451172923138</c:v>
                </c:pt>
                <c:pt idx="35">
                  <c:v>0.46429984078501546</c:v>
                </c:pt>
                <c:pt idx="36">
                  <c:v>0.43703907921181939</c:v>
                </c:pt>
                <c:pt idx="37">
                  <c:v>0.45765422826835633</c:v>
                </c:pt>
                <c:pt idx="38">
                  <c:v>0.51951540406470775</c:v>
                </c:pt>
                <c:pt idx="39">
                  <c:v>0.56375814605035013</c:v>
                </c:pt>
                <c:pt idx="40">
                  <c:v>0.61043407640235448</c:v>
                </c:pt>
                <c:pt idx="41">
                  <c:v>0.59058209844274534</c:v>
                </c:pt>
                <c:pt idx="42">
                  <c:v>0.60710038131398747</c:v>
                </c:pt>
                <c:pt idx="43">
                  <c:v>0.58551087611534247</c:v>
                </c:pt>
                <c:pt idx="44">
                  <c:v>0.59053474363667924</c:v>
                </c:pt>
                <c:pt idx="45">
                  <c:v>0.57652640070968719</c:v>
                </c:pt>
                <c:pt idx="46">
                  <c:v>0.57569346237192309</c:v>
                </c:pt>
                <c:pt idx="47">
                  <c:v>0.61024305738378126</c:v>
                </c:pt>
                <c:pt idx="48">
                  <c:v>0.59407319784614221</c:v>
                </c:pt>
                <c:pt idx="49">
                  <c:v>0.55755471211263008</c:v>
                </c:pt>
                <c:pt idx="50">
                  <c:v>0.55805158153805601</c:v>
                </c:pt>
                <c:pt idx="51">
                  <c:v>0.59802599892726216</c:v>
                </c:pt>
                <c:pt idx="52">
                  <c:v>0.56701425439927433</c:v>
                </c:pt>
                <c:pt idx="53">
                  <c:v>0.59248245358450546</c:v>
                </c:pt>
                <c:pt idx="54">
                  <c:v>0.58905747099879902</c:v>
                </c:pt>
                <c:pt idx="55">
                  <c:v>0.63654518072009947</c:v>
                </c:pt>
                <c:pt idx="56">
                  <c:v>0.61966933243904498</c:v>
                </c:pt>
                <c:pt idx="57">
                  <c:v>0.64207134844910174</c:v>
                </c:pt>
                <c:pt idx="58">
                  <c:v>0.65014288167374457</c:v>
                </c:pt>
                <c:pt idx="59">
                  <c:v>0.65464795483716176</c:v>
                </c:pt>
                <c:pt idx="60">
                  <c:v>0.56285502960645706</c:v>
                </c:pt>
                <c:pt idx="61">
                  <c:v>0.57449902736444214</c:v>
                </c:pt>
                <c:pt idx="62">
                  <c:v>0.61610283002053257</c:v>
                </c:pt>
                <c:pt idx="63">
                  <c:v>0.63978538115045591</c:v>
                </c:pt>
                <c:pt idx="64">
                  <c:v>0.61538795455309347</c:v>
                </c:pt>
                <c:pt idx="65">
                  <c:v>0.63003556755854728</c:v>
                </c:pt>
                <c:pt idx="66">
                  <c:v>0.66579940027950524</c:v>
                </c:pt>
                <c:pt idx="67">
                  <c:v>0.68192903530481574</c:v>
                </c:pt>
                <c:pt idx="68">
                  <c:v>0.65654032527558059</c:v>
                </c:pt>
                <c:pt idx="69">
                  <c:v>0.67864756314660424</c:v>
                </c:pt>
                <c:pt idx="70">
                  <c:v>0.68069810420385191</c:v>
                </c:pt>
                <c:pt idx="71">
                  <c:v>0.68803005583421217</c:v>
                </c:pt>
                <c:pt idx="72">
                  <c:v>0.7112362492994927</c:v>
                </c:pt>
                <c:pt idx="73">
                  <c:v>0.66969586958873439</c:v>
                </c:pt>
                <c:pt idx="74">
                  <c:v>0.68583898900145746</c:v>
                </c:pt>
                <c:pt idx="75">
                  <c:v>0.70039263453828227</c:v>
                </c:pt>
                <c:pt idx="76">
                  <c:v>0.71201373676876412</c:v>
                </c:pt>
                <c:pt idx="77">
                  <c:v>0.72428181543991998</c:v>
                </c:pt>
                <c:pt idx="78">
                  <c:v>0.75505758774527876</c:v>
                </c:pt>
                <c:pt idx="79">
                  <c:v>0.74580839083191885</c:v>
                </c:pt>
                <c:pt idx="80">
                  <c:v>0.72885207193521673</c:v>
                </c:pt>
                <c:pt idx="81">
                  <c:v>0.65612797515543309</c:v>
                </c:pt>
                <c:pt idx="82">
                  <c:v>0.65671570682631275</c:v>
                </c:pt>
                <c:pt idx="83">
                  <c:v>0.67250017742148771</c:v>
                </c:pt>
                <c:pt idx="84">
                  <c:v>0.6991091671107742</c:v>
                </c:pt>
                <c:pt idx="85">
                  <c:v>0.70849868951210138</c:v>
                </c:pt>
                <c:pt idx="86">
                  <c:v>0.72523017061863326</c:v>
                </c:pt>
                <c:pt idx="87">
                  <c:v>0.72203152547125793</c:v>
                </c:pt>
                <c:pt idx="88">
                  <c:v>0.7186999057739526</c:v>
                </c:pt>
                <c:pt idx="89">
                  <c:v>0.69344524028909615</c:v>
                </c:pt>
                <c:pt idx="90">
                  <c:v>0.70464281522823391</c:v>
                </c:pt>
                <c:pt idx="91">
                  <c:v>0.69002319989534977</c:v>
                </c:pt>
                <c:pt idx="92">
                  <c:v>0.6425783041808939</c:v>
                </c:pt>
                <c:pt idx="93">
                  <c:v>0.58493867181255632</c:v>
                </c:pt>
                <c:pt idx="94">
                  <c:v>0.61038484467453136</c:v>
                </c:pt>
                <c:pt idx="95">
                  <c:v>0.59474515087463076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89-4D6D-8FDE-85883D3B59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703808"/>
        <c:axId val="155682208"/>
      </c:barChart>
      <c:dateAx>
        <c:axId val="155703808"/>
        <c:scaling>
          <c:orientation val="minMax"/>
        </c:scaling>
        <c:delete val="1"/>
        <c:axPos val="b"/>
        <c:numFmt formatCode="yyyy\-mm\-dd" sourceLinked="1"/>
        <c:majorTickMark val="none"/>
        <c:minorTickMark val="none"/>
        <c:tickLblPos val="nextTo"/>
        <c:crossAx val="155682208"/>
        <c:crosses val="autoZero"/>
        <c:auto val="1"/>
        <c:lblOffset val="100"/>
        <c:baseTimeUnit val="days"/>
      </c:dateAx>
      <c:valAx>
        <c:axId val="155682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570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952964367250633E-2"/>
          <c:y val="2.4751248767680381E-2"/>
          <c:w val="0.9132166851391742"/>
          <c:h val="0.92388564032732012"/>
        </c:manualLayout>
      </c:layout>
      <c:scatterChart>
        <c:scatterStyle val="smoothMarker"/>
        <c:varyColors val="0"/>
        <c:ser>
          <c:idx val="0"/>
          <c:order val="0"/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Pt>
            <c:idx val="58"/>
            <c:marker>
              <c:symbol val="circle"/>
              <c:size val="5"/>
              <c:spPr>
                <a:noFill/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1EC-4C18-9350-977BDF637D39}"/>
              </c:ext>
            </c:extLst>
          </c:dPt>
          <c:xVal>
            <c:numRef>
              <c:f>历史行情!$A$5:$A$100</c:f>
              <c:numCache>
                <c:formatCode>yyyy\-mm\-dd</c:formatCode>
                <c:ptCount val="96"/>
                <c:pt idx="0">
                  <c:v>44399</c:v>
                </c:pt>
                <c:pt idx="1">
                  <c:v>44400</c:v>
                </c:pt>
                <c:pt idx="2">
                  <c:v>44403</c:v>
                </c:pt>
                <c:pt idx="3">
                  <c:v>44404</c:v>
                </c:pt>
                <c:pt idx="4">
                  <c:v>44405</c:v>
                </c:pt>
                <c:pt idx="5">
                  <c:v>44406</c:v>
                </c:pt>
                <c:pt idx="6">
                  <c:v>44407</c:v>
                </c:pt>
                <c:pt idx="7">
                  <c:v>44410</c:v>
                </c:pt>
                <c:pt idx="8">
                  <c:v>44411</c:v>
                </c:pt>
                <c:pt idx="9">
                  <c:v>44412</c:v>
                </c:pt>
                <c:pt idx="10">
                  <c:v>44413</c:v>
                </c:pt>
                <c:pt idx="11">
                  <c:v>44414</c:v>
                </c:pt>
                <c:pt idx="12">
                  <c:v>44417</c:v>
                </c:pt>
                <c:pt idx="13">
                  <c:v>44418</c:v>
                </c:pt>
                <c:pt idx="14">
                  <c:v>44419</c:v>
                </c:pt>
                <c:pt idx="15">
                  <c:v>44420</c:v>
                </c:pt>
                <c:pt idx="16">
                  <c:v>44421</c:v>
                </c:pt>
                <c:pt idx="17">
                  <c:v>44424</c:v>
                </c:pt>
                <c:pt idx="18">
                  <c:v>44425</c:v>
                </c:pt>
                <c:pt idx="19">
                  <c:v>44426</c:v>
                </c:pt>
                <c:pt idx="20">
                  <c:v>44427</c:v>
                </c:pt>
                <c:pt idx="21">
                  <c:v>44428</c:v>
                </c:pt>
                <c:pt idx="22">
                  <c:v>44431</c:v>
                </c:pt>
                <c:pt idx="23">
                  <c:v>44432</c:v>
                </c:pt>
                <c:pt idx="24">
                  <c:v>44433</c:v>
                </c:pt>
                <c:pt idx="25">
                  <c:v>44434</c:v>
                </c:pt>
                <c:pt idx="26">
                  <c:v>44435</c:v>
                </c:pt>
                <c:pt idx="27">
                  <c:v>44438</c:v>
                </c:pt>
                <c:pt idx="28">
                  <c:v>44439</c:v>
                </c:pt>
                <c:pt idx="29">
                  <c:v>44440</c:v>
                </c:pt>
                <c:pt idx="30">
                  <c:v>44441</c:v>
                </c:pt>
                <c:pt idx="31">
                  <c:v>44442</c:v>
                </c:pt>
                <c:pt idx="32">
                  <c:v>44445</c:v>
                </c:pt>
                <c:pt idx="33">
                  <c:v>44446</c:v>
                </c:pt>
                <c:pt idx="34">
                  <c:v>44447</c:v>
                </c:pt>
                <c:pt idx="35">
                  <c:v>44448</c:v>
                </c:pt>
                <c:pt idx="36">
                  <c:v>44449</c:v>
                </c:pt>
                <c:pt idx="37">
                  <c:v>44452</c:v>
                </c:pt>
                <c:pt idx="38">
                  <c:v>44453</c:v>
                </c:pt>
                <c:pt idx="39">
                  <c:v>44454</c:v>
                </c:pt>
                <c:pt idx="40">
                  <c:v>44455</c:v>
                </c:pt>
                <c:pt idx="41">
                  <c:v>44456</c:v>
                </c:pt>
                <c:pt idx="42">
                  <c:v>44461</c:v>
                </c:pt>
                <c:pt idx="43">
                  <c:v>44462</c:v>
                </c:pt>
                <c:pt idx="44">
                  <c:v>44463</c:v>
                </c:pt>
                <c:pt idx="45">
                  <c:v>44466</c:v>
                </c:pt>
                <c:pt idx="46">
                  <c:v>44467</c:v>
                </c:pt>
                <c:pt idx="47">
                  <c:v>44468</c:v>
                </c:pt>
                <c:pt idx="48">
                  <c:v>44469</c:v>
                </c:pt>
                <c:pt idx="49">
                  <c:v>44477</c:v>
                </c:pt>
                <c:pt idx="50">
                  <c:v>44480</c:v>
                </c:pt>
                <c:pt idx="51">
                  <c:v>44481</c:v>
                </c:pt>
                <c:pt idx="52">
                  <c:v>44482</c:v>
                </c:pt>
                <c:pt idx="53">
                  <c:v>44483</c:v>
                </c:pt>
                <c:pt idx="54">
                  <c:v>44484</c:v>
                </c:pt>
                <c:pt idx="55">
                  <c:v>44487</c:v>
                </c:pt>
                <c:pt idx="56">
                  <c:v>44488</c:v>
                </c:pt>
                <c:pt idx="57">
                  <c:v>44489</c:v>
                </c:pt>
                <c:pt idx="58">
                  <c:v>44490</c:v>
                </c:pt>
                <c:pt idx="59">
                  <c:v>44491</c:v>
                </c:pt>
                <c:pt idx="60">
                  <c:v>44494</c:v>
                </c:pt>
                <c:pt idx="61">
                  <c:v>44495</c:v>
                </c:pt>
                <c:pt idx="62">
                  <c:v>44496</c:v>
                </c:pt>
                <c:pt idx="63">
                  <c:v>44497</c:v>
                </c:pt>
                <c:pt idx="64">
                  <c:v>44498</c:v>
                </c:pt>
                <c:pt idx="65">
                  <c:v>44501</c:v>
                </c:pt>
                <c:pt idx="66">
                  <c:v>44502</c:v>
                </c:pt>
                <c:pt idx="67">
                  <c:v>44503</c:v>
                </c:pt>
                <c:pt idx="68">
                  <c:v>44504</c:v>
                </c:pt>
                <c:pt idx="69">
                  <c:v>44505</c:v>
                </c:pt>
                <c:pt idx="70">
                  <c:v>44508</c:v>
                </c:pt>
                <c:pt idx="71">
                  <c:v>44509</c:v>
                </c:pt>
                <c:pt idx="72">
                  <c:v>44510</c:v>
                </c:pt>
                <c:pt idx="73">
                  <c:v>44511</c:v>
                </c:pt>
                <c:pt idx="74">
                  <c:v>44512</c:v>
                </c:pt>
                <c:pt idx="75">
                  <c:v>44515</c:v>
                </c:pt>
                <c:pt idx="76">
                  <c:v>44516</c:v>
                </c:pt>
                <c:pt idx="77">
                  <c:v>44517</c:v>
                </c:pt>
                <c:pt idx="78">
                  <c:v>44518</c:v>
                </c:pt>
                <c:pt idx="79">
                  <c:v>44519</c:v>
                </c:pt>
                <c:pt idx="80">
                  <c:v>44522</c:v>
                </c:pt>
                <c:pt idx="81">
                  <c:v>44523</c:v>
                </c:pt>
                <c:pt idx="82">
                  <c:v>44524</c:v>
                </c:pt>
                <c:pt idx="83">
                  <c:v>44525</c:v>
                </c:pt>
                <c:pt idx="84">
                  <c:v>44526</c:v>
                </c:pt>
                <c:pt idx="85">
                  <c:v>44529</c:v>
                </c:pt>
                <c:pt idx="86">
                  <c:v>44530</c:v>
                </c:pt>
                <c:pt idx="87">
                  <c:v>44531</c:v>
                </c:pt>
                <c:pt idx="88">
                  <c:v>44532</c:v>
                </c:pt>
                <c:pt idx="89">
                  <c:v>44533</c:v>
                </c:pt>
                <c:pt idx="90">
                  <c:v>44536</c:v>
                </c:pt>
                <c:pt idx="91">
                  <c:v>44537</c:v>
                </c:pt>
                <c:pt idx="92">
                  <c:v>44538</c:v>
                </c:pt>
                <c:pt idx="93">
                  <c:v>44539</c:v>
                </c:pt>
                <c:pt idx="94">
                  <c:v>44540</c:v>
                </c:pt>
                <c:pt idx="95">
                  <c:v>44543</c:v>
                </c:pt>
              </c:numCache>
            </c:numRef>
          </c:xVal>
          <c:yVal>
            <c:numRef>
              <c:f>历史行情!$B$5:$B$100</c:f>
              <c:numCache>
                <c:formatCode>General</c:formatCode>
                <c:ptCount val="96"/>
                <c:pt idx="0">
                  <c:v>5151.7516999999998</c:v>
                </c:pt>
                <c:pt idx="1">
                  <c:v>5089.2281999999996</c:v>
                </c:pt>
                <c:pt idx="2">
                  <c:v>4925.299</c:v>
                </c:pt>
                <c:pt idx="3">
                  <c:v>4751.3130000000001</c:v>
                </c:pt>
                <c:pt idx="4">
                  <c:v>4760.4826000000003</c:v>
                </c:pt>
                <c:pt idx="5">
                  <c:v>4850.2745999999997</c:v>
                </c:pt>
                <c:pt idx="6">
                  <c:v>4811.1695</c:v>
                </c:pt>
                <c:pt idx="7">
                  <c:v>4933.7359999999999</c:v>
                </c:pt>
                <c:pt idx="8">
                  <c:v>4934.4583000000002</c:v>
                </c:pt>
                <c:pt idx="9">
                  <c:v>4978.8478999999998</c:v>
                </c:pt>
                <c:pt idx="10">
                  <c:v>4948.6702999999998</c:v>
                </c:pt>
                <c:pt idx="11">
                  <c:v>4921.5646999999999</c:v>
                </c:pt>
                <c:pt idx="12">
                  <c:v>4985.5627000000004</c:v>
                </c:pt>
                <c:pt idx="13">
                  <c:v>5043.1480000000001</c:v>
                </c:pt>
                <c:pt idx="14">
                  <c:v>5015.3406000000004</c:v>
                </c:pt>
                <c:pt idx="15">
                  <c:v>4973.3509000000004</c:v>
                </c:pt>
                <c:pt idx="16">
                  <c:v>4945.9829</c:v>
                </c:pt>
                <c:pt idx="17">
                  <c:v>4941.0676000000003</c:v>
                </c:pt>
                <c:pt idx="18">
                  <c:v>4837.4034000000001</c:v>
                </c:pt>
                <c:pt idx="19">
                  <c:v>4894.2384000000002</c:v>
                </c:pt>
                <c:pt idx="20">
                  <c:v>4862.1394</c:v>
                </c:pt>
                <c:pt idx="21">
                  <c:v>4769.2677999999996</c:v>
                </c:pt>
                <c:pt idx="22">
                  <c:v>4835.8782000000001</c:v>
                </c:pt>
                <c:pt idx="23">
                  <c:v>4888.3901999999998</c:v>
                </c:pt>
                <c:pt idx="24">
                  <c:v>4898.1571999999996</c:v>
                </c:pt>
                <c:pt idx="25">
                  <c:v>4801.6094000000003</c:v>
                </c:pt>
                <c:pt idx="26">
                  <c:v>4827.0433000000003</c:v>
                </c:pt>
                <c:pt idx="27">
                  <c:v>4813.2703000000001</c:v>
                </c:pt>
                <c:pt idx="28">
                  <c:v>4805.6099000000004</c:v>
                </c:pt>
                <c:pt idx="29">
                  <c:v>4869.4587000000001</c:v>
                </c:pt>
                <c:pt idx="30">
                  <c:v>4869.4112999999998</c:v>
                </c:pt>
                <c:pt idx="31">
                  <c:v>4843.0623999999998</c:v>
                </c:pt>
                <c:pt idx="32">
                  <c:v>4933.7262000000001</c:v>
                </c:pt>
                <c:pt idx="33">
                  <c:v>4992.8293999999996</c:v>
                </c:pt>
                <c:pt idx="34">
                  <c:v>4972.1324000000004</c:v>
                </c:pt>
                <c:pt idx="35">
                  <c:v>4970.0132999999996</c:v>
                </c:pt>
                <c:pt idx="36">
                  <c:v>5013.5218999999997</c:v>
                </c:pt>
                <c:pt idx="37">
                  <c:v>4991.6598000000004</c:v>
                </c:pt>
                <c:pt idx="38">
                  <c:v>4917.1616999999997</c:v>
                </c:pt>
                <c:pt idx="39">
                  <c:v>4867.3186999999998</c:v>
                </c:pt>
                <c:pt idx="40">
                  <c:v>4807.6977999999999</c:v>
                </c:pt>
                <c:pt idx="41">
                  <c:v>4855.9402</c:v>
                </c:pt>
                <c:pt idx="42">
                  <c:v>4821.7674999999999</c:v>
                </c:pt>
                <c:pt idx="43">
                  <c:v>4853.1957000000002</c:v>
                </c:pt>
                <c:pt idx="44">
                  <c:v>4849.4277000000002</c:v>
                </c:pt>
                <c:pt idx="45">
                  <c:v>4877.3698000000004</c:v>
                </c:pt>
                <c:pt idx="46">
                  <c:v>4883.8280000000004</c:v>
                </c:pt>
                <c:pt idx="47">
                  <c:v>4833.9281000000001</c:v>
                </c:pt>
                <c:pt idx="48">
                  <c:v>4866.3825999999999</c:v>
                </c:pt>
                <c:pt idx="49">
                  <c:v>4929.9408999999996</c:v>
                </c:pt>
                <c:pt idx="50">
                  <c:v>4936.1917999999996</c:v>
                </c:pt>
                <c:pt idx="51">
                  <c:v>4883.8369000000002</c:v>
                </c:pt>
                <c:pt idx="52">
                  <c:v>4940.1089000000002</c:v>
                </c:pt>
                <c:pt idx="53">
                  <c:v>4913.6122999999998</c:v>
                </c:pt>
                <c:pt idx="54">
                  <c:v>4932.1084000000001</c:v>
                </c:pt>
                <c:pt idx="55">
                  <c:v>4874.7753000000002</c:v>
                </c:pt>
                <c:pt idx="56">
                  <c:v>4922.7232000000004</c:v>
                </c:pt>
                <c:pt idx="57">
                  <c:v>4910.1845999999996</c:v>
                </c:pt>
                <c:pt idx="58">
                  <c:v>4928.0155999999997</c:v>
                </c:pt>
                <c:pt idx="59">
                  <c:v>4959.7254000000003</c:v>
                </c:pt>
                <c:pt idx="60">
                  <c:v>4979.5235000000002</c:v>
                </c:pt>
                <c:pt idx="61">
                  <c:v>4963.0983999999999</c:v>
                </c:pt>
                <c:pt idx="62">
                  <c:v>4898.1643999999997</c:v>
                </c:pt>
                <c:pt idx="63">
                  <c:v>4864.1379999999999</c:v>
                </c:pt>
                <c:pt idx="64">
                  <c:v>4908.7700999999997</c:v>
                </c:pt>
                <c:pt idx="65">
                  <c:v>4890.6850999999997</c:v>
                </c:pt>
                <c:pt idx="66">
                  <c:v>4839.8456999999999</c:v>
                </c:pt>
                <c:pt idx="67">
                  <c:v>4821.1118999999999</c:v>
                </c:pt>
                <c:pt idx="68">
                  <c:v>4868.7419</c:v>
                </c:pt>
                <c:pt idx="69">
                  <c:v>4842.3458000000001</c:v>
                </c:pt>
                <c:pt idx="70">
                  <c:v>4848.1795000000002</c:v>
                </c:pt>
                <c:pt idx="71">
                  <c:v>4846.7443999999996</c:v>
                </c:pt>
                <c:pt idx="72">
                  <c:v>4821.1925000000001</c:v>
                </c:pt>
                <c:pt idx="73">
                  <c:v>4898.6529</c:v>
                </c:pt>
                <c:pt idx="74">
                  <c:v>4888.3748999999998</c:v>
                </c:pt>
                <c:pt idx="75">
                  <c:v>4882.3777</c:v>
                </c:pt>
                <c:pt idx="76">
                  <c:v>4883.3206</c:v>
                </c:pt>
                <c:pt idx="77">
                  <c:v>4885.7543999999998</c:v>
                </c:pt>
                <c:pt idx="78">
                  <c:v>4837.6184999999996</c:v>
                </c:pt>
                <c:pt idx="79">
                  <c:v>4890.0574999999999</c:v>
                </c:pt>
                <c:pt idx="80">
                  <c:v>4912.3990000000003</c:v>
                </c:pt>
                <c:pt idx="81">
                  <c:v>4913.3456999999999</c:v>
                </c:pt>
                <c:pt idx="82">
                  <c:v>4916.6579000000002</c:v>
                </c:pt>
                <c:pt idx="83">
                  <c:v>4896.4416000000001</c:v>
                </c:pt>
                <c:pt idx="84">
                  <c:v>4860.1265000000003</c:v>
                </c:pt>
                <c:pt idx="85">
                  <c:v>4851.4229999999998</c:v>
                </c:pt>
                <c:pt idx="86">
                  <c:v>4832.0259999999998</c:v>
                </c:pt>
                <c:pt idx="87">
                  <c:v>4843.8509999999997</c:v>
                </c:pt>
                <c:pt idx="88">
                  <c:v>4856.1629999999996</c:v>
                </c:pt>
                <c:pt idx="89">
                  <c:v>4901.0174999999999</c:v>
                </c:pt>
                <c:pt idx="90">
                  <c:v>4892.6208999999999</c:v>
                </c:pt>
                <c:pt idx="91">
                  <c:v>4922.1014999999998</c:v>
                </c:pt>
                <c:pt idx="92">
                  <c:v>4995.9297999999999</c:v>
                </c:pt>
                <c:pt idx="93">
                  <c:v>5078.6900999999998</c:v>
                </c:pt>
                <c:pt idx="94">
                  <c:v>5055.1171999999997</c:v>
                </c:pt>
                <c:pt idx="95">
                  <c:v>5083.8006999999998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1EC-4C18-9350-977BDF637D39}"/>
            </c:ext>
          </c:extLst>
        </c:ser>
        <c:ser>
          <c:idx val="1"/>
          <c:order val="1"/>
          <c:tx>
            <c:strRef>
              <c:f>历史行情!$G$4</c:f>
              <c:strCache>
                <c:ptCount val="1"/>
                <c:pt idx="0">
                  <c:v>含名义本金</c:v>
                </c:pt>
              </c:strCache>
            </c:strRef>
          </c:tx>
          <c:spPr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历史行情!$A$5:$A$100</c:f>
              <c:numCache>
                <c:formatCode>yyyy\-mm\-dd</c:formatCode>
                <c:ptCount val="96"/>
                <c:pt idx="0">
                  <c:v>44399</c:v>
                </c:pt>
                <c:pt idx="1">
                  <c:v>44400</c:v>
                </c:pt>
                <c:pt idx="2">
                  <c:v>44403</c:v>
                </c:pt>
                <c:pt idx="3">
                  <c:v>44404</c:v>
                </c:pt>
                <c:pt idx="4">
                  <c:v>44405</c:v>
                </c:pt>
                <c:pt idx="5">
                  <c:v>44406</c:v>
                </c:pt>
                <c:pt idx="6">
                  <c:v>44407</c:v>
                </c:pt>
                <c:pt idx="7">
                  <c:v>44410</c:v>
                </c:pt>
                <c:pt idx="8">
                  <c:v>44411</c:v>
                </c:pt>
                <c:pt idx="9">
                  <c:v>44412</c:v>
                </c:pt>
                <c:pt idx="10">
                  <c:v>44413</c:v>
                </c:pt>
                <c:pt idx="11">
                  <c:v>44414</c:v>
                </c:pt>
                <c:pt idx="12">
                  <c:v>44417</c:v>
                </c:pt>
                <c:pt idx="13">
                  <c:v>44418</c:v>
                </c:pt>
                <c:pt idx="14">
                  <c:v>44419</c:v>
                </c:pt>
                <c:pt idx="15">
                  <c:v>44420</c:v>
                </c:pt>
                <c:pt idx="16">
                  <c:v>44421</c:v>
                </c:pt>
                <c:pt idx="17">
                  <c:v>44424</c:v>
                </c:pt>
                <c:pt idx="18">
                  <c:v>44425</c:v>
                </c:pt>
                <c:pt idx="19">
                  <c:v>44426</c:v>
                </c:pt>
                <c:pt idx="20">
                  <c:v>44427</c:v>
                </c:pt>
                <c:pt idx="21">
                  <c:v>44428</c:v>
                </c:pt>
                <c:pt idx="22">
                  <c:v>44431</c:v>
                </c:pt>
                <c:pt idx="23">
                  <c:v>44432</c:v>
                </c:pt>
                <c:pt idx="24">
                  <c:v>44433</c:v>
                </c:pt>
                <c:pt idx="25">
                  <c:v>44434</c:v>
                </c:pt>
                <c:pt idx="26">
                  <c:v>44435</c:v>
                </c:pt>
                <c:pt idx="27">
                  <c:v>44438</c:v>
                </c:pt>
                <c:pt idx="28">
                  <c:v>44439</c:v>
                </c:pt>
                <c:pt idx="29">
                  <c:v>44440</c:v>
                </c:pt>
                <c:pt idx="30">
                  <c:v>44441</c:v>
                </c:pt>
                <c:pt idx="31">
                  <c:v>44442</c:v>
                </c:pt>
                <c:pt idx="32">
                  <c:v>44445</c:v>
                </c:pt>
                <c:pt idx="33">
                  <c:v>44446</c:v>
                </c:pt>
                <c:pt idx="34">
                  <c:v>44447</c:v>
                </c:pt>
                <c:pt idx="35">
                  <c:v>44448</c:v>
                </c:pt>
                <c:pt idx="36">
                  <c:v>44449</c:v>
                </c:pt>
                <c:pt idx="37">
                  <c:v>44452</c:v>
                </c:pt>
                <c:pt idx="38">
                  <c:v>44453</c:v>
                </c:pt>
                <c:pt idx="39">
                  <c:v>44454</c:v>
                </c:pt>
                <c:pt idx="40">
                  <c:v>44455</c:v>
                </c:pt>
                <c:pt idx="41">
                  <c:v>44456</c:v>
                </c:pt>
                <c:pt idx="42">
                  <c:v>44461</c:v>
                </c:pt>
                <c:pt idx="43">
                  <c:v>44462</c:v>
                </c:pt>
                <c:pt idx="44">
                  <c:v>44463</c:v>
                </c:pt>
                <c:pt idx="45">
                  <c:v>44466</c:v>
                </c:pt>
                <c:pt idx="46">
                  <c:v>44467</c:v>
                </c:pt>
                <c:pt idx="47">
                  <c:v>44468</c:v>
                </c:pt>
                <c:pt idx="48">
                  <c:v>44469</c:v>
                </c:pt>
                <c:pt idx="49">
                  <c:v>44477</c:v>
                </c:pt>
                <c:pt idx="50">
                  <c:v>44480</c:v>
                </c:pt>
                <c:pt idx="51">
                  <c:v>44481</c:v>
                </c:pt>
                <c:pt idx="52">
                  <c:v>44482</c:v>
                </c:pt>
                <c:pt idx="53">
                  <c:v>44483</c:v>
                </c:pt>
                <c:pt idx="54">
                  <c:v>44484</c:v>
                </c:pt>
                <c:pt idx="55">
                  <c:v>44487</c:v>
                </c:pt>
                <c:pt idx="56">
                  <c:v>44488</c:v>
                </c:pt>
                <c:pt idx="57">
                  <c:v>44489</c:v>
                </c:pt>
                <c:pt idx="58">
                  <c:v>44490</c:v>
                </c:pt>
                <c:pt idx="59">
                  <c:v>44491</c:v>
                </c:pt>
                <c:pt idx="60">
                  <c:v>44494</c:v>
                </c:pt>
                <c:pt idx="61">
                  <c:v>44495</c:v>
                </c:pt>
                <c:pt idx="62">
                  <c:v>44496</c:v>
                </c:pt>
                <c:pt idx="63">
                  <c:v>44497</c:v>
                </c:pt>
                <c:pt idx="64">
                  <c:v>44498</c:v>
                </c:pt>
                <c:pt idx="65">
                  <c:v>44501</c:v>
                </c:pt>
                <c:pt idx="66">
                  <c:v>44502</c:v>
                </c:pt>
                <c:pt idx="67">
                  <c:v>44503</c:v>
                </c:pt>
                <c:pt idx="68">
                  <c:v>44504</c:v>
                </c:pt>
                <c:pt idx="69">
                  <c:v>44505</c:v>
                </c:pt>
                <c:pt idx="70">
                  <c:v>44508</c:v>
                </c:pt>
                <c:pt idx="71">
                  <c:v>44509</c:v>
                </c:pt>
                <c:pt idx="72">
                  <c:v>44510</c:v>
                </c:pt>
                <c:pt idx="73">
                  <c:v>44511</c:v>
                </c:pt>
                <c:pt idx="74">
                  <c:v>44512</c:v>
                </c:pt>
                <c:pt idx="75">
                  <c:v>44515</c:v>
                </c:pt>
                <c:pt idx="76">
                  <c:v>44516</c:v>
                </c:pt>
                <c:pt idx="77">
                  <c:v>44517</c:v>
                </c:pt>
                <c:pt idx="78">
                  <c:v>44518</c:v>
                </c:pt>
                <c:pt idx="79">
                  <c:v>44519</c:v>
                </c:pt>
                <c:pt idx="80">
                  <c:v>44522</c:v>
                </c:pt>
                <c:pt idx="81">
                  <c:v>44523</c:v>
                </c:pt>
                <c:pt idx="82">
                  <c:v>44524</c:v>
                </c:pt>
                <c:pt idx="83">
                  <c:v>44525</c:v>
                </c:pt>
                <c:pt idx="84">
                  <c:v>44526</c:v>
                </c:pt>
                <c:pt idx="85">
                  <c:v>44529</c:v>
                </c:pt>
                <c:pt idx="86">
                  <c:v>44530</c:v>
                </c:pt>
                <c:pt idx="87">
                  <c:v>44531</c:v>
                </c:pt>
                <c:pt idx="88">
                  <c:v>44532</c:v>
                </c:pt>
                <c:pt idx="89">
                  <c:v>44533</c:v>
                </c:pt>
                <c:pt idx="90">
                  <c:v>44536</c:v>
                </c:pt>
                <c:pt idx="91">
                  <c:v>44537</c:v>
                </c:pt>
                <c:pt idx="92">
                  <c:v>44538</c:v>
                </c:pt>
                <c:pt idx="93">
                  <c:v>44539</c:v>
                </c:pt>
                <c:pt idx="94">
                  <c:v>44540</c:v>
                </c:pt>
                <c:pt idx="95">
                  <c:v>44543</c:v>
                </c:pt>
              </c:numCache>
            </c:numRef>
          </c:xVal>
          <c:yVal>
            <c:numRef>
              <c:f>历史行情!$G$5:$G$100</c:f>
              <c:numCache>
                <c:formatCode>General</c:formatCode>
                <c:ptCount val="96"/>
                <c:pt idx="0">
                  <c:v>5151.7516999999998</c:v>
                </c:pt>
                <c:pt idx="1">
                  <c:v>5132.3424630982954</c:v>
                </c:pt>
                <c:pt idx="2">
                  <c:v>5077.0253686134429</c:v>
                </c:pt>
                <c:pt idx="3">
                  <c:v>5004.3330607578555</c:v>
                </c:pt>
                <c:pt idx="4">
                  <c:v>5009.0270716147397</c:v>
                </c:pt>
                <c:pt idx="5">
                  <c:v>5054.6424090050059</c:v>
                </c:pt>
                <c:pt idx="6">
                  <c:v>5036.695997932562</c:v>
                </c:pt>
                <c:pt idx="7">
                  <c:v>5095.746742624975</c:v>
                </c:pt>
                <c:pt idx="8">
                  <c:v>5096.0453042640975</c:v>
                </c:pt>
                <c:pt idx="9">
                  <c:v>5114.3845328386924</c:v>
                </c:pt>
                <c:pt idx="10">
                  <c:v>5102.6740233262599</c:v>
                </c:pt>
                <c:pt idx="11">
                  <c:v>5091.6802430426605</c:v>
                </c:pt>
                <c:pt idx="12">
                  <c:v>5118.7101198532218</c:v>
                </c:pt>
                <c:pt idx="13">
                  <c:v>5140.8437378775634</c:v>
                </c:pt>
                <c:pt idx="14">
                  <c:v>5131.1244863451093</c:v>
                </c:pt>
                <c:pt idx="15">
                  <c:v>5115.7256815064075</c:v>
                </c:pt>
                <c:pt idx="16">
                  <c:v>5104.9214526853566</c:v>
                </c:pt>
                <c:pt idx="17">
                  <c:v>5102.8804340171537</c:v>
                </c:pt>
                <c:pt idx="18">
                  <c:v>5059.1319851667358</c:v>
                </c:pt>
                <c:pt idx="19">
                  <c:v>5087.4508497314519</c:v>
                </c:pt>
                <c:pt idx="20">
                  <c:v>5072.4749744441051</c:v>
                </c:pt>
                <c:pt idx="21">
                  <c:v>5026.3055029444922</c:v>
                </c:pt>
                <c:pt idx="22">
                  <c:v>5063.636679000394</c:v>
                </c:pt>
                <c:pt idx="23">
                  <c:v>5091.2537406952388</c:v>
                </c:pt>
                <c:pt idx="24">
                  <c:v>5096.0843114621039</c:v>
                </c:pt>
                <c:pt idx="25">
                  <c:v>5048.7792366883459</c:v>
                </c:pt>
                <c:pt idx="26">
                  <c:v>5062.700743498177</c:v>
                </c:pt>
                <c:pt idx="27">
                  <c:v>5055.3435811922145</c:v>
                </c:pt>
                <c:pt idx="28">
                  <c:v>5051.1735391977682</c:v>
                </c:pt>
                <c:pt idx="29">
                  <c:v>5086.3699364850399</c:v>
                </c:pt>
                <c:pt idx="30">
                  <c:v>5086.3455597143984</c:v>
                </c:pt>
                <c:pt idx="31">
                  <c:v>5072.7361720170056</c:v>
                </c:pt>
                <c:pt idx="32">
                  <c:v>5121.3186884988509</c:v>
                </c:pt>
                <c:pt idx="33">
                  <c:v>5149.6926478100449</c:v>
                </c:pt>
                <c:pt idx="34">
                  <c:v>5140.516358923187</c:v>
                </c:pt>
                <c:pt idx="35">
                  <c:v>5139.5423262383811</c:v>
                </c:pt>
                <c:pt idx="36">
                  <c:v>5159.7433622911603</c:v>
                </c:pt>
                <c:pt idx="37">
                  <c:v>5150.1887702375234</c:v>
                </c:pt>
                <c:pt idx="38">
                  <c:v>5116.0943997745644</c:v>
                </c:pt>
                <c:pt idx="39">
                  <c:v>5090.2001934897671</c:v>
                </c:pt>
                <c:pt idx="40">
                  <c:v>5056.5884254399143</c:v>
                </c:pt>
                <c:pt idx="41">
                  <c:v>5086.0372303273471</c:v>
                </c:pt>
                <c:pt idx="42">
                  <c:v>5065.8554454518926</c:v>
                </c:pt>
                <c:pt idx="43">
                  <c:v>5084.9355176559056</c:v>
                </c:pt>
                <c:pt idx="44">
                  <c:v>5082.7293126747027</c:v>
                </c:pt>
                <c:pt idx="45">
                  <c:v>5099.230093534874</c:v>
                </c:pt>
                <c:pt idx="46">
                  <c:v>5102.9534163359367</c:v>
                </c:pt>
                <c:pt idx="47">
                  <c:v>5074.2263701329239</c:v>
                </c:pt>
                <c:pt idx="48">
                  <c:v>5094.0315034387859</c:v>
                </c:pt>
                <c:pt idx="49">
                  <c:v>5131.7897859694494</c:v>
                </c:pt>
                <c:pt idx="50">
                  <c:v>5135.275004719394</c:v>
                </c:pt>
                <c:pt idx="51">
                  <c:v>5106.0582699731276</c:v>
                </c:pt>
                <c:pt idx="52">
                  <c:v>5139.7103889847631</c:v>
                </c:pt>
                <c:pt idx="53">
                  <c:v>5124.6864390916471</c:v>
                </c:pt>
                <c:pt idx="54">
                  <c:v>5135.6450538013914</c:v>
                </c:pt>
                <c:pt idx="55">
                  <c:v>5101.8725629108703</c:v>
                </c:pt>
                <c:pt idx="56">
                  <c:v>5132.3935675815192</c:v>
                </c:pt>
                <c:pt idx="57">
                  <c:v>5124.6237816897983</c:v>
                </c:pt>
                <c:pt idx="58">
                  <c:v>5136.0725559039938</c:v>
                </c:pt>
                <c:pt idx="59">
                  <c:v>5156.6884566532926</c:v>
                </c:pt>
                <c:pt idx="60">
                  <c:v>5169.6492423279542</c:v>
                </c:pt>
                <c:pt idx="61">
                  <c:v>5160.4042921811651</c:v>
                </c:pt>
                <c:pt idx="62">
                  <c:v>5123.0997723382825</c:v>
                </c:pt>
                <c:pt idx="63">
                  <c:v>5102.1360110028718</c:v>
                </c:pt>
                <c:pt idx="64">
                  <c:v>5130.6909761129173</c:v>
                </c:pt>
                <c:pt idx="65">
                  <c:v>5119.5616849548242</c:v>
                </c:pt>
                <c:pt idx="66">
                  <c:v>5087.5310547214885</c:v>
                </c:pt>
                <c:pt idx="67">
                  <c:v>5075.0581019165329</c:v>
                </c:pt>
                <c:pt idx="68">
                  <c:v>5107.5383818681003</c:v>
                </c:pt>
                <c:pt idx="69">
                  <c:v>5090.2082777880942</c:v>
                </c:pt>
                <c:pt idx="70">
                  <c:v>5094.167304077223</c:v>
                </c:pt>
                <c:pt idx="71">
                  <c:v>5093.1904342278795</c:v>
                </c:pt>
                <c:pt idx="72">
                  <c:v>5075.6099590442091</c:v>
                </c:pt>
                <c:pt idx="73">
                  <c:v>5130.7026034094479</c:v>
                </c:pt>
                <c:pt idx="74">
                  <c:v>5123.8194692618144</c:v>
                </c:pt>
                <c:pt idx="75">
                  <c:v>5119.7063556769754</c:v>
                </c:pt>
                <c:pt idx="76">
                  <c:v>5120.3667558920815</c:v>
                </c:pt>
                <c:pt idx="77">
                  <c:v>5122.0996549246292</c:v>
                </c:pt>
                <c:pt idx="78">
                  <c:v>5087.2356978847938</c:v>
                </c:pt>
                <c:pt idx="79">
                  <c:v>5126.8301627285691</c:v>
                </c:pt>
                <c:pt idx="80">
                  <c:v>5143.4926408923411</c:v>
                </c:pt>
                <c:pt idx="81">
                  <c:v>5144.1826451488414</c:v>
                </c:pt>
                <c:pt idx="82">
                  <c:v>5146.3558722281514</c:v>
                </c:pt>
                <c:pt idx="83">
                  <c:v>5133.0795104842391</c:v>
                </c:pt>
                <c:pt idx="84">
                  <c:v>5108.6575992911603</c:v>
                </c:pt>
                <c:pt idx="85">
                  <c:v>5102.5729026552108</c:v>
                </c:pt>
                <c:pt idx="86">
                  <c:v>5088.8301535747451</c:v>
                </c:pt>
                <c:pt idx="87">
                  <c:v>5097.4060003423101</c:v>
                </c:pt>
                <c:pt idx="88">
                  <c:v>5106.2956524839119</c:v>
                </c:pt>
                <c:pt idx="89">
                  <c:v>5138.5325774074499</c:v>
                </c:pt>
                <c:pt idx="90">
                  <c:v>5132.7099951028385</c:v>
                </c:pt>
                <c:pt idx="91">
                  <c:v>5153.4832880814556</c:v>
                </c:pt>
                <c:pt idx="92">
                  <c:v>5204.4265278902894</c:v>
                </c:pt>
                <c:pt idx="93">
                  <c:v>5257.6065011177916</c:v>
                </c:pt>
                <c:pt idx="94">
                  <c:v>5243.8178003010216</c:v>
                </c:pt>
                <c:pt idx="95">
                  <c:v>5261.3257739932433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1EC-4C18-9350-977BDF637D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684128"/>
        <c:axId val="155695168"/>
      </c:scatterChart>
      <c:valAx>
        <c:axId val="155684128"/>
        <c:scaling>
          <c:orientation val="minMax"/>
        </c:scaling>
        <c:delete val="1"/>
        <c:axPos val="b"/>
        <c:numFmt formatCode="yyyy\-mm\-dd" sourceLinked="1"/>
        <c:majorTickMark val="none"/>
        <c:minorTickMark val="none"/>
        <c:tickLblPos val="nextTo"/>
        <c:crossAx val="155695168"/>
        <c:crosses val="autoZero"/>
        <c:crossBetween val="midCat"/>
      </c:valAx>
      <c:valAx>
        <c:axId val="155695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56841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7T03:20: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24575,'6'0'0,"0"1"0,0-1 0,1 1 0,-1 0 0,0-1 0,0 2 0,9 1 0,6 1 0,543 90-884,-150-27-198,-29 0 143,55 13-1274,1416 301 1526,-1494-292 435,-67-10-756,-141-31 806,-3 2-1,243 108 1,79 66 7413,-462-219-7186,-1-1-1,1 0 0,1 0 0,0 0 1,0-1-1,0 0 0,1 0 1,-1 0-1,1-1 0,1 0 1,19 2-1,15-1 60,92 2 1,-130-4-85,454-10 116,2-20-580,-423 27 348,317-24-1739,1425-114-1731,-1378 104 3586,-54 1-216,-60 2-648,278-53 1044,-205 14 4671,54-13-2897,-384 79-1954,379-69 0,-329 56 0,1-1 0,130-43 0,-210 61 0,1-1 0,0 1 0,0 0 0,1 1 0,-1-1 0,1 1 0,0 0 0,-1 0 0,15-1 0,4 1 0,49 3 0,-31-1 0,154 0 0,65 1 0,-191 1 0,0 2 0,-1 2 0,81 12 0,207 41 0,-324-53 0,60 10 0,294 60 0,-349-66 0,50 17 0,23 7 0,-26-15 0,125 22 0,101 7 0,-188-30 0,54 5 0,2-3 0,2-4 0,336 9 0,197-23 0,-711-2 0,-1-1 0,1-1 0,-1 1 0,0 0 0,1-1 0,-1 1 0,0-1 0,1 0 0,-1 0 0,0 0 0,0 0 0,0 0 0,-1 0 0,1-1 0,-1 1 0,1-1 0,3-1 0,72-36 0,79-35 0,-125 61 0,1-1 0,77-21 0,217-40-210,8 11-244,-154 31 199,-114 20 174,306-60-67,-6-12 193,-332 75 53,-26 6 20,0 1-1,1 0 0,0 1 1,0-1-1,0 1 0,18-2 0,90-11 110,-82 9-241,1 1-1,51-3 1,20 5 14,159 4 0,-260 0 0,1 0 0,0 0 0,-1 1 0,1 0 0,-1-1 0,0 2 0,0-1 0,-1 0 0,15 6 0,11 3 0,297 73 0,10-9 0,-304-68 0,450 86 0,-355-69 0,123 24 0,91 16 0,-254-47 0,106 15 0,-178-30 0,0-1 0,-1 0 0,1-1 0,30-1 0,-7 1 0,-18-1 17,0 0 0,0-1 0,0 0-1,0-1 1,-1 0 0,0-1 0,23-5 0,155-44-482,-172 44 249,345-109-5932,-296 89 6118,-3-2 0,104-53 0,-167 77 211,0 0 0,14-13 0,-7 4 5322,-14 11-5369,1 0 1,1 1-1,0-1 0,0 1 1,12-4-1,11-7-202,11-5 68,-31 15 0,0 1 0,-1-2 0,0 1 0,-1 0 0,0 0 0,11-11 0,2-3-1365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09BD7-A405-45F5-8F17-ABF1C2D6C62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A0E9D-C5AD-42C3-A507-4994859ED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656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9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92D02-CF9B-A717-DDDA-5CDE9B811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743E69-24A4-3176-96AD-6D8B42211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7B91C-6B74-14B0-2103-9E0A327E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C27C4-0C88-6FED-43D5-98382570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F9C6F2-8FFE-88F1-FD9A-F2EBA923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72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AB60C-BF6F-2AD7-5706-8A21B6A1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48E24-4A19-125C-C381-CDBB0490B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258646-DD28-AF7D-B972-F87EEECD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ED1EBF-413B-C4A3-0EE6-2DF5C26D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9284EC-B763-3C58-4D12-8394CC17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72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D9D857-3C0B-03F4-573F-9F10E6D9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930576-9C58-B54E-5ADE-59D8DD5C8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68BD1A-FC54-5629-8D97-F30DE61D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B1BA0B-A853-5682-4B20-C4894BD4C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64FB3E-BC45-F163-1160-87A9FC9D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215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F6D74-56B8-960B-A653-3A24E66C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D8173F-E029-60FF-8DFD-8EA425AC4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9C58FB-6B2E-9715-18FC-CE430C6E9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2D0068-5BCC-F53B-3F7C-C080B2E6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CFE42D-D3C0-80BA-5B47-E2CCDB7E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D17F76-BDB3-4B80-A7DC-F1173AB0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82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C3237-05C5-19B4-77B0-E73A1B1D1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4A01FA-3B22-324C-D347-97501C223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01CB65-783D-123C-9BB0-5E843F525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FF6216-E8D1-46A3-D907-C2016980A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9AB9E6-092F-32CB-F446-7FD4B776D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9B84F6-71C5-FBAB-7BD2-83411867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5341EE-D181-0891-3C7E-314BB596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9386DD-67DF-3A12-CBF4-82E3099B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471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C914E-5C34-035F-8654-19D60DF64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60AA77-6261-F233-83E2-05C7D7F83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B0C0B5-B884-E5F8-24CE-F96F29A1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2FBFA4-068E-EC3D-E99D-2F49B521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33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623307-4362-702D-BB32-135ED595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2CAA76-1D83-03E8-1C33-660F607A1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A67B88-9364-86D3-DC2B-019FB4F4F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43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17D83-4CA8-0222-5F0A-D8CEF77EC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E7EEE1-E3AA-A394-DC80-B6588BD6E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A5C844-7C15-E980-4D1C-A7E9637EA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F5C41B-6177-508C-0D62-B60B2FD7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4F1AC0-EFD5-FD0B-7490-6DD603A9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C6B912-BC08-2159-83CB-87D65595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498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5A5360-5F9D-994E-F985-EF3382C08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74A5B9-F36E-A405-B17F-D0EF25ED4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B6C341-BC6C-081B-FFC1-D1114670C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F5BF50-923E-318D-07F8-E7A44765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DE52DC-3D53-FC83-2351-6FF9A1D0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DC6586-3086-9070-D77E-36692B54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365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84D3E-E162-7A36-4E12-25C452DC1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CE8F18-180A-323C-FA2E-8DB1352E6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6B16B-DC58-C3AA-0E88-7A0C9AE7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E8648A-54C0-8EE0-FB22-DBBB631A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4705A3-6837-EB8A-3D23-343FAB25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18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CBD65C-DD8C-1C59-8AF0-97FB6DB90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4A8DA6-A416-38BC-C53F-36E9455AD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415B1-13EB-757D-4226-0CCE2958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7817E0-5230-9973-9765-AD6A0D1A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AAD25E-698F-B733-7C66-250DDA1A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247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1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2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4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6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8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9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0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  <p:extLst>
      <p:ext uri="{BB962C8B-B14F-4D97-AF65-F5344CB8AC3E}">
        <p14:creationId xmlns:p14="http://schemas.microsoft.com/office/powerpoint/2010/main" val="2570913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0042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1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1282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3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231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5765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1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48415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6323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7481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54996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58421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>
            <p:custDataLst>
              <p:tags r:id="rId1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4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5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6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7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>
            <p:custDataLst>
              <p:tags r:id="rId8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>
            <p:custDataLst>
              <p:tags r:id="rId9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>
            <p:custDataLst>
              <p:tags r:id="rId10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1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  <p:extLst>
      <p:ext uri="{BB962C8B-B14F-4D97-AF65-F5344CB8AC3E}">
        <p14:creationId xmlns:p14="http://schemas.microsoft.com/office/powerpoint/2010/main" val="1610243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25400" y="0"/>
            <a:ext cx="205359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36" y="364557"/>
            <a:ext cx="1526717" cy="299206"/>
          </a:xfrm>
          <a:prstGeom prst="rect">
            <a:avLst/>
          </a:prstGeom>
        </p:spPr>
      </p:pic>
      <p:sp>
        <p:nvSpPr>
          <p:cNvPr id="9" name="矩形: 剪去对角 8"/>
          <p:cNvSpPr/>
          <p:nvPr userDrawn="1"/>
        </p:nvSpPr>
        <p:spPr>
          <a:xfrm>
            <a:off x="2311999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97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3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A5C069-E42A-6626-2EB1-A6BCB2A2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3CD422-C6F5-DD0A-280A-EB81A8CBA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0BAD21-81D2-8FED-E15F-DD1B8BC338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D4C7A9-114C-457C-AE1C-19B92C123E35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1411D-01F0-0D78-1706-77E3DBAD5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055E38-78DA-7A5F-5110-E46132F16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8246C-B640-49C3-AF83-437324223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56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  <p:extLst>
      <p:ext uri="{BB962C8B-B14F-4D97-AF65-F5344CB8AC3E}">
        <p14:creationId xmlns:p14="http://schemas.microsoft.com/office/powerpoint/2010/main" val="87906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1.png"/><Relationship Id="rId5" Type="http://schemas.openxmlformats.org/officeDocument/2006/relationships/tags" Target="../tags/tag95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2" Type="http://schemas.openxmlformats.org/officeDocument/2006/relationships/tags" Target="../tags/tag104.xml"/><Relationship Id="rId16" Type="http://schemas.openxmlformats.org/officeDocument/2006/relationships/image" Target="../media/image1.png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112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png"/><Relationship Id="rId5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4" Type="http://schemas.openxmlformats.org/officeDocument/2006/relationships/notesSlide" Target="../notesSlides/notes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18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CDB56FC-9F45-5833-1650-4574D99F3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532" y="640080"/>
            <a:ext cx="4052731" cy="3566160"/>
          </a:xfrm>
        </p:spPr>
        <p:txBody>
          <a:bodyPr anchor="b">
            <a:normAutofit/>
          </a:bodyPr>
          <a:lstStyle/>
          <a:p>
            <a:pPr algn="l"/>
            <a:r>
              <a:rPr lang="zh-CN" altLang="en-US" sz="5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波动生息与雪球结构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256FF0-1016-05FB-FEA8-AC12936BB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3831" y="4636008"/>
            <a:ext cx="4198634" cy="1572768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国元证券创新金融部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/>
            <a:r>
              <a:rPr lang="en-US" altLang="zh-CN" dirty="0"/>
              <a:t>2024.07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515B5-AEC5-8EC0-CDD8-62F46FA5BA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8" r="-1" b="-1"/>
          <a:stretch/>
        </p:blipFill>
        <p:spPr>
          <a:xfrm>
            <a:off x="866691" y="1216968"/>
            <a:ext cx="5416261" cy="4424065"/>
          </a:xfrm>
          <a:custGeom>
            <a:avLst/>
            <a:gdLst/>
            <a:ahLst/>
            <a:cxnLst/>
            <a:rect l="l" t="t" r="r" b="b"/>
            <a:pathLst>
              <a:path w="5531320" h="4424065">
                <a:moveTo>
                  <a:pt x="4292328" y="3931444"/>
                </a:moveTo>
                <a:cubicBezTo>
                  <a:pt x="3830135" y="4131325"/>
                  <a:pt x="3346708" y="4259111"/>
                  <a:pt x="2855653" y="4364392"/>
                </a:cubicBezTo>
                <a:lnTo>
                  <a:pt x="2855525" y="4364392"/>
                </a:lnTo>
                <a:cubicBezTo>
                  <a:pt x="3386634" y="4394018"/>
                  <a:pt x="3853531" y="4210158"/>
                  <a:pt x="4292328" y="3931444"/>
                </a:cubicBezTo>
                <a:close/>
                <a:moveTo>
                  <a:pt x="4302118" y="3923561"/>
                </a:moveTo>
                <a:lnTo>
                  <a:pt x="4301102" y="3924959"/>
                </a:lnTo>
                <a:lnTo>
                  <a:pt x="4302881" y="3924959"/>
                </a:lnTo>
                <a:close/>
                <a:moveTo>
                  <a:pt x="3885572" y="334733"/>
                </a:moveTo>
                <a:cubicBezTo>
                  <a:pt x="4046889" y="406840"/>
                  <a:pt x="4203653" y="488713"/>
                  <a:pt x="4355013" y="579880"/>
                </a:cubicBezTo>
                <a:cubicBezTo>
                  <a:pt x="4662082" y="768063"/>
                  <a:pt x="4933803" y="995790"/>
                  <a:pt x="5144619" y="1290779"/>
                </a:cubicBezTo>
                <a:cubicBezTo>
                  <a:pt x="5314365" y="1528042"/>
                  <a:pt x="5426258" y="1789591"/>
                  <a:pt x="5468598" y="2088522"/>
                </a:cubicBezTo>
                <a:cubicBezTo>
                  <a:pt x="5479330" y="2001424"/>
                  <a:pt x="5480182" y="1913385"/>
                  <a:pt x="5471141" y="1826083"/>
                </a:cubicBezTo>
                <a:cubicBezTo>
                  <a:pt x="5455337" y="1662962"/>
                  <a:pt x="5406307" y="1504799"/>
                  <a:pt x="5327080" y="1361348"/>
                </a:cubicBezTo>
                <a:cubicBezTo>
                  <a:pt x="5206160" y="1140233"/>
                  <a:pt x="5033362" y="965782"/>
                  <a:pt x="4833354" y="816507"/>
                </a:cubicBezTo>
                <a:cubicBezTo>
                  <a:pt x="4597235" y="640276"/>
                  <a:pt x="4336322" y="509438"/>
                  <a:pt x="4063457" y="400724"/>
                </a:cubicBezTo>
                <a:cubicBezTo>
                  <a:pt x="4033360" y="388607"/>
                  <a:pt x="4003060" y="376909"/>
                  <a:pt x="3972544" y="365631"/>
                </a:cubicBezTo>
                <a:cubicBezTo>
                  <a:pt x="3943680" y="354950"/>
                  <a:pt x="3914563" y="345033"/>
                  <a:pt x="3885572" y="334733"/>
                </a:cubicBezTo>
                <a:close/>
                <a:moveTo>
                  <a:pt x="3865737" y="329520"/>
                </a:moveTo>
                <a:cubicBezTo>
                  <a:pt x="3865737" y="329520"/>
                  <a:pt x="3865737" y="330410"/>
                  <a:pt x="3866500" y="330537"/>
                </a:cubicBezTo>
                <a:lnTo>
                  <a:pt x="3869806" y="330156"/>
                </a:lnTo>
                <a:close/>
                <a:moveTo>
                  <a:pt x="2219772" y="85645"/>
                </a:moveTo>
                <a:cubicBezTo>
                  <a:pt x="2206943" y="84005"/>
                  <a:pt x="2193910" y="85264"/>
                  <a:pt x="2181627" y="89333"/>
                </a:cubicBezTo>
                <a:cubicBezTo>
                  <a:pt x="1932920" y="125113"/>
                  <a:pt x="1690800" y="197118"/>
                  <a:pt x="1462972" y="303073"/>
                </a:cubicBezTo>
                <a:cubicBezTo>
                  <a:pt x="971789" y="529528"/>
                  <a:pt x="578130" y="865460"/>
                  <a:pt x="308698" y="1338461"/>
                </a:cubicBezTo>
                <a:cubicBezTo>
                  <a:pt x="180225" y="1561852"/>
                  <a:pt x="97653" y="1808638"/>
                  <a:pt x="65840" y="2064364"/>
                </a:cubicBezTo>
                <a:cubicBezTo>
                  <a:pt x="71943" y="2050505"/>
                  <a:pt x="77284" y="2036391"/>
                  <a:pt x="82115" y="2022150"/>
                </a:cubicBezTo>
                <a:cubicBezTo>
                  <a:pt x="170104" y="1763653"/>
                  <a:pt x="279580" y="1515073"/>
                  <a:pt x="423261" y="1282260"/>
                </a:cubicBezTo>
                <a:cubicBezTo>
                  <a:pt x="630770" y="945565"/>
                  <a:pt x="895371" y="664944"/>
                  <a:pt x="1231812" y="454001"/>
                </a:cubicBezTo>
                <a:cubicBezTo>
                  <a:pt x="1535193" y="263783"/>
                  <a:pt x="1866802" y="149729"/>
                  <a:pt x="2219772" y="85645"/>
                </a:cubicBezTo>
                <a:close/>
                <a:moveTo>
                  <a:pt x="2612541" y="836"/>
                </a:moveTo>
                <a:cubicBezTo>
                  <a:pt x="2715914" y="-4250"/>
                  <a:pt x="2831240" y="14695"/>
                  <a:pt x="2946311" y="35548"/>
                </a:cubicBezTo>
                <a:cubicBezTo>
                  <a:pt x="3291652" y="98106"/>
                  <a:pt x="3631144" y="182915"/>
                  <a:pt x="3961100" y="303581"/>
                </a:cubicBezTo>
                <a:cubicBezTo>
                  <a:pt x="4278341" y="419543"/>
                  <a:pt x="4581341" y="563350"/>
                  <a:pt x="4854588" y="764502"/>
                </a:cubicBezTo>
                <a:cubicBezTo>
                  <a:pt x="5067438" y="921152"/>
                  <a:pt x="5250408" y="1105521"/>
                  <a:pt x="5377813" y="1339732"/>
                </a:cubicBezTo>
                <a:cubicBezTo>
                  <a:pt x="5459812" y="1489986"/>
                  <a:pt x="5510304" y="1655396"/>
                  <a:pt x="5526198" y="1825829"/>
                </a:cubicBezTo>
                <a:cubicBezTo>
                  <a:pt x="5538277" y="1951327"/>
                  <a:pt x="5527342" y="2074917"/>
                  <a:pt x="5510558" y="2199398"/>
                </a:cubicBezTo>
                <a:cubicBezTo>
                  <a:pt x="5502967" y="2266991"/>
                  <a:pt x="5502713" y="2335195"/>
                  <a:pt x="5509796" y="2402839"/>
                </a:cubicBezTo>
                <a:cubicBezTo>
                  <a:pt x="5534208" y="2664197"/>
                  <a:pt x="5468472" y="2926051"/>
                  <a:pt x="5323520" y="3144890"/>
                </a:cubicBezTo>
                <a:cubicBezTo>
                  <a:pt x="5201340" y="3332234"/>
                  <a:pt x="5041042" y="3491719"/>
                  <a:pt x="4853062" y="3612932"/>
                </a:cubicBezTo>
                <a:cubicBezTo>
                  <a:pt x="4671110" y="3732072"/>
                  <a:pt x="4498566" y="3864563"/>
                  <a:pt x="4316359" y="3982940"/>
                </a:cubicBezTo>
                <a:cubicBezTo>
                  <a:pt x="4019717" y="4175573"/>
                  <a:pt x="3701077" y="4317347"/>
                  <a:pt x="3352557" y="4386771"/>
                </a:cubicBezTo>
                <a:cubicBezTo>
                  <a:pt x="3160954" y="4425590"/>
                  <a:pt x="2964456" y="4434173"/>
                  <a:pt x="2770207" y="4412201"/>
                </a:cubicBezTo>
                <a:cubicBezTo>
                  <a:pt x="2685525" y="4402537"/>
                  <a:pt x="2599953" y="4402410"/>
                  <a:pt x="2514889" y="4393637"/>
                </a:cubicBezTo>
                <a:cubicBezTo>
                  <a:pt x="2307137" y="4370851"/>
                  <a:pt x="2102209" y="4327277"/>
                  <a:pt x="1903167" y="4263562"/>
                </a:cubicBezTo>
                <a:cubicBezTo>
                  <a:pt x="1560623" y="4156119"/>
                  <a:pt x="1238932" y="4006972"/>
                  <a:pt x="948393" y="3794249"/>
                </a:cubicBezTo>
                <a:cubicBezTo>
                  <a:pt x="647554" y="3573897"/>
                  <a:pt x="396813" y="3308660"/>
                  <a:pt x="223634" y="2975526"/>
                </a:cubicBezTo>
                <a:cubicBezTo>
                  <a:pt x="129454" y="2796370"/>
                  <a:pt x="67150" y="2602198"/>
                  <a:pt x="39520" y="2401695"/>
                </a:cubicBezTo>
                <a:cubicBezTo>
                  <a:pt x="34510" y="2367555"/>
                  <a:pt x="26729" y="2333872"/>
                  <a:pt x="16252" y="2300991"/>
                </a:cubicBezTo>
                <a:cubicBezTo>
                  <a:pt x="-9179" y="2218598"/>
                  <a:pt x="-24" y="2135695"/>
                  <a:pt x="11801" y="2053556"/>
                </a:cubicBezTo>
                <a:cubicBezTo>
                  <a:pt x="93686" y="1480615"/>
                  <a:pt x="377868" y="1021983"/>
                  <a:pt x="812850" y="651084"/>
                </a:cubicBezTo>
                <a:cubicBezTo>
                  <a:pt x="1176755" y="340201"/>
                  <a:pt x="1598260" y="146042"/>
                  <a:pt x="2066810" y="52586"/>
                </a:cubicBezTo>
                <a:cubicBezTo>
                  <a:pt x="2154544" y="35039"/>
                  <a:pt x="2243041" y="23087"/>
                  <a:pt x="2332046" y="14441"/>
                </a:cubicBezTo>
                <a:cubicBezTo>
                  <a:pt x="2421052" y="5794"/>
                  <a:pt x="2508913" y="2107"/>
                  <a:pt x="2612541" y="836"/>
                </a:cubicBez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3F9B0603-37C5-4312-AE4D-A3D015475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532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40BB6BC-9666-9901-E43B-3BF715CB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zh-CN" altLang="en-US" sz="5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目录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8944B-2AC9-2F38-A08B-E308EE76A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什么是波动生息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什么是雪球（外部）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雪球挣什么钱：论雪球三赚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机构与高净值个人客户业务如何对接（外部）</a:t>
            </a:r>
          </a:p>
        </p:txBody>
      </p:sp>
    </p:spTree>
    <p:extLst>
      <p:ext uri="{BB962C8B-B14F-4D97-AF65-F5344CB8AC3E}">
        <p14:creationId xmlns:p14="http://schemas.microsoft.com/office/powerpoint/2010/main" val="1104915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51EBE371-DE92-E6C5-B048-5EE6054FFCDB}"/>
              </a:ext>
            </a:extLst>
          </p:cNvPr>
          <p:cNvSpPr txBox="1">
            <a:spLocks/>
          </p:cNvSpPr>
          <p:nvPr/>
        </p:nvSpPr>
        <p:spPr>
          <a:xfrm>
            <a:off x="527538" y="2004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什么是波动生息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64F7E8-EB65-70AA-1395-B63B30964B68}"/>
              </a:ext>
            </a:extLst>
          </p:cNvPr>
          <p:cNvSpPr txBox="1"/>
          <p:nvPr/>
        </p:nvSpPr>
        <p:spPr>
          <a:xfrm>
            <a:off x="535604" y="2141387"/>
            <a:ext cx="4387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投资策略要点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LONG GAMMA 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高抛低吸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中逐步</a:t>
            </a:r>
            <a:r>
              <a:rPr lang="zh-CN" altLang="en-US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加仓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时逐步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减仓</a:t>
            </a:r>
            <a:endParaRPr lang="en-US" altLang="zh-CN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采用既定的投资策略，如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网格交易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法或者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雪球对冲模型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，来计算初始以及需要增减的仓位，以</a:t>
            </a:r>
            <a:r>
              <a:rPr lang="zh-CN" altLang="en-US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投资目标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导向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预期的收益率以及亏损限额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来指导仓位变化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无需预测未来是上涨还是下跌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91F595BD-5ADA-8114-83BB-C40E74E3FC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4934544"/>
              </p:ext>
            </p:extLst>
          </p:nvPr>
        </p:nvGraphicFramePr>
        <p:xfrm>
          <a:off x="5039443" y="5028488"/>
          <a:ext cx="5950913" cy="1421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2A460D0F-C4A7-E126-7E70-B9E6C93EB5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4996123"/>
              </p:ext>
            </p:extLst>
          </p:nvPr>
        </p:nvGraphicFramePr>
        <p:xfrm>
          <a:off x="4898201" y="2192192"/>
          <a:ext cx="6144937" cy="291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DF6E450-6AF7-13C4-E70E-315557D637C5}"/>
              </a:ext>
            </a:extLst>
          </p:cNvPr>
          <p:cNvCxnSpPr/>
          <p:nvPr/>
        </p:nvCxnSpPr>
        <p:spPr>
          <a:xfrm>
            <a:off x="5275356" y="4945153"/>
            <a:ext cx="55567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534CA87-B6EE-4700-E52D-F3457100D88C}"/>
              </a:ext>
            </a:extLst>
          </p:cNvPr>
          <p:cNvCxnSpPr>
            <a:cxnSpLocks/>
          </p:cNvCxnSpPr>
          <p:nvPr/>
        </p:nvCxnSpPr>
        <p:spPr>
          <a:xfrm flipV="1">
            <a:off x="5273891" y="6018832"/>
            <a:ext cx="5613888" cy="17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B49148E-0A97-9994-45C9-19BAABF4EA11}"/>
              </a:ext>
            </a:extLst>
          </p:cNvPr>
          <p:cNvCxnSpPr>
            <a:cxnSpLocks/>
          </p:cNvCxnSpPr>
          <p:nvPr/>
        </p:nvCxnSpPr>
        <p:spPr>
          <a:xfrm flipH="1" flipV="1">
            <a:off x="5273891" y="1917668"/>
            <a:ext cx="1465" cy="4118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AFC35FC-F784-3943-0B36-0C3D60973C01}"/>
              </a:ext>
            </a:extLst>
          </p:cNvPr>
          <p:cNvSpPr/>
          <p:nvPr/>
        </p:nvSpPr>
        <p:spPr>
          <a:xfrm>
            <a:off x="10681132" y="2554896"/>
            <a:ext cx="134816" cy="4571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50FA64-7322-E9A5-1A62-C53A18D4E297}"/>
              </a:ext>
            </a:extLst>
          </p:cNvPr>
          <p:cNvSpPr txBox="1"/>
          <p:nvPr/>
        </p:nvSpPr>
        <p:spPr>
          <a:xfrm>
            <a:off x="10849624" y="2450684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投资净值曲线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A43F80-E5AC-E451-B6C4-BA78C78D9B47}"/>
              </a:ext>
            </a:extLst>
          </p:cNvPr>
          <p:cNvSpPr txBox="1"/>
          <p:nvPr/>
        </p:nvSpPr>
        <p:spPr>
          <a:xfrm>
            <a:off x="10887779" y="2794488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挂钩资产价格曲线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65CB1E7-187F-5855-8241-0929A2EDAE09}"/>
              </a:ext>
            </a:extLst>
          </p:cNvPr>
          <p:cNvSpPr/>
          <p:nvPr/>
        </p:nvSpPr>
        <p:spPr>
          <a:xfrm>
            <a:off x="10701758" y="2917600"/>
            <a:ext cx="134816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38956E-8BB1-95E6-808F-1D27BD51BA83}"/>
              </a:ext>
            </a:extLst>
          </p:cNvPr>
          <p:cNvSpPr/>
          <p:nvPr/>
        </p:nvSpPr>
        <p:spPr>
          <a:xfrm>
            <a:off x="10701758" y="3238480"/>
            <a:ext cx="13481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C1901C-01C8-AFBA-71AA-E070FD7605DE}"/>
              </a:ext>
            </a:extLst>
          </p:cNvPr>
          <p:cNvSpPr txBox="1"/>
          <p:nvPr/>
        </p:nvSpPr>
        <p:spPr>
          <a:xfrm>
            <a:off x="10887779" y="311536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持仓份额</a:t>
            </a: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388EBF15-E48E-D00E-5E35-1C906D0AFB2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99761" y="3679312"/>
            <a:ext cx="1258263" cy="376602"/>
          </a:xfrm>
          <a:prstGeom prst="curvedConnector3">
            <a:avLst>
              <a:gd name="adj1" fmla="val 46157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9D3DE23B-7F06-9DAD-CC8E-77D82F60B1F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52218" y="5139259"/>
            <a:ext cx="387805" cy="26524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D1646C7E-67AC-8BC0-AD15-4B476043F9FE}"/>
              </a:ext>
            </a:extLst>
          </p:cNvPr>
          <p:cNvCxnSpPr>
            <a:cxnSpLocks/>
          </p:cNvCxnSpPr>
          <p:nvPr/>
        </p:nvCxnSpPr>
        <p:spPr>
          <a:xfrm>
            <a:off x="9790206" y="5089539"/>
            <a:ext cx="781078" cy="18234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894A7DBD-1ED6-190B-7C5E-FB21E17483E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78842" y="3552758"/>
            <a:ext cx="1561297" cy="670442"/>
          </a:xfrm>
          <a:prstGeom prst="curvedConnector3">
            <a:avLst>
              <a:gd name="adj1" fmla="val 11706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标注: 弯曲线形 24">
            <a:extLst>
              <a:ext uri="{FF2B5EF4-FFF2-40B4-BE49-F238E27FC236}">
                <a16:creationId xmlns:a16="http://schemas.microsoft.com/office/drawing/2014/main" id="{7C3B0AF8-49A7-8089-9F16-D70493AE48AC}"/>
              </a:ext>
            </a:extLst>
          </p:cNvPr>
          <p:cNvSpPr/>
          <p:nvPr/>
        </p:nvSpPr>
        <p:spPr>
          <a:xfrm>
            <a:off x="5992564" y="2307463"/>
            <a:ext cx="1432512" cy="247433"/>
          </a:xfrm>
          <a:prstGeom prst="borderCallout2">
            <a:avLst>
              <a:gd name="adj1" fmla="val 17555"/>
              <a:gd name="adj2" fmla="val 3"/>
              <a:gd name="adj3" fmla="val 18750"/>
              <a:gd name="adj4" fmla="val -16667"/>
              <a:gd name="adj5" fmla="val 362893"/>
              <a:gd name="adj6" fmla="val -33473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在下跌中逐步加仓</a:t>
            </a:r>
          </a:p>
        </p:txBody>
      </p:sp>
      <p:sp>
        <p:nvSpPr>
          <p:cNvPr id="26" name="标注: 弯曲线形 25">
            <a:extLst>
              <a:ext uri="{FF2B5EF4-FFF2-40B4-BE49-F238E27FC236}">
                <a16:creationId xmlns:a16="http://schemas.microsoft.com/office/drawing/2014/main" id="{5ABE867F-3BDE-F334-5D37-6A7B2079B777}"/>
              </a:ext>
            </a:extLst>
          </p:cNvPr>
          <p:cNvSpPr/>
          <p:nvPr/>
        </p:nvSpPr>
        <p:spPr>
          <a:xfrm>
            <a:off x="10826654" y="4091527"/>
            <a:ext cx="1315494" cy="247433"/>
          </a:xfrm>
          <a:prstGeom prst="borderCallout2">
            <a:avLst>
              <a:gd name="adj1" fmla="val 17555"/>
              <a:gd name="adj2" fmla="val 3"/>
              <a:gd name="adj3" fmla="val 18750"/>
              <a:gd name="adj4" fmla="val -16667"/>
              <a:gd name="adj5" fmla="val -120370"/>
              <a:gd name="adj6" fmla="val -2488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在上涨中减仓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EDF81A-0832-7462-AA3C-810C8FAE3766}"/>
              </a:ext>
            </a:extLst>
          </p:cNvPr>
          <p:cNvSpPr/>
          <p:nvPr/>
        </p:nvSpPr>
        <p:spPr>
          <a:xfrm>
            <a:off x="10613982" y="2422188"/>
            <a:ext cx="1528166" cy="94842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98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副标题 2"/>
          <p:cNvSpPr>
            <a:spLocks noGrp="1"/>
          </p:cNvSpPr>
          <p:nvPr/>
        </p:nvSpPr>
        <p:spPr>
          <a:xfrm>
            <a:off x="2461895" y="1250315"/>
            <a:ext cx="9060815" cy="1795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雪球结构（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Snowball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）是一类可自动赎回结构化产品。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雪球结构的收益强烈依赖于其挂钩资产的价格路径，具有敲入与敲出的双障碍特性。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其是在提供一定程度下跌保护的同时表达温和看涨的观点。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只要挂钩标的资产价格不发生大跌，其持有期限越长获利就越高。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8109966" y="2100072"/>
            <a:ext cx="22282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688203" y="1730756"/>
            <a:ext cx="202374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4925822" y="2464816"/>
            <a:ext cx="65849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652766" y="2482596"/>
            <a:ext cx="468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510790" y="4293235"/>
            <a:ext cx="4213225" cy="19037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txBody>
          <a:bodyPr wrap="square" rtlCol="0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约定一系列观察日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（如按月观察）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，在观察日当天标的资产价格满足一定条件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（如大于某个约定的价格），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11163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则触发自动赎回，产品提前结束。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这一系列观察日，称之为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敲出观察日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，约定的价格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（如相对期初价格的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%）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敲出障碍价格。</a:t>
            </a:r>
          </a:p>
        </p:txBody>
      </p:sp>
      <p:grpSp>
        <p:nvGrpSpPr>
          <p:cNvPr id="106" name="组合 105"/>
          <p:cNvGrpSpPr/>
          <p:nvPr>
            <p:custDataLst>
              <p:tags r:id="rId2"/>
            </p:custDataLst>
          </p:nvPr>
        </p:nvGrpSpPr>
        <p:grpSpPr>
          <a:xfrm>
            <a:off x="2462530" y="3531235"/>
            <a:ext cx="4332605" cy="2840990"/>
            <a:chOff x="4132458" y="4123944"/>
            <a:chExt cx="5441388" cy="790073"/>
          </a:xfrm>
        </p:grpSpPr>
        <p:cxnSp>
          <p:nvCxnSpPr>
            <p:cNvPr id="95" name="直接连接符 94"/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4139441" y="4136482"/>
              <a:ext cx="5434405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矩形 96"/>
            <p:cNvSpPr/>
            <p:nvPr>
              <p:custDataLst>
                <p:tags r:id="rId9"/>
              </p:custDataLst>
            </p:nvPr>
          </p:nvSpPr>
          <p:spPr>
            <a:xfrm>
              <a:off x="4132458" y="4123944"/>
              <a:ext cx="5441310" cy="790073"/>
            </a:xfrm>
            <a:prstGeom prst="rect">
              <a:avLst/>
            </a:prstGeom>
            <a:ln w="12700">
              <a:solidFill>
                <a:schemeClr val="tx2">
                  <a:alpha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7" name="圆角矩形 16"/>
          <p:cNvSpPr/>
          <p:nvPr>
            <p:custDataLst>
              <p:tags r:id="rId3"/>
            </p:custDataLst>
          </p:nvPr>
        </p:nvSpPr>
        <p:spPr>
          <a:xfrm>
            <a:off x="2466340" y="3778250"/>
            <a:ext cx="4338320" cy="499110"/>
          </a:xfrm>
          <a:prstGeom prst="roundRect">
            <a:avLst/>
          </a:prstGeom>
          <a:noFill/>
          <a:ln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自动赎回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258050" y="4293235"/>
            <a:ext cx="4192905" cy="19037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txBody>
          <a:bodyPr wrap="square" rtlCol="0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约定一个较低的价格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（如相对期初价格的80%）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，只要在存续期间，标的资产价格不低于该价格，投资者就可以获得较高的投资回报，该价格即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11163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敲入障碍价格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grpSp>
        <p:nvGrpSpPr>
          <p:cNvPr id="20" name="组合 19"/>
          <p:cNvGrpSpPr/>
          <p:nvPr>
            <p:custDataLst>
              <p:tags r:id="rId4"/>
            </p:custDataLst>
          </p:nvPr>
        </p:nvGrpSpPr>
        <p:grpSpPr>
          <a:xfrm>
            <a:off x="7189470" y="3531235"/>
            <a:ext cx="4332605" cy="2840990"/>
            <a:chOff x="4132458" y="4123944"/>
            <a:chExt cx="5441388" cy="790073"/>
          </a:xfrm>
        </p:grpSpPr>
        <p:cxnSp>
          <p:nvCxnSpPr>
            <p:cNvPr id="21" name="直接连接符 20"/>
            <p:cNvCxnSpPr/>
            <p:nvPr>
              <p:custDataLst>
                <p:tags r:id="rId6"/>
              </p:custDataLst>
            </p:nvPr>
          </p:nvCxnSpPr>
          <p:spPr>
            <a:xfrm flipH="1" flipV="1">
              <a:off x="4139441" y="4136482"/>
              <a:ext cx="5434405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>
              <p:custDataLst>
                <p:tags r:id="rId7"/>
              </p:custDataLst>
            </p:nvPr>
          </p:nvSpPr>
          <p:spPr>
            <a:xfrm>
              <a:off x="4132458" y="4123944"/>
              <a:ext cx="5441310" cy="790073"/>
            </a:xfrm>
            <a:prstGeom prst="rect">
              <a:avLst/>
            </a:prstGeom>
            <a:ln w="12700">
              <a:solidFill>
                <a:schemeClr val="tx2">
                  <a:alpha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3" name="圆角矩形 22"/>
          <p:cNvSpPr/>
          <p:nvPr>
            <p:custDataLst>
              <p:tags r:id="rId5"/>
            </p:custDataLst>
          </p:nvPr>
        </p:nvSpPr>
        <p:spPr>
          <a:xfrm>
            <a:off x="7195185" y="3778250"/>
            <a:ext cx="4327525" cy="499110"/>
          </a:xfrm>
          <a:prstGeom prst="roundRect">
            <a:avLst/>
          </a:prstGeom>
          <a:noFill/>
          <a:ln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下跌保护</a:t>
            </a:r>
          </a:p>
        </p:txBody>
      </p:sp>
      <p:sp>
        <p:nvSpPr>
          <p:cNvPr id="53" name="标题 4"/>
          <p:cNvSpPr>
            <a:spLocks noGrp="1"/>
          </p:cNvSpPr>
          <p:nvPr/>
        </p:nvSpPr>
        <p:spPr>
          <a:xfrm>
            <a:off x="2946400" y="-45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雪球结构概述</a:t>
            </a:r>
            <a:endParaRPr kumimoji="0" lang="zh-CN" altLang="en-US" sz="2800" b="1" i="0" u="none" strike="noStrike" kern="1200" cap="none" spc="300" normalizeH="0" baseline="0" noProof="1">
              <a:ln>
                <a:noFill/>
                <a:prstDash val="sysDot"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99961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82404" y="1301090"/>
            <a:ext cx="1868488" cy="374417"/>
            <a:chOff x="501571" y="1269607"/>
            <a:chExt cx="1868488" cy="374417"/>
          </a:xfrm>
        </p:grpSpPr>
        <p:sp>
          <p:nvSpPr>
            <p:cNvPr id="36" name="文本框 35"/>
            <p:cNvSpPr txBox="1"/>
            <p:nvPr/>
          </p:nvSpPr>
          <p:spPr>
            <a:xfrm>
              <a:off x="501571" y="1269607"/>
              <a:ext cx="1868488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一、场外衍生品概述</a:t>
              </a: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180473" y="1802299"/>
            <a:ext cx="1996546" cy="374417"/>
            <a:chOff x="501571" y="1269607"/>
            <a:chExt cx="1996546" cy="374417"/>
          </a:xfrm>
        </p:grpSpPr>
        <p:sp>
          <p:nvSpPr>
            <p:cNvPr id="41" name="文本框 40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二、监管、法律及格局</a:t>
              </a: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180473" y="2291435"/>
            <a:ext cx="1996546" cy="374417"/>
            <a:chOff x="501571" y="1269607"/>
            <a:chExt cx="1996546" cy="374417"/>
          </a:xfrm>
        </p:grpSpPr>
        <p:sp>
          <p:nvSpPr>
            <p:cNvPr id="44" name="文本框 43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三、互换、远期</a:t>
              </a:r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180473" y="2843258"/>
            <a:ext cx="1996546" cy="374417"/>
            <a:chOff x="501571" y="1269607"/>
            <a:chExt cx="1996546" cy="374417"/>
          </a:xfrm>
        </p:grpSpPr>
        <p:sp>
          <p:nvSpPr>
            <p:cNvPr id="47" name="文本框 46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四、场外期权</a:t>
              </a: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175419" y="6034419"/>
            <a:ext cx="1996546" cy="374417"/>
            <a:chOff x="501571" y="1269607"/>
            <a:chExt cx="1996546" cy="374417"/>
          </a:xfrm>
        </p:grpSpPr>
        <p:sp>
          <p:nvSpPr>
            <p:cNvPr id="50" name="文本框 49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五、应用及业务开展</a:t>
              </a: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矩形: 剪去对角 76"/>
          <p:cNvSpPr/>
          <p:nvPr/>
        </p:nvSpPr>
        <p:spPr>
          <a:xfrm>
            <a:off x="2461970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267426" y="3214747"/>
            <a:ext cx="322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86690" y="3242945"/>
            <a:ext cx="1875790" cy="2576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、场外期权产品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（一）欧式香草期权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（二）常见欧式香草期权组合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（三）鲨鱼鳍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（四）欧式二元&amp;美式二元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（五）自动赎回二元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（六）雪球结构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（七）凤凰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（八）FCN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附录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2、场外期权风险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64490"/>
            <a:ext cx="1390015" cy="2724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箭头连接符 59"/>
          <p:cNvCxnSpPr/>
          <p:nvPr/>
        </p:nvCxnSpPr>
        <p:spPr>
          <a:xfrm flipV="1">
            <a:off x="2839476" y="2241713"/>
            <a:ext cx="0" cy="24748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cxnSp>
        <p:nvCxnSpPr>
          <p:cNvPr id="61" name="直接箭头连接符 60"/>
          <p:cNvCxnSpPr/>
          <p:nvPr/>
        </p:nvCxnSpPr>
        <p:spPr>
          <a:xfrm flipV="1">
            <a:off x="2839476" y="3437887"/>
            <a:ext cx="6671958" cy="14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2839476" y="4473572"/>
            <a:ext cx="6408000" cy="0"/>
          </a:xfrm>
          <a:prstGeom prst="line">
            <a:avLst/>
          </a:prstGeom>
          <a:ln w="28575">
            <a:prstDash val="sysDot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2839476" y="3252136"/>
            <a:ext cx="6409055" cy="0"/>
          </a:xfrm>
          <a:prstGeom prst="line">
            <a:avLst/>
          </a:prstGeom>
          <a:ln w="28575">
            <a:solidFill>
              <a:sysClr val="window" lastClr="FFFFFF">
                <a:lumMod val="85000"/>
              </a:sysClr>
            </a:solidFill>
            <a:prstDash val="sysDash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sp>
        <p:nvSpPr>
          <p:cNvPr id="64" name="椭圆 63"/>
          <p:cNvSpPr/>
          <p:nvPr/>
        </p:nvSpPr>
        <p:spPr>
          <a:xfrm>
            <a:off x="3171911" y="3219697"/>
            <a:ext cx="54000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3708511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6927961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9074261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0" name="对话气泡: 圆角矩形 102"/>
          <p:cNvSpPr/>
          <p:nvPr/>
        </p:nvSpPr>
        <p:spPr>
          <a:xfrm>
            <a:off x="6039485" y="1496695"/>
            <a:ext cx="5708015" cy="1239520"/>
          </a:xfrm>
          <a:prstGeom prst="wedgeRoundRectCallout">
            <a:avLst>
              <a:gd name="adj1" fmla="val -41870"/>
              <a:gd name="adj2" fmla="val 77891"/>
              <a:gd name="adj3" fmla="val 16667"/>
            </a:avLst>
          </a:prstGeom>
          <a:solidFill>
            <a:sysClr val="window" lastClr="FFFFFF"/>
          </a:solidFill>
          <a:ln>
            <a:solidFill>
              <a:srgbClr val="00B050"/>
            </a:solidFill>
          </a:ln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在敲出观察日，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标的资产价格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&gt;=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敲出障碍价格，视作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发生敲出事件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，触发自动赎回，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获得相应期限的敲出票息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11163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敲出票息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11163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×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11163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实际存续天数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11163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/365 ×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11163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名义本金。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敲出具有优先级，只要敲出就获得敲出票息，不管是否敲入过。</a:t>
            </a:r>
          </a:p>
        </p:txBody>
      </p:sp>
      <p:cxnSp>
        <p:nvCxnSpPr>
          <p:cNvPr id="113" name="直接连接符 112"/>
          <p:cNvCxnSpPr/>
          <p:nvPr/>
        </p:nvCxnSpPr>
        <p:spPr>
          <a:xfrm>
            <a:off x="9596755" y="4236149"/>
            <a:ext cx="240196" cy="0"/>
          </a:xfrm>
          <a:prstGeom prst="line">
            <a:avLst/>
          </a:prstGeom>
          <a:ln w="19050" cap="flat" cmpd="sng" algn="ctr">
            <a:solidFill>
              <a:srgbClr val="4472C4"/>
            </a:solidFill>
            <a:prstDash val="sysDot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/>
        </p:nvSpPr>
        <p:spPr>
          <a:xfrm>
            <a:off x="9874563" y="4063297"/>
            <a:ext cx="271948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敲入观察日（每日）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敲入障碍价格</a:t>
            </a:r>
          </a:p>
        </p:txBody>
      </p:sp>
      <p:sp>
        <p:nvSpPr>
          <p:cNvPr id="119" name="椭圆 118"/>
          <p:cNvSpPr/>
          <p:nvPr/>
        </p:nvSpPr>
        <p:spPr>
          <a:xfrm>
            <a:off x="4245086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0" name="椭圆 119"/>
          <p:cNvSpPr/>
          <p:nvPr/>
        </p:nvSpPr>
        <p:spPr>
          <a:xfrm>
            <a:off x="4781661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1" name="椭圆 120"/>
          <p:cNvSpPr/>
          <p:nvPr/>
        </p:nvSpPr>
        <p:spPr>
          <a:xfrm>
            <a:off x="5318236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3" name="椭圆 122"/>
          <p:cNvSpPr/>
          <p:nvPr/>
        </p:nvSpPr>
        <p:spPr>
          <a:xfrm>
            <a:off x="7464536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8001111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8537686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5854811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2212340" y="1869440"/>
            <a:ext cx="11995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标的价格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9432290" y="3273425"/>
            <a:ext cx="701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</a:p>
        </p:txBody>
      </p:sp>
      <p:sp>
        <p:nvSpPr>
          <p:cNvPr id="161" name="任意多边形 160"/>
          <p:cNvSpPr/>
          <p:nvPr/>
        </p:nvSpPr>
        <p:spPr>
          <a:xfrm>
            <a:off x="2858770" y="3043555"/>
            <a:ext cx="3669665" cy="804545"/>
          </a:xfrm>
          <a:custGeom>
            <a:avLst/>
            <a:gdLst>
              <a:gd name="connisteX0" fmla="*/ 0 w 4632325"/>
              <a:gd name="connsiteY0" fmla="*/ 364490 h 804711"/>
              <a:gd name="connisteX1" fmla="*/ 66675 w 4632325"/>
              <a:gd name="connsiteY1" fmla="*/ 74295 h 804711"/>
              <a:gd name="connisteX2" fmla="*/ 305435 w 4632325"/>
              <a:gd name="connsiteY2" fmla="*/ 416560 h 804711"/>
              <a:gd name="connisteX3" fmla="*/ 476250 w 4632325"/>
              <a:gd name="connsiteY3" fmla="*/ 617855 h 804711"/>
              <a:gd name="connisteX4" fmla="*/ 677545 w 4632325"/>
              <a:gd name="connsiteY4" fmla="*/ 640080 h 804711"/>
              <a:gd name="connisteX5" fmla="*/ 1027430 w 4632325"/>
              <a:gd name="connsiteY5" fmla="*/ 409575 h 804711"/>
              <a:gd name="connisteX6" fmla="*/ 1444625 w 4632325"/>
              <a:gd name="connsiteY6" fmla="*/ 662305 h 804711"/>
              <a:gd name="connisteX7" fmla="*/ 2115185 w 4632325"/>
              <a:gd name="connsiteY7" fmla="*/ 222885 h 804711"/>
              <a:gd name="connisteX8" fmla="*/ 2413000 w 4632325"/>
              <a:gd name="connsiteY8" fmla="*/ 617855 h 804711"/>
              <a:gd name="connisteX9" fmla="*/ 2636520 w 4632325"/>
              <a:gd name="connsiteY9" fmla="*/ 66675 h 804711"/>
              <a:gd name="connisteX10" fmla="*/ 2822575 w 4632325"/>
              <a:gd name="connsiteY10" fmla="*/ 267970 h 804711"/>
              <a:gd name="connisteX11" fmla="*/ 2904490 w 4632325"/>
              <a:gd name="connsiteY11" fmla="*/ 647700 h 804711"/>
              <a:gd name="connisteX12" fmla="*/ 2986405 w 4632325"/>
              <a:gd name="connsiteY12" fmla="*/ 796925 h 804711"/>
              <a:gd name="connisteX13" fmla="*/ 3276600 w 4632325"/>
              <a:gd name="connsiteY13" fmla="*/ 483870 h 804711"/>
              <a:gd name="connisteX14" fmla="*/ 3604260 w 4632325"/>
              <a:gd name="connsiteY14" fmla="*/ 729615 h 804711"/>
              <a:gd name="connisteX15" fmla="*/ 4632325 w 4632325"/>
              <a:gd name="connsiteY15" fmla="*/ 0 h 804711"/>
              <a:gd name="connisteX16" fmla="*/ 4646930 w 4632325"/>
              <a:gd name="connsiteY16" fmla="*/ 6985 h 80471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</a:cxnLst>
            <a:rect l="l" t="t" r="r" b="b"/>
            <a:pathLst>
              <a:path w="4632325" h="804712">
                <a:moveTo>
                  <a:pt x="0" y="364490"/>
                </a:moveTo>
                <a:cubicBezTo>
                  <a:pt x="8255" y="299720"/>
                  <a:pt x="5715" y="64135"/>
                  <a:pt x="66675" y="74295"/>
                </a:cubicBezTo>
                <a:cubicBezTo>
                  <a:pt x="127635" y="84455"/>
                  <a:pt x="223520" y="307975"/>
                  <a:pt x="305435" y="416560"/>
                </a:cubicBezTo>
                <a:cubicBezTo>
                  <a:pt x="387350" y="525145"/>
                  <a:pt x="401955" y="573405"/>
                  <a:pt x="476250" y="617855"/>
                </a:cubicBezTo>
                <a:cubicBezTo>
                  <a:pt x="550545" y="662305"/>
                  <a:pt x="567055" y="681990"/>
                  <a:pt x="677545" y="640080"/>
                </a:cubicBezTo>
                <a:cubicBezTo>
                  <a:pt x="788035" y="598170"/>
                  <a:pt x="873760" y="405130"/>
                  <a:pt x="1027430" y="409575"/>
                </a:cubicBezTo>
                <a:cubicBezTo>
                  <a:pt x="1181100" y="414020"/>
                  <a:pt x="1226820" y="699770"/>
                  <a:pt x="1444625" y="662305"/>
                </a:cubicBezTo>
                <a:cubicBezTo>
                  <a:pt x="1662430" y="624840"/>
                  <a:pt x="1921510" y="231775"/>
                  <a:pt x="2115185" y="222885"/>
                </a:cubicBezTo>
                <a:cubicBezTo>
                  <a:pt x="2308860" y="213995"/>
                  <a:pt x="2308860" y="648970"/>
                  <a:pt x="2413000" y="617855"/>
                </a:cubicBezTo>
                <a:cubicBezTo>
                  <a:pt x="2517140" y="586740"/>
                  <a:pt x="2554605" y="136525"/>
                  <a:pt x="2636520" y="66675"/>
                </a:cubicBezTo>
                <a:cubicBezTo>
                  <a:pt x="2718435" y="-3175"/>
                  <a:pt x="2769235" y="151765"/>
                  <a:pt x="2822575" y="267970"/>
                </a:cubicBezTo>
                <a:cubicBezTo>
                  <a:pt x="2875915" y="384175"/>
                  <a:pt x="2871470" y="541655"/>
                  <a:pt x="2904490" y="647700"/>
                </a:cubicBezTo>
                <a:cubicBezTo>
                  <a:pt x="2937510" y="753745"/>
                  <a:pt x="2912110" y="829945"/>
                  <a:pt x="2986405" y="796925"/>
                </a:cubicBezTo>
                <a:cubicBezTo>
                  <a:pt x="3060700" y="763905"/>
                  <a:pt x="3152775" y="497205"/>
                  <a:pt x="3276600" y="483870"/>
                </a:cubicBezTo>
                <a:cubicBezTo>
                  <a:pt x="3400425" y="470535"/>
                  <a:pt x="3333115" y="826135"/>
                  <a:pt x="3604260" y="729615"/>
                </a:cubicBezTo>
                <a:cubicBezTo>
                  <a:pt x="3875405" y="633095"/>
                  <a:pt x="4424045" y="144780"/>
                  <a:pt x="4632325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1" name="椭圆 130"/>
          <p:cNvSpPr/>
          <p:nvPr/>
        </p:nvSpPr>
        <p:spPr>
          <a:xfrm>
            <a:off x="6384290" y="3111500"/>
            <a:ext cx="85090" cy="9144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2" name="椭圆 161"/>
          <p:cNvSpPr/>
          <p:nvPr/>
        </p:nvSpPr>
        <p:spPr>
          <a:xfrm>
            <a:off x="4933950" y="3042285"/>
            <a:ext cx="85090" cy="914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4" name="椭圆 183"/>
          <p:cNvSpPr/>
          <p:nvPr/>
        </p:nvSpPr>
        <p:spPr>
          <a:xfrm>
            <a:off x="9693910" y="4549775"/>
            <a:ext cx="97155" cy="1016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9874563" y="4470315"/>
            <a:ext cx="271948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敲出观察日（每月）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敲出障碍价格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12620" y="2881630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105%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12620" y="4302125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2620" y="3437890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期初价格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404745" y="5365115"/>
            <a:ext cx="9514840" cy="8299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上图两种情景，均在敲出观察日敲出，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本金无亏损，客户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收回全部预付金。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实际存续时长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215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天，客户获得【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9%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×（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215/365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）×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10000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=530.13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万】的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敲出票息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691765" y="848360"/>
            <a:ext cx="5985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）到期前敲出（无论是否发生过敲入）：客户盈利</a:t>
            </a:r>
          </a:p>
        </p:txBody>
      </p:sp>
      <p:sp>
        <p:nvSpPr>
          <p:cNvPr id="10" name="对话气泡: 圆角矩形 102"/>
          <p:cNvSpPr/>
          <p:nvPr/>
        </p:nvSpPr>
        <p:spPr>
          <a:xfrm>
            <a:off x="3931285" y="2291715"/>
            <a:ext cx="1609725" cy="447040"/>
          </a:xfrm>
          <a:prstGeom prst="wedgeRoundRectCallout">
            <a:avLst>
              <a:gd name="adj1" fmla="val 16028"/>
              <a:gd name="adj2" fmla="val 101135"/>
              <a:gd name="adj3" fmla="val 16667"/>
            </a:avLst>
          </a:prstGeom>
          <a:solidFill>
            <a:sysClr val="window" lastClr="FFFFFF"/>
          </a:solidFill>
          <a:ln>
            <a:solidFill>
              <a:srgbClr val="FF0000"/>
            </a:solidFill>
          </a:ln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非敲出观察日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2872740" y="2872105"/>
            <a:ext cx="3491230" cy="1800225"/>
          </a:xfrm>
          <a:custGeom>
            <a:avLst/>
            <a:gdLst>
              <a:gd name="connisteX0" fmla="*/ 0 w 4589780"/>
              <a:gd name="connsiteY0" fmla="*/ 577215 h 1799964"/>
              <a:gd name="connisteX1" fmla="*/ 664210 w 4589780"/>
              <a:gd name="connsiteY1" fmla="*/ 1318260 h 1799964"/>
              <a:gd name="connisteX2" fmla="*/ 1222375 w 4589780"/>
              <a:gd name="connsiteY2" fmla="*/ 1144905 h 1799964"/>
              <a:gd name="connisteX3" fmla="*/ 1529715 w 4589780"/>
              <a:gd name="connsiteY3" fmla="*/ 1798955 h 1799964"/>
              <a:gd name="connisteX4" fmla="*/ 2059305 w 4589780"/>
              <a:gd name="connsiteY4" fmla="*/ 1000760 h 1799964"/>
              <a:gd name="connisteX5" fmla="*/ 2742565 w 4589780"/>
              <a:gd name="connsiteY5" fmla="*/ 1404620 h 1799964"/>
              <a:gd name="connisteX6" fmla="*/ 3165475 w 4589780"/>
              <a:gd name="connsiteY6" fmla="*/ 1212215 h 1799964"/>
              <a:gd name="connisteX7" fmla="*/ 3800475 w 4589780"/>
              <a:gd name="connsiteY7" fmla="*/ 1346835 h 1799964"/>
              <a:gd name="connisteX8" fmla="*/ 4589780 w 4589780"/>
              <a:gd name="connsiteY8" fmla="*/ 0 h 17999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4589780" h="1799965">
                <a:moveTo>
                  <a:pt x="0" y="577215"/>
                </a:moveTo>
                <a:cubicBezTo>
                  <a:pt x="121920" y="728980"/>
                  <a:pt x="419735" y="1204595"/>
                  <a:pt x="664210" y="1318260"/>
                </a:cubicBezTo>
                <a:cubicBezTo>
                  <a:pt x="908685" y="1431925"/>
                  <a:pt x="1049020" y="1049020"/>
                  <a:pt x="1222375" y="1144905"/>
                </a:cubicBezTo>
                <a:cubicBezTo>
                  <a:pt x="1395730" y="1240790"/>
                  <a:pt x="1362075" y="1827530"/>
                  <a:pt x="1529715" y="1798955"/>
                </a:cubicBezTo>
                <a:cubicBezTo>
                  <a:pt x="1697355" y="1770380"/>
                  <a:pt x="1816735" y="1079500"/>
                  <a:pt x="2059305" y="1000760"/>
                </a:cubicBezTo>
                <a:cubicBezTo>
                  <a:pt x="2301875" y="922020"/>
                  <a:pt x="2521585" y="1362075"/>
                  <a:pt x="2742565" y="1404620"/>
                </a:cubicBezTo>
                <a:cubicBezTo>
                  <a:pt x="2963545" y="1447165"/>
                  <a:pt x="2954020" y="1223645"/>
                  <a:pt x="3165475" y="1212215"/>
                </a:cubicBezTo>
                <a:cubicBezTo>
                  <a:pt x="3376930" y="1200785"/>
                  <a:pt x="3515360" y="1589405"/>
                  <a:pt x="3800475" y="1346835"/>
                </a:cubicBezTo>
                <a:cubicBezTo>
                  <a:pt x="4085590" y="1104265"/>
                  <a:pt x="4444365" y="271780"/>
                  <a:pt x="4589780" y="0"/>
                </a:cubicBezTo>
              </a:path>
            </a:pathLst>
          </a:custGeom>
          <a:noFill/>
          <a:ln w="38100">
            <a:solidFill>
              <a:srgbClr val="ED7D3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爆炸形: 8 pt  52"/>
          <p:cNvSpPr>
            <a:spLocks noChangeAspect="1"/>
          </p:cNvSpPr>
          <p:nvPr/>
        </p:nvSpPr>
        <p:spPr>
          <a:xfrm>
            <a:off x="3762589" y="4308771"/>
            <a:ext cx="246215" cy="246215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2" name="椭圆 121"/>
          <p:cNvSpPr/>
          <p:nvPr/>
        </p:nvSpPr>
        <p:spPr>
          <a:xfrm>
            <a:off x="6391386" y="321969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3" name="标题 4"/>
          <p:cNvSpPr>
            <a:spLocks noGrp="1"/>
          </p:cNvSpPr>
          <p:nvPr/>
        </p:nvSpPr>
        <p:spPr>
          <a:xfrm>
            <a:off x="2946400" y="-45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经典雪球</a:t>
            </a:r>
            <a:r>
              <a:rPr kumimoji="0" lang="en-US" altLang="zh-CN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——</a:t>
            </a: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情景分析图</a:t>
            </a:r>
            <a:endParaRPr kumimoji="0" lang="zh-CN" altLang="en-US" sz="2800" b="1" i="0" u="none" strike="noStrike" kern="1200" cap="none" spc="300" normalizeH="0" baseline="0" noProof="1">
              <a:ln>
                <a:noFill/>
                <a:prstDash val="sysDot"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0" y="0"/>
            <a:ext cx="199961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82404" y="1301090"/>
            <a:ext cx="1868488" cy="374417"/>
            <a:chOff x="501571" y="1269607"/>
            <a:chExt cx="1868488" cy="374417"/>
          </a:xfrm>
        </p:grpSpPr>
        <p:sp>
          <p:nvSpPr>
            <p:cNvPr id="26" name="文本框 25"/>
            <p:cNvSpPr txBox="1"/>
            <p:nvPr/>
          </p:nvSpPr>
          <p:spPr>
            <a:xfrm>
              <a:off x="501571" y="1269607"/>
              <a:ext cx="1868488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一、场外衍生品概述</a:t>
              </a: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180473" y="1802299"/>
            <a:ext cx="1996546" cy="374417"/>
            <a:chOff x="501571" y="1269607"/>
            <a:chExt cx="1996546" cy="374417"/>
          </a:xfrm>
        </p:grpSpPr>
        <p:sp>
          <p:nvSpPr>
            <p:cNvPr id="41" name="文本框 40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二、监管、法律及格局</a:t>
              </a: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180473" y="2291435"/>
            <a:ext cx="1996546" cy="374417"/>
            <a:chOff x="501571" y="1269607"/>
            <a:chExt cx="1996546" cy="374417"/>
          </a:xfrm>
        </p:grpSpPr>
        <p:sp>
          <p:nvSpPr>
            <p:cNvPr id="44" name="文本框 43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三、互换、远期</a:t>
              </a:r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180473" y="2843258"/>
            <a:ext cx="1996546" cy="374417"/>
            <a:chOff x="501571" y="1269607"/>
            <a:chExt cx="1996546" cy="374417"/>
          </a:xfrm>
        </p:grpSpPr>
        <p:sp>
          <p:nvSpPr>
            <p:cNvPr id="47" name="文本框 46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四、场外期权</a:t>
              </a: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175419" y="6034419"/>
            <a:ext cx="1996546" cy="374417"/>
            <a:chOff x="501571" y="1269607"/>
            <a:chExt cx="1996546" cy="374417"/>
          </a:xfrm>
        </p:grpSpPr>
        <p:sp>
          <p:nvSpPr>
            <p:cNvPr id="50" name="文本框 49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五、应用及业务开展</a:t>
              </a: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: 剪去对角 76"/>
          <p:cNvSpPr/>
          <p:nvPr/>
        </p:nvSpPr>
        <p:spPr>
          <a:xfrm>
            <a:off x="2461970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267426" y="3214747"/>
            <a:ext cx="322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86690" y="3242945"/>
            <a:ext cx="1875790" cy="2576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、场外期权产品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（一）欧式香草期权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（二）常见欧式香草期权组合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（三）鲨鱼鳍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（四）欧式二元&amp;美式二元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（五）自动赎回二元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（六）雪球结构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（七）凤凰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（八）FCN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附录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2、场外期权风险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64490"/>
            <a:ext cx="1390015" cy="2724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对话气泡: 圆角矩形 104"/>
          <p:cNvSpPr/>
          <p:nvPr/>
        </p:nvSpPr>
        <p:spPr>
          <a:xfrm>
            <a:off x="6453505" y="1955165"/>
            <a:ext cx="3217545" cy="960120"/>
          </a:xfrm>
          <a:prstGeom prst="wedgeRoundRectCallout">
            <a:avLst>
              <a:gd name="adj1" fmla="val 35691"/>
              <a:gd name="adj2" fmla="val 172055"/>
              <a:gd name="adj3" fmla="val 16667"/>
            </a:avLst>
          </a:prstGeom>
        </p:spPr>
        <p:style>
          <a:lnRef idx="2">
            <a:srgbClr val="ED7D31"/>
          </a:lnRef>
          <a:fillRef idx="1">
            <a:sysClr val="window" lastClr="FFFFFF"/>
          </a:fillRef>
          <a:effectRef idx="0">
            <a:srgbClr val="ED7D31"/>
          </a:effectRef>
          <a:fontRef idx="minor">
            <a:sysClr val="windowText" lastClr="000000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存续期间，从未发生过敲入，也未发生过敲出：到期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获得红利票息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，一般和敲出票息一致。</a:t>
            </a:r>
          </a:p>
        </p:txBody>
      </p:sp>
      <p:cxnSp>
        <p:nvCxnSpPr>
          <p:cNvPr id="60" name="直接箭头连接符 59"/>
          <p:cNvCxnSpPr/>
          <p:nvPr/>
        </p:nvCxnSpPr>
        <p:spPr>
          <a:xfrm flipV="1">
            <a:off x="2847731" y="2270923"/>
            <a:ext cx="0" cy="24748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cxnSp>
        <p:nvCxnSpPr>
          <p:cNvPr id="61" name="直接箭头连接符 60"/>
          <p:cNvCxnSpPr/>
          <p:nvPr/>
        </p:nvCxnSpPr>
        <p:spPr>
          <a:xfrm flipV="1">
            <a:off x="2847731" y="3467097"/>
            <a:ext cx="6671958" cy="14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2847731" y="4502782"/>
            <a:ext cx="6408000" cy="0"/>
          </a:xfrm>
          <a:prstGeom prst="line">
            <a:avLst/>
          </a:prstGeom>
          <a:ln w="28575">
            <a:prstDash val="sysDot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2847731" y="3281346"/>
            <a:ext cx="6409055" cy="0"/>
          </a:xfrm>
          <a:prstGeom prst="line">
            <a:avLst/>
          </a:prstGeom>
          <a:ln w="28575">
            <a:solidFill>
              <a:sysClr val="window" lastClr="FFFFFF">
                <a:lumMod val="85000"/>
              </a:sysClr>
            </a:solidFill>
            <a:prstDash val="sysDash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sp>
        <p:nvSpPr>
          <p:cNvPr id="64" name="椭圆 63"/>
          <p:cNvSpPr/>
          <p:nvPr/>
        </p:nvSpPr>
        <p:spPr>
          <a:xfrm>
            <a:off x="3180166" y="3248907"/>
            <a:ext cx="54000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3716766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6936216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9082516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4253341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0" name="椭圆 119"/>
          <p:cNvSpPr/>
          <p:nvPr/>
        </p:nvSpPr>
        <p:spPr>
          <a:xfrm>
            <a:off x="4789916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1" name="椭圆 120"/>
          <p:cNvSpPr/>
          <p:nvPr/>
        </p:nvSpPr>
        <p:spPr>
          <a:xfrm>
            <a:off x="5326491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3" name="椭圆 122"/>
          <p:cNvSpPr/>
          <p:nvPr/>
        </p:nvSpPr>
        <p:spPr>
          <a:xfrm>
            <a:off x="7472791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8009366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8545941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5863066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2220595" y="1898650"/>
            <a:ext cx="11995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标的价格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9440545" y="3302635"/>
            <a:ext cx="701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01825" y="2910840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105%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01825" y="4331335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01825" y="3467100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期初价格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291715" y="5384165"/>
            <a:ext cx="9514840" cy="8299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上图情景，未发生敲出且未发生敲入持有至到期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本金无亏损，客户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收回全部预付金。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客户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获得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【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9%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10000万=900万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】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的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红利票息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。</a:t>
            </a:r>
          </a:p>
        </p:txBody>
      </p:sp>
      <p:sp>
        <p:nvSpPr>
          <p:cNvPr id="122" name="椭圆 121"/>
          <p:cNvSpPr/>
          <p:nvPr/>
        </p:nvSpPr>
        <p:spPr>
          <a:xfrm>
            <a:off x="6399641" y="3248907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6" name="任意多边形 155"/>
          <p:cNvSpPr/>
          <p:nvPr/>
        </p:nvSpPr>
        <p:spPr>
          <a:xfrm>
            <a:off x="2867025" y="3371215"/>
            <a:ext cx="6360795" cy="960120"/>
          </a:xfrm>
          <a:custGeom>
            <a:avLst/>
            <a:gdLst>
              <a:gd name="connisteX0" fmla="*/ 0 w 6360795"/>
              <a:gd name="connsiteY0" fmla="*/ 88377 h 959993"/>
              <a:gd name="connisteX1" fmla="*/ 193675 w 6360795"/>
              <a:gd name="connsiteY1" fmla="*/ 863077 h 959993"/>
              <a:gd name="connisteX2" fmla="*/ 908685 w 6360795"/>
              <a:gd name="connsiteY2" fmla="*/ 409052 h 959993"/>
              <a:gd name="connisteX3" fmla="*/ 2145030 w 6360795"/>
              <a:gd name="connsiteY3" fmla="*/ 952612 h 959993"/>
              <a:gd name="connisteX4" fmla="*/ 3291840 w 6360795"/>
              <a:gd name="connsiteY4" fmla="*/ 6462 h 959993"/>
              <a:gd name="connisteX5" fmla="*/ 4521200 w 6360795"/>
              <a:gd name="connsiteY5" fmla="*/ 609712 h 959993"/>
              <a:gd name="connisteX6" fmla="*/ 6360795 w 6360795"/>
              <a:gd name="connsiteY6" fmla="*/ 885302 h 959993"/>
              <a:gd name="connisteX7" fmla="*/ 6249035 w 6360795"/>
              <a:gd name="connsiteY7" fmla="*/ 938007 h 95999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6360795" h="959993">
                <a:moveTo>
                  <a:pt x="0" y="88377"/>
                </a:moveTo>
                <a:cubicBezTo>
                  <a:pt x="24130" y="252207"/>
                  <a:pt x="12065" y="798942"/>
                  <a:pt x="193675" y="863077"/>
                </a:cubicBezTo>
                <a:cubicBezTo>
                  <a:pt x="375285" y="927212"/>
                  <a:pt x="518160" y="391272"/>
                  <a:pt x="908685" y="409052"/>
                </a:cubicBezTo>
                <a:cubicBezTo>
                  <a:pt x="1299210" y="426832"/>
                  <a:pt x="1668145" y="1033257"/>
                  <a:pt x="2145030" y="952612"/>
                </a:cubicBezTo>
                <a:cubicBezTo>
                  <a:pt x="2621915" y="871967"/>
                  <a:pt x="2816860" y="75042"/>
                  <a:pt x="3291840" y="6462"/>
                </a:cubicBezTo>
                <a:cubicBezTo>
                  <a:pt x="3766820" y="-62118"/>
                  <a:pt x="3907155" y="433817"/>
                  <a:pt x="4521200" y="609712"/>
                </a:cubicBezTo>
                <a:cubicBezTo>
                  <a:pt x="5135245" y="785607"/>
                  <a:pt x="6015355" y="819897"/>
                  <a:pt x="6360795" y="885302"/>
                </a:cubicBezTo>
              </a:path>
            </a:pathLst>
          </a:custGeom>
          <a:ln w="38100">
            <a:solidFill>
              <a:srgbClr val="ED7D3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0" name="椭圆 129"/>
          <p:cNvSpPr/>
          <p:nvPr/>
        </p:nvSpPr>
        <p:spPr>
          <a:xfrm>
            <a:off x="9201150" y="4186555"/>
            <a:ext cx="85090" cy="91440"/>
          </a:xfrm>
          <a:prstGeom prst="ellipse">
            <a:avLst/>
          </a:prstGeom>
          <a:solidFill>
            <a:srgbClr val="F29E65"/>
          </a:solidFill>
          <a:ln>
            <a:solidFill>
              <a:schemeClr val="tx1"/>
            </a:solidFill>
          </a:ln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91765" y="848360"/>
            <a:ext cx="5985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未发生敲出且未发生敲入持有至到期：客户盈利</a:t>
            </a:r>
          </a:p>
        </p:txBody>
      </p:sp>
      <p:sp>
        <p:nvSpPr>
          <p:cNvPr id="53" name="标题 4"/>
          <p:cNvSpPr>
            <a:spLocks noGrp="1"/>
          </p:cNvSpPr>
          <p:nvPr/>
        </p:nvSpPr>
        <p:spPr>
          <a:xfrm>
            <a:off x="2946400" y="-45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经典雪球</a:t>
            </a:r>
            <a:r>
              <a:rPr kumimoji="0" lang="en-US" altLang="zh-CN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——</a:t>
            </a: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情景分析图</a:t>
            </a:r>
            <a:endParaRPr kumimoji="0" lang="zh-CN" altLang="en-US" sz="2800" b="1" i="0" u="none" strike="noStrike" kern="1200" cap="none" spc="300" normalizeH="0" baseline="0" noProof="1">
              <a:ln>
                <a:noFill/>
                <a:prstDash val="sysDot"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0" y="0"/>
            <a:ext cx="199961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82404" y="1301090"/>
            <a:ext cx="1868488" cy="374417"/>
            <a:chOff x="501571" y="1269607"/>
            <a:chExt cx="1868488" cy="374417"/>
          </a:xfrm>
        </p:grpSpPr>
        <p:sp>
          <p:nvSpPr>
            <p:cNvPr id="26" name="文本框 25"/>
            <p:cNvSpPr txBox="1"/>
            <p:nvPr/>
          </p:nvSpPr>
          <p:spPr>
            <a:xfrm>
              <a:off x="501571" y="1269607"/>
              <a:ext cx="1868488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一、场外衍生品概述</a:t>
              </a: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180473" y="1802299"/>
            <a:ext cx="1996546" cy="374417"/>
            <a:chOff x="501571" y="1269607"/>
            <a:chExt cx="1996546" cy="374417"/>
          </a:xfrm>
        </p:grpSpPr>
        <p:sp>
          <p:nvSpPr>
            <p:cNvPr id="41" name="文本框 40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二、监管、法律及格局</a:t>
              </a: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180473" y="2291435"/>
            <a:ext cx="1996546" cy="374417"/>
            <a:chOff x="501571" y="1269607"/>
            <a:chExt cx="1996546" cy="374417"/>
          </a:xfrm>
        </p:grpSpPr>
        <p:sp>
          <p:nvSpPr>
            <p:cNvPr id="44" name="文本框 43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三、互换、远期</a:t>
              </a:r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180473" y="2843258"/>
            <a:ext cx="1996546" cy="374417"/>
            <a:chOff x="501571" y="1269607"/>
            <a:chExt cx="1996546" cy="374417"/>
          </a:xfrm>
        </p:grpSpPr>
        <p:sp>
          <p:nvSpPr>
            <p:cNvPr id="47" name="文本框 46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四、场外期权</a:t>
              </a: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175419" y="6034419"/>
            <a:ext cx="1996546" cy="374417"/>
            <a:chOff x="501571" y="1269607"/>
            <a:chExt cx="1996546" cy="374417"/>
          </a:xfrm>
        </p:grpSpPr>
        <p:sp>
          <p:nvSpPr>
            <p:cNvPr id="50" name="文本框 49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五、应用及业务开展</a:t>
              </a: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: 剪去对角 76"/>
          <p:cNvSpPr/>
          <p:nvPr/>
        </p:nvSpPr>
        <p:spPr>
          <a:xfrm>
            <a:off x="2461970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267426" y="3214747"/>
            <a:ext cx="322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86690" y="3242945"/>
            <a:ext cx="1875790" cy="2576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、场外期权产品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（一）欧式香草期权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（二）常见欧式香草期权组合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（三）鲨鱼鳍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（四）欧式二元&amp;美式二元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（五）自动赎回二元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（六）雪球结构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（七）凤凰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（八）FCN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附录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2、场外期权风险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9596755" y="4236149"/>
            <a:ext cx="240196" cy="0"/>
          </a:xfrm>
          <a:prstGeom prst="line">
            <a:avLst/>
          </a:prstGeom>
          <a:ln w="19050" cap="flat" cmpd="sng" algn="ctr">
            <a:solidFill>
              <a:srgbClr val="4472C4"/>
            </a:solidFill>
            <a:prstDash val="sysDot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874563" y="4063297"/>
            <a:ext cx="271948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敲入观察日（每日）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敲入障碍价格</a:t>
            </a:r>
          </a:p>
        </p:txBody>
      </p:sp>
      <p:sp>
        <p:nvSpPr>
          <p:cNvPr id="12" name="椭圆 11"/>
          <p:cNvSpPr/>
          <p:nvPr/>
        </p:nvSpPr>
        <p:spPr>
          <a:xfrm>
            <a:off x="9693910" y="4549775"/>
            <a:ext cx="97155" cy="1016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74563" y="4470315"/>
            <a:ext cx="271948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敲出观察日（每月）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敲出障碍价格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64490"/>
            <a:ext cx="1390015" cy="2724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对话气泡: 圆角矩形 103"/>
          <p:cNvSpPr/>
          <p:nvPr/>
        </p:nvSpPr>
        <p:spPr>
          <a:xfrm>
            <a:off x="3946525" y="1713230"/>
            <a:ext cx="4773295" cy="1036320"/>
          </a:xfrm>
          <a:prstGeom prst="wedgeRoundRectCallout">
            <a:avLst>
              <a:gd name="adj1" fmla="val 4010"/>
              <a:gd name="adj2" fmla="val 199387"/>
              <a:gd name="adj3" fmla="val 16667"/>
            </a:avLst>
          </a:prstGeom>
          <a:ln>
            <a:solidFill>
              <a:srgbClr val="C00000"/>
            </a:solidFill>
          </a:ln>
        </p:spPr>
        <p:style>
          <a:lnRef idx="2">
            <a:srgbClr val="70AD47"/>
          </a:lnRef>
          <a:fillRef idx="1">
            <a:sysClr val="window" lastClr="FFFFFF"/>
          </a:fillRef>
          <a:effectRef idx="0">
            <a:srgbClr val="70AD47"/>
          </a:effectRef>
          <a:fontRef idx="minor">
            <a:sysClr val="windowText" lastClr="000000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存续期间，标的资产价格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敲入障碍价格，视作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发生敲入事件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如到期仍未发生敲出，则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有可能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面临本金亏损。</a:t>
            </a:r>
          </a:p>
        </p:txBody>
      </p:sp>
      <p:cxnSp>
        <p:nvCxnSpPr>
          <p:cNvPr id="60" name="直接箭头连接符 59"/>
          <p:cNvCxnSpPr/>
          <p:nvPr/>
        </p:nvCxnSpPr>
        <p:spPr>
          <a:xfrm flipV="1">
            <a:off x="3273181" y="2220758"/>
            <a:ext cx="0" cy="24748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cxnSp>
        <p:nvCxnSpPr>
          <p:cNvPr id="61" name="直接箭头连接符 60"/>
          <p:cNvCxnSpPr/>
          <p:nvPr/>
        </p:nvCxnSpPr>
        <p:spPr>
          <a:xfrm flipV="1">
            <a:off x="3273181" y="3416932"/>
            <a:ext cx="6671958" cy="14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3273181" y="4452617"/>
            <a:ext cx="6408000" cy="0"/>
          </a:xfrm>
          <a:prstGeom prst="line">
            <a:avLst/>
          </a:prstGeom>
          <a:ln w="28575">
            <a:prstDash val="sysDot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3273181" y="3231181"/>
            <a:ext cx="6409055" cy="0"/>
          </a:xfrm>
          <a:prstGeom prst="line">
            <a:avLst/>
          </a:prstGeom>
          <a:ln w="28575">
            <a:solidFill>
              <a:sysClr val="window" lastClr="FFFFFF">
                <a:lumMod val="85000"/>
              </a:sysClr>
            </a:solidFill>
            <a:prstDash val="sysDash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sp>
        <p:nvSpPr>
          <p:cNvPr id="64" name="椭圆 63"/>
          <p:cNvSpPr/>
          <p:nvPr/>
        </p:nvSpPr>
        <p:spPr>
          <a:xfrm>
            <a:off x="3605616" y="3198742"/>
            <a:ext cx="54000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4142216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7361666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9507966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4678791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0" name="椭圆 119"/>
          <p:cNvSpPr/>
          <p:nvPr/>
        </p:nvSpPr>
        <p:spPr>
          <a:xfrm>
            <a:off x="5215366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1" name="椭圆 120"/>
          <p:cNvSpPr/>
          <p:nvPr/>
        </p:nvSpPr>
        <p:spPr>
          <a:xfrm>
            <a:off x="5751941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3" name="椭圆 122"/>
          <p:cNvSpPr/>
          <p:nvPr/>
        </p:nvSpPr>
        <p:spPr>
          <a:xfrm>
            <a:off x="7898241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8434816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8971391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6288516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2646045" y="1848485"/>
            <a:ext cx="11995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标的价格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9865995" y="3252470"/>
            <a:ext cx="701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216785" y="2860675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105%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216785" y="4281170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216785" y="3416935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期初价格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217420" y="5127625"/>
            <a:ext cx="9585960" cy="4375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上图情景期间敲入且到期未敲出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，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本金亏损，客户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无法收回全部预付金，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亏损【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40%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*10000万=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4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000万】。</a:t>
            </a:r>
          </a:p>
        </p:txBody>
      </p:sp>
      <p:sp>
        <p:nvSpPr>
          <p:cNvPr id="122" name="椭圆 121"/>
          <p:cNvSpPr/>
          <p:nvPr/>
        </p:nvSpPr>
        <p:spPr>
          <a:xfrm>
            <a:off x="6825091" y="3198742"/>
            <a:ext cx="53975" cy="540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爆炸形: 8 pt  52"/>
          <p:cNvSpPr>
            <a:spLocks noChangeAspect="1"/>
          </p:cNvSpPr>
          <p:nvPr/>
        </p:nvSpPr>
        <p:spPr>
          <a:xfrm>
            <a:off x="6288619" y="4306866"/>
            <a:ext cx="246215" cy="246215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33" name="直接连接符 132"/>
          <p:cNvCxnSpPr>
            <a:stCxn id="127" idx="4"/>
          </p:cNvCxnSpPr>
          <p:nvPr/>
        </p:nvCxnSpPr>
        <p:spPr>
          <a:xfrm flipH="1" flipV="1">
            <a:off x="9604375" y="3437255"/>
            <a:ext cx="0" cy="1384300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4" name="文本框 133"/>
          <p:cNvSpPr txBox="1"/>
          <p:nvPr/>
        </p:nvSpPr>
        <p:spPr>
          <a:xfrm>
            <a:off x="9784715" y="3822065"/>
            <a:ext cx="65087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亏损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</a:t>
            </a:r>
          </a:p>
        </p:txBody>
      </p:sp>
      <p:sp>
        <p:nvSpPr>
          <p:cNvPr id="135" name="右大括号 134"/>
          <p:cNvSpPr/>
          <p:nvPr/>
        </p:nvSpPr>
        <p:spPr>
          <a:xfrm>
            <a:off x="9600565" y="3463925"/>
            <a:ext cx="144145" cy="1290955"/>
          </a:xfrm>
          <a:prstGeom prst="rightBrace">
            <a:avLst>
              <a:gd name="adj1" fmla="val 0"/>
              <a:gd name="adj2" fmla="val 50226"/>
            </a:avLst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17420" y="5739130"/>
            <a:ext cx="9585960" cy="8661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综上，客户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持标的温和看涨观点，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购买雪球产品，赌指数不会跌到敲入线下。且雪球产品客户胜率高，大跌的发生是一个小概率事件。但是小概率的事情不代表不会发生，如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2024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年初，A股大盘崩溃式下杀，导致很多雪球产品挂钩的指数跌破敲入点位，客户需承担亏损。</a:t>
            </a:r>
          </a:p>
        </p:txBody>
      </p:sp>
      <p:sp>
        <p:nvSpPr>
          <p:cNvPr id="32" name="任意多边形 31"/>
          <p:cNvSpPr/>
          <p:nvPr/>
        </p:nvSpPr>
        <p:spPr>
          <a:xfrm>
            <a:off x="3265170" y="3458210"/>
            <a:ext cx="6337300" cy="1363345"/>
          </a:xfrm>
          <a:custGeom>
            <a:avLst/>
            <a:gdLst>
              <a:gd name="connisteX0" fmla="*/ 0 w 6337300"/>
              <a:gd name="connsiteY0" fmla="*/ 0 h 1363317"/>
              <a:gd name="connisteX1" fmla="*/ 914400 w 6337300"/>
              <a:gd name="connsiteY1" fmla="*/ 1130300 h 1363317"/>
              <a:gd name="connisteX2" fmla="*/ 1854200 w 6337300"/>
              <a:gd name="connsiteY2" fmla="*/ 533400 h 1363317"/>
              <a:gd name="connisteX3" fmla="*/ 2641600 w 6337300"/>
              <a:gd name="connsiteY3" fmla="*/ 279400 h 1363317"/>
              <a:gd name="connisteX4" fmla="*/ 3289300 w 6337300"/>
              <a:gd name="connsiteY4" fmla="*/ 736600 h 1363317"/>
              <a:gd name="connisteX5" fmla="*/ 4203700 w 6337300"/>
              <a:gd name="connsiteY5" fmla="*/ 1320800 h 1363317"/>
              <a:gd name="connisteX6" fmla="*/ 6337300 w 6337300"/>
              <a:gd name="connsiteY6" fmla="*/ 1295400 h 1363317"/>
              <a:gd name="connisteX7" fmla="*/ 6286500 w 6337300"/>
              <a:gd name="connsiteY7" fmla="*/ 1358900 h 136331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6337300" h="1363317">
                <a:moveTo>
                  <a:pt x="0" y="0"/>
                </a:moveTo>
                <a:cubicBezTo>
                  <a:pt x="163830" y="238125"/>
                  <a:pt x="543560" y="1023620"/>
                  <a:pt x="914400" y="1130300"/>
                </a:cubicBezTo>
                <a:cubicBezTo>
                  <a:pt x="1285240" y="1236980"/>
                  <a:pt x="1508760" y="703580"/>
                  <a:pt x="1854200" y="533400"/>
                </a:cubicBezTo>
                <a:cubicBezTo>
                  <a:pt x="2199640" y="363220"/>
                  <a:pt x="2354580" y="238760"/>
                  <a:pt x="2641600" y="279400"/>
                </a:cubicBezTo>
                <a:cubicBezTo>
                  <a:pt x="2928620" y="320040"/>
                  <a:pt x="2976880" y="528320"/>
                  <a:pt x="3289300" y="736600"/>
                </a:cubicBezTo>
                <a:cubicBezTo>
                  <a:pt x="3601720" y="944880"/>
                  <a:pt x="3594100" y="1209040"/>
                  <a:pt x="4203700" y="1320800"/>
                </a:cubicBezTo>
                <a:cubicBezTo>
                  <a:pt x="4813300" y="1432560"/>
                  <a:pt x="5920740" y="1287780"/>
                  <a:pt x="6337300" y="1295400"/>
                </a:cubicBezTo>
              </a:path>
            </a:pathLst>
          </a:custGeom>
          <a:noFill/>
          <a:ln w="38100">
            <a:solidFill>
              <a:srgbClr val="ED7D3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7" name="椭圆 126"/>
          <p:cNvSpPr/>
          <p:nvPr/>
        </p:nvSpPr>
        <p:spPr>
          <a:xfrm>
            <a:off x="9561830" y="4730115"/>
            <a:ext cx="85090" cy="9144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91765" y="848360"/>
            <a:ext cx="5985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期间发生敲入且持有到期：客户可能亏损</a:t>
            </a:r>
          </a:p>
        </p:txBody>
      </p:sp>
      <p:sp>
        <p:nvSpPr>
          <p:cNvPr id="53" name="标题 4"/>
          <p:cNvSpPr>
            <a:spLocks noGrp="1"/>
          </p:cNvSpPr>
          <p:nvPr/>
        </p:nvSpPr>
        <p:spPr>
          <a:xfrm>
            <a:off x="2946400" y="-45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经典雪球</a:t>
            </a:r>
            <a:r>
              <a:rPr kumimoji="0" lang="en-US" altLang="zh-CN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——</a:t>
            </a: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情景分析图</a:t>
            </a:r>
            <a:endParaRPr kumimoji="0" lang="zh-CN" altLang="en-US" sz="2800" b="1" i="0" u="none" strike="noStrike" kern="1200" cap="none" spc="300" normalizeH="0" baseline="0" noProof="1">
              <a:ln>
                <a:noFill/>
                <a:prstDash val="sysDot"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0" y="0"/>
            <a:ext cx="199961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82404" y="1301090"/>
            <a:ext cx="1868488" cy="374417"/>
            <a:chOff x="501571" y="1269607"/>
            <a:chExt cx="1868488" cy="374417"/>
          </a:xfrm>
        </p:grpSpPr>
        <p:sp>
          <p:nvSpPr>
            <p:cNvPr id="26" name="文本框 25"/>
            <p:cNvSpPr txBox="1"/>
            <p:nvPr/>
          </p:nvSpPr>
          <p:spPr>
            <a:xfrm>
              <a:off x="501571" y="1269607"/>
              <a:ext cx="1868488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一、场外衍生品概述</a:t>
              </a: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180473" y="1802299"/>
            <a:ext cx="1996546" cy="374417"/>
            <a:chOff x="501571" y="1269607"/>
            <a:chExt cx="1996546" cy="374417"/>
          </a:xfrm>
        </p:grpSpPr>
        <p:sp>
          <p:nvSpPr>
            <p:cNvPr id="41" name="文本框 40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二、监管、法律及格局</a:t>
              </a: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180473" y="2291435"/>
            <a:ext cx="1996546" cy="374417"/>
            <a:chOff x="501571" y="1269607"/>
            <a:chExt cx="1996546" cy="374417"/>
          </a:xfrm>
        </p:grpSpPr>
        <p:sp>
          <p:nvSpPr>
            <p:cNvPr id="44" name="文本框 43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三、互换、远期</a:t>
              </a:r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180473" y="2843258"/>
            <a:ext cx="1996546" cy="374417"/>
            <a:chOff x="501571" y="1269607"/>
            <a:chExt cx="1996546" cy="374417"/>
          </a:xfrm>
        </p:grpSpPr>
        <p:sp>
          <p:nvSpPr>
            <p:cNvPr id="47" name="文本框 46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四、场外期权</a:t>
              </a: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175419" y="6034419"/>
            <a:ext cx="1996546" cy="374417"/>
            <a:chOff x="501571" y="1269607"/>
            <a:chExt cx="1996546" cy="374417"/>
          </a:xfrm>
        </p:grpSpPr>
        <p:sp>
          <p:nvSpPr>
            <p:cNvPr id="50" name="文本框 49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五、应用及业务开展</a:t>
              </a: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: 剪去对角 76"/>
          <p:cNvSpPr/>
          <p:nvPr/>
        </p:nvSpPr>
        <p:spPr>
          <a:xfrm>
            <a:off x="2461970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267426" y="3214747"/>
            <a:ext cx="322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86690" y="3242945"/>
            <a:ext cx="1875790" cy="2576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、场外期权产品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（一）欧式香草期权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（二）常见欧式香草期权组合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（三）鲨鱼鳍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（四）欧式二元&amp;美式二元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（五）自动赎回二元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（六）雪球结构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（七）凤凰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（八）FCN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附录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2、场外期权风险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9149080" y="2032699"/>
            <a:ext cx="240196" cy="0"/>
          </a:xfrm>
          <a:prstGeom prst="line">
            <a:avLst/>
          </a:prstGeom>
          <a:ln w="19050" cap="flat" cmpd="sng" algn="ctr">
            <a:solidFill>
              <a:srgbClr val="4472C4"/>
            </a:solidFill>
            <a:prstDash val="sysDot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389423" y="1910012"/>
            <a:ext cx="271948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敲入观察日（每日）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敲入障碍价格</a:t>
            </a:r>
          </a:p>
        </p:txBody>
      </p:sp>
      <p:sp>
        <p:nvSpPr>
          <p:cNvPr id="13" name="椭圆 12"/>
          <p:cNvSpPr/>
          <p:nvPr/>
        </p:nvSpPr>
        <p:spPr>
          <a:xfrm>
            <a:off x="9208770" y="2396490"/>
            <a:ext cx="97155" cy="1016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389423" y="2317030"/>
            <a:ext cx="271948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敲出观察日（每月）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敲出障碍价格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64490"/>
            <a:ext cx="1390015" cy="2724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312035" y="2719070"/>
            <a:ext cx="2803525" cy="35166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txBody>
          <a:bodyPr wrap="square" rtlCol="0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凤凰结构（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Phoenix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会约定一个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票息障碍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（如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80%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，只要在存续期间，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派息观察日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（按月观察）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的标的资产价格大于等于该水平，投资者就可以获得对应的月度票息。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8" name="组合 17"/>
          <p:cNvGrpSpPr/>
          <p:nvPr>
            <p:custDataLst>
              <p:tags r:id="rId2"/>
            </p:custDataLst>
          </p:nvPr>
        </p:nvGrpSpPr>
        <p:grpSpPr>
          <a:xfrm>
            <a:off x="2211070" y="1986915"/>
            <a:ext cx="2978785" cy="4370705"/>
            <a:chOff x="4132458" y="4123944"/>
            <a:chExt cx="5441388" cy="790073"/>
          </a:xfrm>
        </p:grpSpPr>
        <p:cxnSp>
          <p:nvCxnSpPr>
            <p:cNvPr id="24" name="直接连接符 23"/>
            <p:cNvCxnSpPr/>
            <p:nvPr>
              <p:custDataLst>
                <p:tags r:id="rId12"/>
              </p:custDataLst>
            </p:nvPr>
          </p:nvCxnSpPr>
          <p:spPr>
            <a:xfrm flipH="1" flipV="1">
              <a:off x="4139441" y="4136482"/>
              <a:ext cx="5434405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/>
            <p:cNvSpPr/>
            <p:nvPr>
              <p:custDataLst>
                <p:tags r:id="rId13"/>
              </p:custDataLst>
            </p:nvPr>
          </p:nvSpPr>
          <p:spPr>
            <a:xfrm>
              <a:off x="4132458" y="4123944"/>
              <a:ext cx="5441310" cy="790073"/>
            </a:xfrm>
            <a:prstGeom prst="rect">
              <a:avLst/>
            </a:prstGeom>
            <a:ln w="12700">
              <a:solidFill>
                <a:schemeClr val="tx2">
                  <a:alpha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6" name="圆角矩形 25"/>
          <p:cNvSpPr/>
          <p:nvPr>
            <p:custDataLst>
              <p:tags r:id="rId3"/>
            </p:custDataLst>
          </p:nvPr>
        </p:nvSpPr>
        <p:spPr>
          <a:xfrm>
            <a:off x="2218055" y="2217420"/>
            <a:ext cx="2974975" cy="340360"/>
          </a:xfrm>
          <a:prstGeom prst="roundRect">
            <a:avLst/>
          </a:prstGeom>
          <a:noFill/>
          <a:ln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按月付息</a:t>
            </a:r>
          </a:p>
        </p:txBody>
      </p:sp>
      <p:grpSp>
        <p:nvGrpSpPr>
          <p:cNvPr id="28" name="组合 27"/>
          <p:cNvGrpSpPr/>
          <p:nvPr>
            <p:custDataLst>
              <p:tags r:id="rId4"/>
            </p:custDataLst>
          </p:nvPr>
        </p:nvGrpSpPr>
        <p:grpSpPr>
          <a:xfrm>
            <a:off x="5338445" y="1992630"/>
            <a:ext cx="2978150" cy="4371340"/>
            <a:chOff x="4132458" y="4123944"/>
            <a:chExt cx="5441388" cy="790073"/>
          </a:xfrm>
        </p:grpSpPr>
        <p:cxnSp>
          <p:nvCxnSpPr>
            <p:cNvPr id="29" name="直接连接符 28"/>
            <p:cNvCxnSpPr/>
            <p:nvPr>
              <p:custDataLst>
                <p:tags r:id="rId10"/>
              </p:custDataLst>
            </p:nvPr>
          </p:nvCxnSpPr>
          <p:spPr>
            <a:xfrm flipH="1" flipV="1">
              <a:off x="4139441" y="4136482"/>
              <a:ext cx="5434405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>
              <p:custDataLst>
                <p:tags r:id="rId11"/>
              </p:custDataLst>
            </p:nvPr>
          </p:nvSpPr>
          <p:spPr>
            <a:xfrm>
              <a:off x="4132458" y="4123944"/>
              <a:ext cx="5441310" cy="790073"/>
            </a:xfrm>
            <a:prstGeom prst="rect">
              <a:avLst/>
            </a:prstGeom>
            <a:ln w="12700">
              <a:solidFill>
                <a:schemeClr val="tx2">
                  <a:alpha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379980" y="1172210"/>
            <a:ext cx="52851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主要卖点</a:t>
            </a:r>
          </a:p>
        </p:txBody>
      </p:sp>
      <p:sp>
        <p:nvSpPr>
          <p:cNvPr id="5" name="圆角矩形 4"/>
          <p:cNvSpPr/>
          <p:nvPr>
            <p:custDataLst>
              <p:tags r:id="rId5"/>
            </p:custDataLst>
          </p:nvPr>
        </p:nvSpPr>
        <p:spPr>
          <a:xfrm>
            <a:off x="5338445" y="2223135"/>
            <a:ext cx="2974975" cy="340360"/>
          </a:xfrm>
          <a:prstGeom prst="roundRect">
            <a:avLst/>
          </a:prstGeom>
          <a:noFill/>
          <a:ln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自动赎回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437505" y="2724785"/>
            <a:ext cx="2803525" cy="35179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txBody>
          <a:bodyPr wrap="square" rtlCol="0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同雪球结构类似，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凤凰结构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会设定一个按月观察的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敲出障碍价格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（100%+，亦可约定锁定期，锁定期内不作敲出观察）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，当在敲出观察日，价格大于或等于敲出障碍价格时，产品将提前结束。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027795" y="2741930"/>
            <a:ext cx="2802890" cy="35172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txBody>
          <a:bodyPr wrap="square" rtlCol="0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同雪球结构类似，存在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每日观察的敲入障碍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（如80%）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。存续期间产品如果发生敲入，且到期并未敲出，投资者可能面临亏损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（已支付的票息不计）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，有可能会损失一部分期初预付金，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损失幅度一般和指数跌幅相当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。</a:t>
            </a: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8940165" y="1999615"/>
            <a:ext cx="2978150" cy="4370705"/>
            <a:chOff x="4132458" y="4123944"/>
            <a:chExt cx="5441388" cy="790073"/>
          </a:xfrm>
        </p:grpSpPr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4139441" y="4136482"/>
              <a:ext cx="5434405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>
              <p:custDataLst>
                <p:tags r:id="rId9"/>
              </p:custDataLst>
            </p:nvPr>
          </p:nvSpPr>
          <p:spPr>
            <a:xfrm>
              <a:off x="4132458" y="4123944"/>
              <a:ext cx="5441310" cy="790073"/>
            </a:xfrm>
            <a:prstGeom prst="rect">
              <a:avLst/>
            </a:prstGeom>
            <a:ln w="12700">
              <a:solidFill>
                <a:schemeClr val="tx2">
                  <a:alpha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1" name="圆角矩形 10"/>
          <p:cNvSpPr/>
          <p:nvPr>
            <p:custDataLst>
              <p:tags r:id="rId7"/>
            </p:custDataLst>
          </p:nvPr>
        </p:nvSpPr>
        <p:spPr>
          <a:xfrm>
            <a:off x="8947150" y="2077720"/>
            <a:ext cx="2978150" cy="4370705"/>
          </a:xfrm>
          <a:prstGeom prst="roundRect">
            <a:avLst/>
          </a:prstGeom>
          <a:noFill/>
          <a:ln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敲入未敲出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128760" y="1175385"/>
            <a:ext cx="52851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主要风险点</a:t>
            </a:r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199961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82404" y="1301090"/>
            <a:ext cx="1868488" cy="374417"/>
            <a:chOff x="501571" y="1269607"/>
            <a:chExt cx="1868488" cy="374417"/>
          </a:xfrm>
        </p:grpSpPr>
        <p:sp>
          <p:nvSpPr>
            <p:cNvPr id="36" name="文本框 35"/>
            <p:cNvSpPr txBox="1"/>
            <p:nvPr/>
          </p:nvSpPr>
          <p:spPr>
            <a:xfrm>
              <a:off x="501571" y="1269607"/>
              <a:ext cx="1868488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一、场外衍生品概述</a:t>
              </a: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180473" y="1802299"/>
            <a:ext cx="1996546" cy="374417"/>
            <a:chOff x="501571" y="1269607"/>
            <a:chExt cx="1996546" cy="374417"/>
          </a:xfrm>
        </p:grpSpPr>
        <p:sp>
          <p:nvSpPr>
            <p:cNvPr id="41" name="文本框 40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二、监管、法律及格局</a:t>
              </a: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180473" y="2291435"/>
            <a:ext cx="1996546" cy="374417"/>
            <a:chOff x="501571" y="1269607"/>
            <a:chExt cx="1996546" cy="374417"/>
          </a:xfrm>
        </p:grpSpPr>
        <p:sp>
          <p:nvSpPr>
            <p:cNvPr id="44" name="文本框 43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三、互换、远期</a:t>
              </a:r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180473" y="2843258"/>
            <a:ext cx="1996546" cy="374417"/>
            <a:chOff x="501571" y="1269607"/>
            <a:chExt cx="1996546" cy="374417"/>
          </a:xfrm>
        </p:grpSpPr>
        <p:sp>
          <p:nvSpPr>
            <p:cNvPr id="47" name="文本框 46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四、场外期权</a:t>
              </a: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175419" y="6034419"/>
            <a:ext cx="1996546" cy="374417"/>
            <a:chOff x="501571" y="1269607"/>
            <a:chExt cx="1996546" cy="374417"/>
          </a:xfrm>
        </p:grpSpPr>
        <p:sp>
          <p:nvSpPr>
            <p:cNvPr id="50" name="文本框 49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五、应用及业务开展</a:t>
              </a: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矩形: 剪去对角 76"/>
          <p:cNvSpPr/>
          <p:nvPr/>
        </p:nvSpPr>
        <p:spPr>
          <a:xfrm>
            <a:off x="2461970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267426" y="3214747"/>
            <a:ext cx="322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86690" y="3242945"/>
            <a:ext cx="1875790" cy="2576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、场外期权产品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（一）欧式香草期权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（二）常见欧式香草期权组合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（三）鲨鱼鳍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（四）欧式二元&amp;美式二元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（五）自动赎回二元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（六）雪球结构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（七）凤凰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（八）FCN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附录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2、场外期权风险</a:t>
            </a:r>
          </a:p>
        </p:txBody>
      </p:sp>
      <p:sp>
        <p:nvSpPr>
          <p:cNvPr id="86" name="标题 4"/>
          <p:cNvSpPr>
            <a:spLocks noGrp="1"/>
          </p:cNvSpPr>
          <p:nvPr/>
        </p:nvSpPr>
        <p:spPr>
          <a:xfrm>
            <a:off x="2946400" y="-45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凤凰结构概述</a:t>
            </a:r>
            <a:endParaRPr kumimoji="0" lang="zh-CN" altLang="en-US" sz="2800" b="1" i="0" u="none" strike="noStrike" kern="1200" cap="none" spc="300" normalizeH="0" baseline="0" noProof="1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64490"/>
            <a:ext cx="1390015" cy="2724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8625205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345295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083165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808335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1524615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905115" y="2997200"/>
            <a:ext cx="161290" cy="13779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197090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454775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760720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047615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2946663" y="2542078"/>
            <a:ext cx="0" cy="2809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2946663" y="3909992"/>
            <a:ext cx="88817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037707" y="4509349"/>
            <a:ext cx="8567553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946663" y="3069139"/>
            <a:ext cx="8658597" cy="1934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5091766" y="299720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805400" y="299720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502084" y="299720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7235403" y="299720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7949760" y="299720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8664136" y="299720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9396820" y="299720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10127895" y="299720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10849445" y="299720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748090" y="932797"/>
            <a:ext cx="44386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）到期前敲出（无论是否发生过敲入）</a:t>
            </a:r>
          </a:p>
        </p:txBody>
      </p:sp>
      <p:pic>
        <p:nvPicPr>
          <p:cNvPr id="55" name="图形 54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8358" y="2694847"/>
            <a:ext cx="281979" cy="281979"/>
          </a:xfrm>
          <a:prstGeom prst="rect">
            <a:avLst/>
          </a:prstGeom>
        </p:spPr>
      </p:pic>
      <p:pic>
        <p:nvPicPr>
          <p:cNvPr id="56" name="图形 55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41883" y="2675430"/>
            <a:ext cx="281979" cy="281979"/>
          </a:xfrm>
          <a:prstGeom prst="rect">
            <a:avLst/>
          </a:prstGeom>
        </p:spPr>
      </p:pic>
      <p:pic>
        <p:nvPicPr>
          <p:cNvPr id="57" name="图形 56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3726" y="2667298"/>
            <a:ext cx="281979" cy="281979"/>
          </a:xfrm>
          <a:prstGeom prst="rect">
            <a:avLst/>
          </a:prstGeom>
        </p:spPr>
      </p:pic>
      <p:pic>
        <p:nvPicPr>
          <p:cNvPr id="58" name="图形 57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8091" y="2669009"/>
            <a:ext cx="281979" cy="281979"/>
          </a:xfrm>
          <a:prstGeom prst="rect">
            <a:avLst/>
          </a:prstGeom>
        </p:spPr>
      </p:pic>
      <p:pic>
        <p:nvPicPr>
          <p:cNvPr id="59" name="图形 58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54923" y="2664785"/>
            <a:ext cx="281979" cy="281979"/>
          </a:xfrm>
          <a:prstGeom prst="rect">
            <a:avLst/>
          </a:prstGeom>
        </p:spPr>
      </p:pic>
      <p:pic>
        <p:nvPicPr>
          <p:cNvPr id="60" name="图形 59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6378" y="2696732"/>
            <a:ext cx="281979" cy="281979"/>
          </a:xfrm>
          <a:prstGeom prst="rect">
            <a:avLst/>
          </a:prstGeom>
        </p:spPr>
      </p:pic>
      <p:sp>
        <p:nvSpPr>
          <p:cNvPr id="71" name="椭圆 70"/>
          <p:cNvSpPr/>
          <p:nvPr/>
        </p:nvSpPr>
        <p:spPr>
          <a:xfrm>
            <a:off x="11560370" y="299720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4" name="直接连接符 3"/>
          <p:cNvCxnSpPr>
            <a:stCxn id="31" idx="2"/>
          </p:cNvCxnSpPr>
          <p:nvPr/>
        </p:nvCxnSpPr>
        <p:spPr>
          <a:xfrm flipH="1">
            <a:off x="3675015" y="3124258"/>
            <a:ext cx="1905" cy="128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32" idx="2"/>
          </p:cNvCxnSpPr>
          <p:nvPr/>
        </p:nvCxnSpPr>
        <p:spPr>
          <a:xfrm>
            <a:off x="4381597" y="3124398"/>
            <a:ext cx="0" cy="13271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34" idx="4"/>
          </p:cNvCxnSpPr>
          <p:nvPr/>
        </p:nvCxnSpPr>
        <p:spPr>
          <a:xfrm>
            <a:off x="5128018" y="3069013"/>
            <a:ext cx="635" cy="132524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35" idx="4"/>
          </p:cNvCxnSpPr>
          <p:nvPr/>
        </p:nvCxnSpPr>
        <p:spPr>
          <a:xfrm flipH="1">
            <a:off x="5838066" y="3069013"/>
            <a:ext cx="3175" cy="13093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36" idx="4"/>
          </p:cNvCxnSpPr>
          <p:nvPr/>
        </p:nvCxnSpPr>
        <p:spPr>
          <a:xfrm flipH="1">
            <a:off x="6531177" y="3069013"/>
            <a:ext cx="7620" cy="13093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37" idx="5"/>
          </p:cNvCxnSpPr>
          <p:nvPr/>
        </p:nvCxnSpPr>
        <p:spPr>
          <a:xfrm flipH="1">
            <a:off x="7285850" y="3058358"/>
            <a:ext cx="10160" cy="13500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38" idx="4"/>
          </p:cNvCxnSpPr>
          <p:nvPr/>
        </p:nvCxnSpPr>
        <p:spPr>
          <a:xfrm flipH="1">
            <a:off x="7981311" y="3069153"/>
            <a:ext cx="4445" cy="13277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39" idx="4"/>
          </p:cNvCxnSpPr>
          <p:nvPr/>
        </p:nvCxnSpPr>
        <p:spPr>
          <a:xfrm>
            <a:off x="8699990" y="3069153"/>
            <a:ext cx="5715" cy="13277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40" idx="4"/>
          </p:cNvCxnSpPr>
          <p:nvPr/>
        </p:nvCxnSpPr>
        <p:spPr>
          <a:xfrm flipH="1">
            <a:off x="9426142" y="3068765"/>
            <a:ext cx="6985" cy="13855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41" idx="3"/>
          </p:cNvCxnSpPr>
          <p:nvPr/>
        </p:nvCxnSpPr>
        <p:spPr>
          <a:xfrm>
            <a:off x="10138483" y="3057970"/>
            <a:ext cx="1905" cy="14084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42" idx="4"/>
          </p:cNvCxnSpPr>
          <p:nvPr/>
        </p:nvCxnSpPr>
        <p:spPr>
          <a:xfrm>
            <a:off x="10885855" y="3068765"/>
            <a:ext cx="3810" cy="13989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71" idx="5"/>
          </p:cNvCxnSpPr>
          <p:nvPr/>
        </p:nvCxnSpPr>
        <p:spPr>
          <a:xfrm flipH="1">
            <a:off x="11604625" y="3057970"/>
            <a:ext cx="16510" cy="14084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图形 25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7297" y="2658536"/>
            <a:ext cx="318290" cy="318290"/>
          </a:xfrm>
          <a:prstGeom prst="rect">
            <a:avLst/>
          </a:prstGeom>
        </p:spPr>
      </p:pic>
      <p:sp>
        <p:nvSpPr>
          <p:cNvPr id="128" name="文本框 127"/>
          <p:cNvSpPr txBox="1"/>
          <p:nvPr/>
        </p:nvSpPr>
        <p:spPr>
          <a:xfrm>
            <a:off x="2422525" y="2230755"/>
            <a:ext cx="946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标的价格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11604625" y="3967480"/>
            <a:ext cx="7010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</a:p>
        </p:txBody>
      </p:sp>
      <p:sp>
        <p:nvSpPr>
          <p:cNvPr id="10" name="任意多边形 9"/>
          <p:cNvSpPr/>
          <p:nvPr/>
        </p:nvSpPr>
        <p:spPr>
          <a:xfrm>
            <a:off x="2956560" y="2481580"/>
            <a:ext cx="4309745" cy="2616200"/>
          </a:xfrm>
          <a:custGeom>
            <a:avLst/>
            <a:gdLst>
              <a:gd name="connisteX0" fmla="*/ 0 w 4309745"/>
              <a:gd name="connsiteY0" fmla="*/ 1439545 h 2615945"/>
              <a:gd name="connisteX1" fmla="*/ 194945 w 4309745"/>
              <a:gd name="connsiteY1" fmla="*/ 1083945 h 2615945"/>
              <a:gd name="connisteX2" fmla="*/ 1117600 w 4309745"/>
              <a:gd name="connsiteY2" fmla="*/ 1473200 h 2615945"/>
              <a:gd name="connisteX3" fmla="*/ 1998345 w 4309745"/>
              <a:gd name="connsiteY3" fmla="*/ 2235200 h 2615945"/>
              <a:gd name="connisteX4" fmla="*/ 2387600 w 4309745"/>
              <a:gd name="connsiteY4" fmla="*/ 2540000 h 2615945"/>
              <a:gd name="connisteX5" fmla="*/ 2675255 w 4309745"/>
              <a:gd name="connsiteY5" fmla="*/ 1125855 h 2615945"/>
              <a:gd name="connisteX6" fmla="*/ 3767455 w 4309745"/>
              <a:gd name="connsiteY6" fmla="*/ 652145 h 2615945"/>
              <a:gd name="connisteX7" fmla="*/ 4309745 w 4309745"/>
              <a:gd name="connsiteY7" fmla="*/ 0 h 2615945"/>
              <a:gd name="connisteX8" fmla="*/ 4563745 w 4309745"/>
              <a:gd name="connsiteY8" fmla="*/ -76200 h 26159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4309745" h="2615946">
                <a:moveTo>
                  <a:pt x="0" y="1439545"/>
                </a:moveTo>
                <a:cubicBezTo>
                  <a:pt x="20320" y="1360805"/>
                  <a:pt x="-28575" y="1076960"/>
                  <a:pt x="194945" y="1083945"/>
                </a:cubicBezTo>
                <a:cubicBezTo>
                  <a:pt x="418465" y="1090930"/>
                  <a:pt x="756920" y="1242695"/>
                  <a:pt x="1117600" y="1473200"/>
                </a:cubicBezTo>
                <a:cubicBezTo>
                  <a:pt x="1478280" y="1703705"/>
                  <a:pt x="1744345" y="2021840"/>
                  <a:pt x="1998345" y="2235200"/>
                </a:cubicBezTo>
                <a:cubicBezTo>
                  <a:pt x="2252345" y="2448560"/>
                  <a:pt x="2252345" y="2761615"/>
                  <a:pt x="2387600" y="2540000"/>
                </a:cubicBezTo>
                <a:cubicBezTo>
                  <a:pt x="2522855" y="2318385"/>
                  <a:pt x="2399030" y="1503680"/>
                  <a:pt x="2675255" y="1125855"/>
                </a:cubicBezTo>
                <a:cubicBezTo>
                  <a:pt x="2951480" y="748030"/>
                  <a:pt x="3440430" y="877570"/>
                  <a:pt x="3767455" y="652145"/>
                </a:cubicBezTo>
                <a:cubicBezTo>
                  <a:pt x="4094480" y="426720"/>
                  <a:pt x="4150360" y="145415"/>
                  <a:pt x="4309745" y="0"/>
                </a:cubicBezTo>
              </a:path>
            </a:pathLst>
          </a:custGeom>
          <a:noFill/>
          <a:ln w="38100">
            <a:solidFill>
              <a:srgbClr val="004F8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0" name="对话气泡: 圆角矩形 102"/>
          <p:cNvSpPr/>
          <p:nvPr/>
        </p:nvSpPr>
        <p:spPr>
          <a:xfrm flipH="1">
            <a:off x="3174365" y="1428115"/>
            <a:ext cx="1829435" cy="802640"/>
          </a:xfrm>
          <a:prstGeom prst="wedgeRoundRectCallout">
            <a:avLst>
              <a:gd name="adj1" fmla="val 21051"/>
              <a:gd name="adj2" fmla="val 110786"/>
              <a:gd name="adj3" fmla="val 16667"/>
            </a:avLst>
          </a:prstGeom>
          <a:solidFill>
            <a:sysClr val="window" lastClr="FFFFFF"/>
          </a:solidFill>
          <a:ln>
            <a:solidFill>
              <a:srgbClr val="ED7D31"/>
            </a:solidFill>
          </a:ln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敲出观察锁定期内，依旧进行票息观察。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948180" y="2891790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103%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948180" y="4330065"/>
            <a:ext cx="946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票息障碍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948180" y="3629025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期初价格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</a:p>
        </p:txBody>
      </p:sp>
      <p:sp>
        <p:nvSpPr>
          <p:cNvPr id="30" name="对话气泡: 圆角矩形 102"/>
          <p:cNvSpPr/>
          <p:nvPr/>
        </p:nvSpPr>
        <p:spPr>
          <a:xfrm flipH="1">
            <a:off x="5128895" y="1428115"/>
            <a:ext cx="2229485" cy="802640"/>
          </a:xfrm>
          <a:prstGeom prst="wedgeRoundRectCallout">
            <a:avLst>
              <a:gd name="adj1" fmla="val 43847"/>
              <a:gd name="adj2" fmla="val 105499"/>
              <a:gd name="adj3" fmla="val 16667"/>
            </a:avLst>
          </a:prstGeom>
          <a:solidFill>
            <a:sysClr val="window" lastClr="FFFFFF"/>
          </a:solidFill>
          <a:ln>
            <a:solidFill>
              <a:srgbClr val="C00000"/>
            </a:solidFill>
          </a:ln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票息观察日，标的价格低于票息障碍，本月无票息。</a:t>
            </a:r>
          </a:p>
        </p:txBody>
      </p:sp>
      <p:sp>
        <p:nvSpPr>
          <p:cNvPr id="31" name="矩形 30"/>
          <p:cNvSpPr/>
          <p:nvPr/>
        </p:nvSpPr>
        <p:spPr>
          <a:xfrm>
            <a:off x="3596005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300855" y="299720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248900" y="1900470"/>
            <a:ext cx="2651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敲出观察日（每月）</a:t>
            </a:r>
          </a:p>
        </p:txBody>
      </p:sp>
      <p:sp>
        <p:nvSpPr>
          <p:cNvPr id="63" name="椭圆 62"/>
          <p:cNvSpPr/>
          <p:nvPr/>
        </p:nvSpPr>
        <p:spPr>
          <a:xfrm>
            <a:off x="9902825" y="1991995"/>
            <a:ext cx="97155" cy="1016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0248900" y="2274485"/>
            <a:ext cx="2719705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敲入观察日（每日）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691765" y="5671820"/>
            <a:ext cx="8790940" cy="737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实际存续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6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个月，收取了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段月息，存续期间累计月息收益【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1%*5=5%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】，按月收取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;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虽然发生了敲入，但到期前敲出了，本金无亏损，收回全部预付金，客户实际投资收益为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5%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。</a:t>
            </a:r>
          </a:p>
        </p:txBody>
      </p:sp>
      <p:sp>
        <p:nvSpPr>
          <p:cNvPr id="67" name="矩形 66"/>
          <p:cNvSpPr/>
          <p:nvPr/>
        </p:nvSpPr>
        <p:spPr>
          <a:xfrm>
            <a:off x="9859010" y="16008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248900" y="1526455"/>
            <a:ext cx="27194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票息观察日（每月）</a:t>
            </a:r>
          </a:p>
        </p:txBody>
      </p:sp>
      <p:cxnSp>
        <p:nvCxnSpPr>
          <p:cNvPr id="69" name="直接连接符 68"/>
          <p:cNvCxnSpPr/>
          <p:nvPr/>
        </p:nvCxnSpPr>
        <p:spPr>
          <a:xfrm>
            <a:off x="9820142" y="2441154"/>
            <a:ext cx="360000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对话气泡: 圆角矩形 102"/>
          <p:cNvSpPr/>
          <p:nvPr/>
        </p:nvSpPr>
        <p:spPr>
          <a:xfrm flipH="1">
            <a:off x="7485380" y="1428115"/>
            <a:ext cx="2021205" cy="802640"/>
          </a:xfrm>
          <a:prstGeom prst="wedgeRoundRectCallout">
            <a:avLst>
              <a:gd name="adj1" fmla="val 49330"/>
              <a:gd name="adj2" fmla="val 120837"/>
              <a:gd name="adj3" fmla="val 16667"/>
            </a:avLst>
          </a:prstGeom>
          <a:solidFill>
            <a:sysClr val="window" lastClr="FFFFFF"/>
          </a:solidFill>
          <a:ln>
            <a:solidFill>
              <a:srgbClr val="0070C0"/>
            </a:solidFill>
          </a:ln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票息观察优先于敲出观察，即敲出观察日敲出也支付该月票息。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99961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82404" y="1301090"/>
            <a:ext cx="1868488" cy="374417"/>
            <a:chOff x="501571" y="1269607"/>
            <a:chExt cx="1868488" cy="374417"/>
          </a:xfrm>
        </p:grpSpPr>
        <p:sp>
          <p:nvSpPr>
            <p:cNvPr id="24" name="文本框 23"/>
            <p:cNvSpPr txBox="1"/>
            <p:nvPr/>
          </p:nvSpPr>
          <p:spPr>
            <a:xfrm>
              <a:off x="501571" y="1269607"/>
              <a:ext cx="1868488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一、场外衍生品概述</a:t>
              </a: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>
            <a:off x="180473" y="1802299"/>
            <a:ext cx="1996546" cy="374417"/>
            <a:chOff x="501571" y="1269607"/>
            <a:chExt cx="1996546" cy="374417"/>
          </a:xfrm>
        </p:grpSpPr>
        <p:sp>
          <p:nvSpPr>
            <p:cNvPr id="47" name="文本框 46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二、监管、法律及格局</a:t>
              </a:r>
            </a:p>
          </p:txBody>
        </p:sp>
        <p:cxnSp>
          <p:nvCxnSpPr>
            <p:cNvPr id="61" name="直接连接符 60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/>
          <p:cNvGrpSpPr/>
          <p:nvPr/>
        </p:nvGrpSpPr>
        <p:grpSpPr>
          <a:xfrm>
            <a:off x="180473" y="2291435"/>
            <a:ext cx="1996546" cy="374417"/>
            <a:chOff x="501571" y="1269607"/>
            <a:chExt cx="1996546" cy="374417"/>
          </a:xfrm>
        </p:grpSpPr>
        <p:sp>
          <p:nvSpPr>
            <p:cNvPr id="70" name="文本框 69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三、互换、远期</a:t>
              </a: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/>
        </p:nvGrpSpPr>
        <p:grpSpPr>
          <a:xfrm>
            <a:off x="180473" y="2843258"/>
            <a:ext cx="1996546" cy="374417"/>
            <a:chOff x="501571" y="1269607"/>
            <a:chExt cx="1996546" cy="374417"/>
          </a:xfrm>
        </p:grpSpPr>
        <p:sp>
          <p:nvSpPr>
            <p:cNvPr id="75" name="文本框 74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四、场外期权</a:t>
              </a: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175419" y="6034419"/>
            <a:ext cx="1996546" cy="374417"/>
            <a:chOff x="501571" y="1269607"/>
            <a:chExt cx="1996546" cy="374417"/>
          </a:xfrm>
        </p:grpSpPr>
        <p:sp>
          <p:nvSpPr>
            <p:cNvPr id="78" name="文本框 77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五、应用及业务开展</a:t>
              </a:r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矩形: 剪去对角 76"/>
          <p:cNvSpPr/>
          <p:nvPr/>
        </p:nvSpPr>
        <p:spPr>
          <a:xfrm>
            <a:off x="2461970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267426" y="3214747"/>
            <a:ext cx="322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186690" y="3242945"/>
            <a:ext cx="1875790" cy="2576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、场外期权产品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（一）欧式香草期权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（二）常见欧式香草期权组合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（三）鲨鱼鳍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（四）欧式二元&amp;美式二元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（五）自动赎回二元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（六）雪球结构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（七）凤凰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（八）FCN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附录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2、场外期权风险</a:t>
            </a:r>
          </a:p>
        </p:txBody>
      </p:sp>
      <p:sp>
        <p:nvSpPr>
          <p:cNvPr id="86" name="标题 4"/>
          <p:cNvSpPr>
            <a:spLocks noGrp="1"/>
          </p:cNvSpPr>
          <p:nvPr/>
        </p:nvSpPr>
        <p:spPr>
          <a:xfrm>
            <a:off x="2946400" y="-45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经典凤凰</a:t>
            </a:r>
            <a:r>
              <a:rPr kumimoji="0" lang="en-US" altLang="zh-CN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情景分析图</a:t>
            </a: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64490"/>
            <a:ext cx="1390015" cy="272415"/>
          </a:xfrm>
          <a:prstGeom prst="rect">
            <a:avLst/>
          </a:prstGeom>
        </p:spPr>
      </p:pic>
      <p:sp>
        <p:nvSpPr>
          <p:cNvPr id="25" name="爆炸形: 8 pt  24"/>
          <p:cNvSpPr>
            <a:spLocks noChangeAspect="1"/>
          </p:cNvSpPr>
          <p:nvPr/>
        </p:nvSpPr>
        <p:spPr>
          <a:xfrm>
            <a:off x="4615075" y="4414816"/>
            <a:ext cx="246215" cy="246215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8667750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387840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125710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850880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1567160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947660" y="2850515"/>
            <a:ext cx="161290" cy="13779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239635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497320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803265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090160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2989208" y="2395393"/>
            <a:ext cx="0" cy="2809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2989208" y="3765847"/>
            <a:ext cx="8898255" cy="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080252" y="4362664"/>
            <a:ext cx="8567553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989208" y="2922454"/>
            <a:ext cx="8658597" cy="1934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5134311" y="285051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847945" y="285051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544629" y="285051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7277948" y="285051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7992305" y="285051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8706681" y="285051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9439365" y="285051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10170440" y="285051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10891990" y="285051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55" name="图形 54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0903" y="2548162"/>
            <a:ext cx="281979" cy="281979"/>
          </a:xfrm>
          <a:prstGeom prst="rect">
            <a:avLst/>
          </a:prstGeom>
        </p:spPr>
      </p:pic>
      <p:pic>
        <p:nvPicPr>
          <p:cNvPr id="56" name="图形 55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4428" y="2528745"/>
            <a:ext cx="281979" cy="281979"/>
          </a:xfrm>
          <a:prstGeom prst="rect">
            <a:avLst/>
          </a:prstGeom>
        </p:spPr>
      </p:pic>
      <p:pic>
        <p:nvPicPr>
          <p:cNvPr id="57" name="图形 56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6271" y="2520613"/>
            <a:ext cx="281979" cy="281979"/>
          </a:xfrm>
          <a:prstGeom prst="rect">
            <a:avLst/>
          </a:prstGeom>
        </p:spPr>
      </p:pic>
      <p:pic>
        <p:nvPicPr>
          <p:cNvPr id="58" name="图形 57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20636" y="2522324"/>
            <a:ext cx="281979" cy="281979"/>
          </a:xfrm>
          <a:prstGeom prst="rect">
            <a:avLst/>
          </a:prstGeom>
        </p:spPr>
      </p:pic>
      <p:pic>
        <p:nvPicPr>
          <p:cNvPr id="59" name="图形 58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7468" y="2518100"/>
            <a:ext cx="281979" cy="281979"/>
          </a:xfrm>
          <a:prstGeom prst="rect">
            <a:avLst/>
          </a:prstGeom>
        </p:spPr>
      </p:pic>
      <p:pic>
        <p:nvPicPr>
          <p:cNvPr id="60" name="图形 59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923" y="2550047"/>
            <a:ext cx="281979" cy="281979"/>
          </a:xfrm>
          <a:prstGeom prst="rect">
            <a:avLst/>
          </a:prstGeom>
        </p:spPr>
      </p:pic>
      <p:sp>
        <p:nvSpPr>
          <p:cNvPr id="71" name="椭圆 70"/>
          <p:cNvSpPr/>
          <p:nvPr/>
        </p:nvSpPr>
        <p:spPr>
          <a:xfrm>
            <a:off x="11602915" y="285051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4" name="直接连接符 3"/>
          <p:cNvCxnSpPr>
            <a:stCxn id="31" idx="2"/>
          </p:cNvCxnSpPr>
          <p:nvPr/>
        </p:nvCxnSpPr>
        <p:spPr>
          <a:xfrm flipH="1">
            <a:off x="3717560" y="2977573"/>
            <a:ext cx="1905" cy="128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32" idx="2"/>
          </p:cNvCxnSpPr>
          <p:nvPr/>
        </p:nvCxnSpPr>
        <p:spPr>
          <a:xfrm>
            <a:off x="4424142" y="2977713"/>
            <a:ext cx="0" cy="13271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34" idx="4"/>
          </p:cNvCxnSpPr>
          <p:nvPr/>
        </p:nvCxnSpPr>
        <p:spPr>
          <a:xfrm>
            <a:off x="5170563" y="2922328"/>
            <a:ext cx="635" cy="132524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35" idx="4"/>
          </p:cNvCxnSpPr>
          <p:nvPr/>
        </p:nvCxnSpPr>
        <p:spPr>
          <a:xfrm flipH="1">
            <a:off x="5880611" y="2922328"/>
            <a:ext cx="3175" cy="13093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36" idx="4"/>
          </p:cNvCxnSpPr>
          <p:nvPr/>
        </p:nvCxnSpPr>
        <p:spPr>
          <a:xfrm flipH="1">
            <a:off x="6573722" y="2922328"/>
            <a:ext cx="7620" cy="13093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37" idx="5"/>
          </p:cNvCxnSpPr>
          <p:nvPr/>
        </p:nvCxnSpPr>
        <p:spPr>
          <a:xfrm flipH="1">
            <a:off x="7328395" y="2911673"/>
            <a:ext cx="10160" cy="13500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38" idx="4"/>
          </p:cNvCxnSpPr>
          <p:nvPr/>
        </p:nvCxnSpPr>
        <p:spPr>
          <a:xfrm flipH="1">
            <a:off x="8023856" y="2922468"/>
            <a:ext cx="4445" cy="13277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39" idx="4"/>
          </p:cNvCxnSpPr>
          <p:nvPr/>
        </p:nvCxnSpPr>
        <p:spPr>
          <a:xfrm>
            <a:off x="8742535" y="2922468"/>
            <a:ext cx="5715" cy="13277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40" idx="4"/>
          </p:cNvCxnSpPr>
          <p:nvPr/>
        </p:nvCxnSpPr>
        <p:spPr>
          <a:xfrm flipH="1">
            <a:off x="9468687" y="2922080"/>
            <a:ext cx="6985" cy="13855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41" idx="3"/>
          </p:cNvCxnSpPr>
          <p:nvPr/>
        </p:nvCxnSpPr>
        <p:spPr>
          <a:xfrm>
            <a:off x="10181028" y="2911285"/>
            <a:ext cx="1905" cy="14084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42" idx="4"/>
          </p:cNvCxnSpPr>
          <p:nvPr/>
        </p:nvCxnSpPr>
        <p:spPr>
          <a:xfrm>
            <a:off x="10928400" y="2922080"/>
            <a:ext cx="3810" cy="13989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71" idx="5"/>
          </p:cNvCxnSpPr>
          <p:nvPr/>
        </p:nvCxnSpPr>
        <p:spPr>
          <a:xfrm flipH="1">
            <a:off x="11647170" y="2911285"/>
            <a:ext cx="16510" cy="14084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文本框 127"/>
          <p:cNvSpPr txBox="1"/>
          <p:nvPr/>
        </p:nvSpPr>
        <p:spPr>
          <a:xfrm>
            <a:off x="2465070" y="2084070"/>
            <a:ext cx="946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标的价格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11602720" y="3907790"/>
            <a:ext cx="7010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990725" y="2745105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103%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990725" y="4183380"/>
            <a:ext cx="946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票息障碍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990725" y="3482340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期初价格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</a:p>
        </p:txBody>
      </p:sp>
      <p:sp>
        <p:nvSpPr>
          <p:cNvPr id="31" name="矩形 30"/>
          <p:cNvSpPr/>
          <p:nvPr/>
        </p:nvSpPr>
        <p:spPr>
          <a:xfrm>
            <a:off x="3638550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343400" y="285051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170160" y="1584240"/>
            <a:ext cx="2651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敲出观察日（每月）</a:t>
            </a:r>
          </a:p>
        </p:txBody>
      </p:sp>
      <p:sp>
        <p:nvSpPr>
          <p:cNvPr id="63" name="椭圆 62"/>
          <p:cNvSpPr/>
          <p:nvPr/>
        </p:nvSpPr>
        <p:spPr>
          <a:xfrm>
            <a:off x="9824085" y="1675765"/>
            <a:ext cx="97155" cy="1016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0170160" y="1958255"/>
            <a:ext cx="2719705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敲入观察日（每日）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465070" y="5480050"/>
            <a:ext cx="9460865" cy="737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实际存续至期末，收取了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段月息，累计月息收益【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1%*12=12%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】，按月收取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本金无亏损，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收回全部预付金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实际投资收益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67" name="矩形 66"/>
          <p:cNvSpPr/>
          <p:nvPr/>
        </p:nvSpPr>
        <p:spPr>
          <a:xfrm>
            <a:off x="9780270" y="128460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170160" y="1210225"/>
            <a:ext cx="27194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票息观察日（每月）</a:t>
            </a:r>
          </a:p>
        </p:txBody>
      </p:sp>
      <p:cxnSp>
        <p:nvCxnSpPr>
          <p:cNvPr id="69" name="直接连接符 68"/>
          <p:cNvCxnSpPr/>
          <p:nvPr/>
        </p:nvCxnSpPr>
        <p:spPr>
          <a:xfrm>
            <a:off x="9741402" y="2124924"/>
            <a:ext cx="360000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/>
              <p14:cNvContentPartPr/>
              <p14:nvPr/>
            </p14:nvContentPartPr>
            <p14:xfrm rot="21300000">
              <a:off x="3014345" y="3425825"/>
              <a:ext cx="8642985" cy="50355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 rot="21300000">
                <a:off x="3014345" y="3425825"/>
                <a:ext cx="8642985" cy="503555"/>
              </a:xfrm>
              <a:prstGeom prst="rect"/>
            </p:spPr>
          </p:pic>
        </mc:Fallback>
      </mc:AlternateContent>
      <p:pic>
        <p:nvPicPr>
          <p:cNvPr id="22" name="图形 54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68838" y="2546257"/>
            <a:ext cx="281979" cy="281979"/>
          </a:xfrm>
          <a:prstGeom prst="rect">
            <a:avLst/>
          </a:prstGeom>
        </p:spPr>
      </p:pic>
      <p:pic>
        <p:nvPicPr>
          <p:cNvPr id="24" name="图形 55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72363" y="2526840"/>
            <a:ext cx="281979" cy="281979"/>
          </a:xfrm>
          <a:prstGeom prst="rect">
            <a:avLst/>
          </a:prstGeom>
        </p:spPr>
      </p:pic>
      <p:pic>
        <p:nvPicPr>
          <p:cNvPr id="29" name="图形 56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34206" y="2518708"/>
            <a:ext cx="281979" cy="281979"/>
          </a:xfrm>
          <a:prstGeom prst="rect">
            <a:avLst/>
          </a:prstGeom>
        </p:spPr>
      </p:pic>
      <p:pic>
        <p:nvPicPr>
          <p:cNvPr id="33" name="图形 57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8571" y="2520419"/>
            <a:ext cx="281979" cy="281979"/>
          </a:xfrm>
          <a:prstGeom prst="rect">
            <a:avLst/>
          </a:prstGeom>
        </p:spPr>
      </p:pic>
      <p:pic>
        <p:nvPicPr>
          <p:cNvPr id="47" name="图形 58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85403" y="2516195"/>
            <a:ext cx="281979" cy="281979"/>
          </a:xfrm>
          <a:prstGeom prst="rect">
            <a:avLst/>
          </a:prstGeom>
        </p:spPr>
      </p:pic>
      <p:pic>
        <p:nvPicPr>
          <p:cNvPr id="61" name="图形 59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6858" y="2548142"/>
            <a:ext cx="281979" cy="281979"/>
          </a:xfrm>
          <a:prstGeom prst="rect">
            <a:avLst/>
          </a:prstGeom>
        </p:spPr>
      </p:pic>
      <p:pic>
        <p:nvPicPr>
          <p:cNvPr id="66" name="图形 21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88313" y="2534923"/>
            <a:ext cx="281979" cy="281979"/>
          </a:xfrm>
          <a:prstGeom prst="rect">
            <a:avLst/>
          </a:prstGeom>
        </p:spPr>
      </p:pic>
      <p:pic>
        <p:nvPicPr>
          <p:cNvPr id="70" name="图形 22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13802" y="2553588"/>
            <a:ext cx="281979" cy="281979"/>
          </a:xfrm>
          <a:prstGeom prst="rect">
            <a:avLst/>
          </a:prstGeom>
        </p:spPr>
      </p:pic>
      <p:pic>
        <p:nvPicPr>
          <p:cNvPr id="73" name="图形 26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15257" y="2546256"/>
            <a:ext cx="281979" cy="281979"/>
          </a:xfrm>
          <a:prstGeom prst="rect">
            <a:avLst/>
          </a:prstGeom>
        </p:spPr>
      </p:pic>
      <p:pic>
        <p:nvPicPr>
          <p:cNvPr id="74" name="图形 27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29878" y="2559319"/>
            <a:ext cx="281979" cy="281979"/>
          </a:xfrm>
          <a:prstGeom prst="rect">
            <a:avLst/>
          </a:prstGeom>
        </p:spPr>
      </p:pic>
      <p:pic>
        <p:nvPicPr>
          <p:cNvPr id="75" name="图形 28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4935" y="2572721"/>
            <a:ext cx="281979" cy="281979"/>
          </a:xfrm>
          <a:prstGeom prst="rect">
            <a:avLst/>
          </a:prstGeom>
        </p:spPr>
      </p:pic>
      <p:pic>
        <p:nvPicPr>
          <p:cNvPr id="76" name="图形 29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5184" y="2561558"/>
            <a:ext cx="281979" cy="28197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748090" y="932797"/>
            <a:ext cx="44386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未发生敲出且未发生敲入持有至到期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0"/>
            <a:ext cx="199961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82404" y="1301090"/>
            <a:ext cx="1868488" cy="374417"/>
            <a:chOff x="501571" y="1269607"/>
            <a:chExt cx="1868488" cy="374417"/>
          </a:xfrm>
        </p:grpSpPr>
        <p:sp>
          <p:nvSpPr>
            <p:cNvPr id="30" name="文本框 29"/>
            <p:cNvSpPr txBox="1"/>
            <p:nvPr/>
          </p:nvSpPr>
          <p:spPr>
            <a:xfrm>
              <a:off x="501571" y="1269607"/>
              <a:ext cx="1868488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一、场外衍生品概述</a:t>
              </a:r>
            </a:p>
          </p:txBody>
        </p:sp>
        <p:cxnSp>
          <p:nvCxnSpPr>
            <p:cNvPr id="72" name="直接连接符 71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180473" y="1802299"/>
            <a:ext cx="1996546" cy="374417"/>
            <a:chOff x="501571" y="1269607"/>
            <a:chExt cx="1996546" cy="374417"/>
          </a:xfrm>
        </p:grpSpPr>
        <p:sp>
          <p:nvSpPr>
            <p:cNvPr id="78" name="文本框 77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二、监管、法律及格局</a:t>
              </a:r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180473" y="2291435"/>
            <a:ext cx="1996546" cy="374417"/>
            <a:chOff x="501571" y="1269607"/>
            <a:chExt cx="1996546" cy="374417"/>
          </a:xfrm>
        </p:grpSpPr>
        <p:sp>
          <p:nvSpPr>
            <p:cNvPr id="81" name="文本框 80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三、互换、远期</a:t>
              </a:r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/>
          <p:cNvGrpSpPr/>
          <p:nvPr/>
        </p:nvGrpSpPr>
        <p:grpSpPr>
          <a:xfrm>
            <a:off x="180473" y="2843258"/>
            <a:ext cx="1996546" cy="374417"/>
            <a:chOff x="501571" y="1269607"/>
            <a:chExt cx="1996546" cy="374417"/>
          </a:xfrm>
        </p:grpSpPr>
        <p:sp>
          <p:nvSpPr>
            <p:cNvPr id="84" name="文本框 83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四、场外期权</a:t>
              </a:r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组合 85"/>
          <p:cNvGrpSpPr/>
          <p:nvPr/>
        </p:nvGrpSpPr>
        <p:grpSpPr>
          <a:xfrm>
            <a:off x="175419" y="6034419"/>
            <a:ext cx="1996546" cy="374417"/>
            <a:chOff x="501571" y="1269607"/>
            <a:chExt cx="1996546" cy="374417"/>
          </a:xfrm>
        </p:grpSpPr>
        <p:sp>
          <p:nvSpPr>
            <p:cNvPr id="87" name="文本框 86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五、应用及业务开展</a:t>
              </a: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矩形: 剪去对角 76"/>
          <p:cNvSpPr/>
          <p:nvPr/>
        </p:nvSpPr>
        <p:spPr>
          <a:xfrm>
            <a:off x="2461970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90" name="直接连接符 89"/>
          <p:cNvCxnSpPr/>
          <p:nvPr/>
        </p:nvCxnSpPr>
        <p:spPr>
          <a:xfrm>
            <a:off x="267426" y="3214747"/>
            <a:ext cx="322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186690" y="3242945"/>
            <a:ext cx="1875790" cy="2576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、场外期权产品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（一）欧式香草期权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（二）常见欧式香草期权组合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（三）鲨鱼鳍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（四）欧式二元&amp;美式二元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（五）自动赎回二元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（六）雪球结构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（七）凤凰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（八）FCN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附录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2、场外期权风险</a:t>
            </a:r>
          </a:p>
        </p:txBody>
      </p:sp>
      <p:sp>
        <p:nvSpPr>
          <p:cNvPr id="92" name="标题 4"/>
          <p:cNvSpPr>
            <a:spLocks noGrp="1"/>
          </p:cNvSpPr>
          <p:nvPr/>
        </p:nvSpPr>
        <p:spPr>
          <a:xfrm>
            <a:off x="2946400" y="-45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经典凤凰</a:t>
            </a:r>
            <a:r>
              <a:rPr kumimoji="0" lang="en-US" altLang="zh-CN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情景分析图</a:t>
            </a: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64490"/>
            <a:ext cx="1390015" cy="2724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8475345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195435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933305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658475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1374755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755255" y="2781935"/>
            <a:ext cx="161290" cy="13779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047230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304915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10860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897755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2796803" y="2326813"/>
            <a:ext cx="5715" cy="2642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2796803" y="3698537"/>
            <a:ext cx="8930640" cy="6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887847" y="4294084"/>
            <a:ext cx="8567553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796803" y="2853874"/>
            <a:ext cx="8658597" cy="1934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4941906" y="278193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655540" y="278193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352224" y="278193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7085543" y="278193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7799900" y="278193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8514276" y="278193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9246960" y="278193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9978035" y="278193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10699585" y="278193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55" name="图形 54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8498" y="2479582"/>
            <a:ext cx="281979" cy="281979"/>
          </a:xfrm>
          <a:prstGeom prst="rect">
            <a:avLst/>
          </a:prstGeom>
        </p:spPr>
      </p:pic>
      <p:pic>
        <p:nvPicPr>
          <p:cNvPr id="56" name="图形 55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2023" y="2460165"/>
            <a:ext cx="281979" cy="281979"/>
          </a:xfrm>
          <a:prstGeom prst="rect">
            <a:avLst/>
          </a:prstGeom>
        </p:spPr>
      </p:pic>
      <p:pic>
        <p:nvPicPr>
          <p:cNvPr id="57" name="图形 56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3866" y="2452033"/>
            <a:ext cx="281979" cy="281979"/>
          </a:xfrm>
          <a:prstGeom prst="rect">
            <a:avLst/>
          </a:prstGeom>
        </p:spPr>
      </p:pic>
      <p:pic>
        <p:nvPicPr>
          <p:cNvPr id="58" name="图形 57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8231" y="2453744"/>
            <a:ext cx="281979" cy="281979"/>
          </a:xfrm>
          <a:prstGeom prst="rect">
            <a:avLst/>
          </a:prstGeom>
        </p:spPr>
      </p:pic>
      <p:pic>
        <p:nvPicPr>
          <p:cNvPr id="59" name="图形 58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5063" y="2449520"/>
            <a:ext cx="281979" cy="281979"/>
          </a:xfrm>
          <a:prstGeom prst="rect">
            <a:avLst/>
          </a:prstGeom>
        </p:spPr>
      </p:pic>
      <p:pic>
        <p:nvPicPr>
          <p:cNvPr id="60" name="图形 59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06518" y="2481467"/>
            <a:ext cx="281979" cy="281979"/>
          </a:xfrm>
          <a:prstGeom prst="rect">
            <a:avLst/>
          </a:prstGeom>
        </p:spPr>
      </p:pic>
      <p:sp>
        <p:nvSpPr>
          <p:cNvPr id="71" name="椭圆 70"/>
          <p:cNvSpPr/>
          <p:nvPr/>
        </p:nvSpPr>
        <p:spPr>
          <a:xfrm>
            <a:off x="11410510" y="2781935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4" name="直接连接符 3"/>
          <p:cNvCxnSpPr>
            <a:stCxn id="31" idx="2"/>
          </p:cNvCxnSpPr>
          <p:nvPr/>
        </p:nvCxnSpPr>
        <p:spPr>
          <a:xfrm flipH="1">
            <a:off x="3525155" y="2908993"/>
            <a:ext cx="1905" cy="128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32" idx="2"/>
          </p:cNvCxnSpPr>
          <p:nvPr/>
        </p:nvCxnSpPr>
        <p:spPr>
          <a:xfrm>
            <a:off x="4231737" y="2909133"/>
            <a:ext cx="0" cy="13271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34" idx="4"/>
          </p:cNvCxnSpPr>
          <p:nvPr/>
        </p:nvCxnSpPr>
        <p:spPr>
          <a:xfrm>
            <a:off x="4978158" y="2853748"/>
            <a:ext cx="635" cy="132524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35" idx="4"/>
          </p:cNvCxnSpPr>
          <p:nvPr/>
        </p:nvCxnSpPr>
        <p:spPr>
          <a:xfrm flipH="1">
            <a:off x="5688206" y="2853748"/>
            <a:ext cx="3175" cy="13093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36" idx="4"/>
          </p:cNvCxnSpPr>
          <p:nvPr/>
        </p:nvCxnSpPr>
        <p:spPr>
          <a:xfrm flipH="1">
            <a:off x="6381317" y="2853748"/>
            <a:ext cx="7620" cy="13093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37" idx="5"/>
          </p:cNvCxnSpPr>
          <p:nvPr/>
        </p:nvCxnSpPr>
        <p:spPr>
          <a:xfrm flipH="1">
            <a:off x="7135990" y="2843093"/>
            <a:ext cx="10160" cy="13500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38" idx="4"/>
          </p:cNvCxnSpPr>
          <p:nvPr/>
        </p:nvCxnSpPr>
        <p:spPr>
          <a:xfrm flipH="1">
            <a:off x="7831451" y="2853888"/>
            <a:ext cx="4445" cy="13277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39" idx="4"/>
          </p:cNvCxnSpPr>
          <p:nvPr/>
        </p:nvCxnSpPr>
        <p:spPr>
          <a:xfrm>
            <a:off x="8550130" y="2853888"/>
            <a:ext cx="5715" cy="13277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40" idx="4"/>
          </p:cNvCxnSpPr>
          <p:nvPr/>
        </p:nvCxnSpPr>
        <p:spPr>
          <a:xfrm flipH="1">
            <a:off x="9276282" y="2853500"/>
            <a:ext cx="6985" cy="13855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41" idx="3"/>
          </p:cNvCxnSpPr>
          <p:nvPr/>
        </p:nvCxnSpPr>
        <p:spPr>
          <a:xfrm>
            <a:off x="9988623" y="2842705"/>
            <a:ext cx="1905" cy="14084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42" idx="4"/>
          </p:cNvCxnSpPr>
          <p:nvPr/>
        </p:nvCxnSpPr>
        <p:spPr>
          <a:xfrm>
            <a:off x="10735995" y="2853500"/>
            <a:ext cx="3810" cy="13989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71" idx="5"/>
          </p:cNvCxnSpPr>
          <p:nvPr/>
        </p:nvCxnSpPr>
        <p:spPr>
          <a:xfrm flipH="1">
            <a:off x="11454765" y="2842705"/>
            <a:ext cx="16510" cy="14084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文本框 127"/>
          <p:cNvSpPr txBox="1"/>
          <p:nvPr/>
        </p:nvSpPr>
        <p:spPr>
          <a:xfrm>
            <a:off x="2272665" y="2015490"/>
            <a:ext cx="946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标的价格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11455400" y="3277870"/>
            <a:ext cx="712470" cy="266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941830" y="2676525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103%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941830" y="4114800"/>
            <a:ext cx="946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票息障碍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941830" y="3413760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期初价格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</a:p>
        </p:txBody>
      </p:sp>
      <p:sp>
        <p:nvSpPr>
          <p:cNvPr id="31" name="矩形 30"/>
          <p:cNvSpPr/>
          <p:nvPr/>
        </p:nvSpPr>
        <p:spPr>
          <a:xfrm>
            <a:off x="3446145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150995" y="27819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393315" y="5351780"/>
            <a:ext cx="9589770" cy="11982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实际存续至期末，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收取了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段月息，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累计月息收益【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1%*10=10%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】，按月收取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由于发生敲入，到期时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指数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相对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期初价格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下跌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，客户承担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的亏损，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到期实际返还【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100%-8%=92%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】的名义本金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；客户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实际投资损益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为【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10%-8%=2%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】（未计入时间价值）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2" name="图形 54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76433" y="2477677"/>
            <a:ext cx="281979" cy="281979"/>
          </a:xfrm>
          <a:prstGeom prst="rect">
            <a:avLst/>
          </a:prstGeom>
        </p:spPr>
      </p:pic>
      <p:pic>
        <p:nvPicPr>
          <p:cNvPr id="24" name="图形 55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79958" y="2458260"/>
            <a:ext cx="281979" cy="281979"/>
          </a:xfrm>
          <a:prstGeom prst="rect">
            <a:avLst/>
          </a:prstGeom>
        </p:spPr>
      </p:pic>
      <p:pic>
        <p:nvPicPr>
          <p:cNvPr id="29" name="图形 56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1801" y="2450128"/>
            <a:ext cx="281979" cy="281979"/>
          </a:xfrm>
          <a:prstGeom prst="rect">
            <a:avLst/>
          </a:prstGeom>
        </p:spPr>
      </p:pic>
      <p:pic>
        <p:nvPicPr>
          <p:cNvPr id="33" name="图形 57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6166" y="2451839"/>
            <a:ext cx="281979" cy="281979"/>
          </a:xfrm>
          <a:prstGeom prst="rect">
            <a:avLst/>
          </a:prstGeom>
        </p:spPr>
      </p:pic>
      <p:pic>
        <p:nvPicPr>
          <p:cNvPr id="47" name="图形 58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2998" y="2447615"/>
            <a:ext cx="281979" cy="281979"/>
          </a:xfrm>
          <a:prstGeom prst="rect">
            <a:avLst/>
          </a:prstGeom>
        </p:spPr>
      </p:pic>
      <p:pic>
        <p:nvPicPr>
          <p:cNvPr id="61" name="图形 59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4453" y="2479562"/>
            <a:ext cx="281979" cy="281979"/>
          </a:xfrm>
          <a:prstGeom prst="rect">
            <a:avLst/>
          </a:prstGeom>
        </p:spPr>
      </p:pic>
      <p:pic>
        <p:nvPicPr>
          <p:cNvPr id="66" name="图形 21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5908" y="2466343"/>
            <a:ext cx="281979" cy="281979"/>
          </a:xfrm>
          <a:prstGeom prst="rect">
            <a:avLst/>
          </a:prstGeom>
        </p:spPr>
      </p:pic>
      <p:pic>
        <p:nvPicPr>
          <p:cNvPr id="70" name="图形 22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1397" y="2485008"/>
            <a:ext cx="281979" cy="281979"/>
          </a:xfrm>
          <a:prstGeom prst="rect">
            <a:avLst/>
          </a:prstGeom>
        </p:spPr>
      </p:pic>
      <p:pic>
        <p:nvPicPr>
          <p:cNvPr id="73" name="图形 26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2852" y="2477676"/>
            <a:ext cx="281979" cy="281979"/>
          </a:xfrm>
          <a:prstGeom prst="rect">
            <a:avLst/>
          </a:prstGeom>
        </p:spPr>
      </p:pic>
      <p:pic>
        <p:nvPicPr>
          <p:cNvPr id="74" name="图形 27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7473" y="2490739"/>
            <a:ext cx="281979" cy="281979"/>
          </a:xfrm>
          <a:prstGeom prst="rect">
            <a:avLst/>
          </a:prstGeom>
        </p:spPr>
      </p:pic>
      <p:pic>
        <p:nvPicPr>
          <p:cNvPr id="75" name="图形 28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2530" y="2504141"/>
            <a:ext cx="281979" cy="281979"/>
          </a:xfrm>
          <a:prstGeom prst="rect">
            <a:avLst/>
          </a:prstGeom>
        </p:spPr>
      </p:pic>
      <p:pic>
        <p:nvPicPr>
          <p:cNvPr id="76" name="图形 29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92779" y="2492978"/>
            <a:ext cx="281979" cy="281979"/>
          </a:xfrm>
          <a:prstGeom prst="rect">
            <a:avLst/>
          </a:prstGeom>
        </p:spPr>
      </p:pic>
      <p:sp>
        <p:nvSpPr>
          <p:cNvPr id="25" name="任意多边形 24"/>
          <p:cNvSpPr/>
          <p:nvPr/>
        </p:nvSpPr>
        <p:spPr>
          <a:xfrm>
            <a:off x="2830830" y="3544570"/>
            <a:ext cx="8688070" cy="1335405"/>
          </a:xfrm>
          <a:custGeom>
            <a:avLst/>
            <a:gdLst>
              <a:gd name="connisteX0" fmla="*/ 0 w 8688070"/>
              <a:gd name="connsiteY0" fmla="*/ 164013 h 1335283"/>
              <a:gd name="connisteX1" fmla="*/ 528955 w 8688070"/>
              <a:gd name="connsiteY1" fmla="*/ 414203 h 1335283"/>
              <a:gd name="connisteX2" fmla="*/ 2684145 w 8688070"/>
              <a:gd name="connsiteY2" fmla="*/ 587558 h 1335283"/>
              <a:gd name="connisteX3" fmla="*/ 3473450 w 8688070"/>
              <a:gd name="connsiteY3" fmla="*/ 837748 h 1335283"/>
              <a:gd name="connisteX4" fmla="*/ 4349115 w 8688070"/>
              <a:gd name="connsiteY4" fmla="*/ 1328603 h 1335283"/>
              <a:gd name="connisteX5" fmla="*/ 4752975 w 8688070"/>
              <a:gd name="connsiteY5" fmla="*/ 520248 h 1335283"/>
              <a:gd name="connisteX6" fmla="*/ 5176520 w 8688070"/>
              <a:gd name="connsiteY6" fmla="*/ 404678 h 1335283"/>
              <a:gd name="connisteX7" fmla="*/ 5445760 w 8688070"/>
              <a:gd name="connsiteY7" fmla="*/ 818 h 1335283"/>
              <a:gd name="connisteX8" fmla="*/ 6080760 w 8688070"/>
              <a:gd name="connsiteY8" fmla="*/ 501198 h 1335283"/>
              <a:gd name="connisteX9" fmla="*/ 7754620 w 8688070"/>
              <a:gd name="connsiteY9" fmla="*/ 520248 h 1335283"/>
              <a:gd name="connisteX10" fmla="*/ 8688070 w 8688070"/>
              <a:gd name="connsiteY10" fmla="*/ 548823 h 1335283"/>
              <a:gd name="connisteX11" fmla="*/ 8639810 w 8688070"/>
              <a:gd name="connsiteY11" fmla="*/ 654868 h 133528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8688070" h="1335284">
                <a:moveTo>
                  <a:pt x="0" y="164014"/>
                </a:moveTo>
                <a:cubicBezTo>
                  <a:pt x="62865" y="210369"/>
                  <a:pt x="-7620" y="329749"/>
                  <a:pt x="528955" y="414204"/>
                </a:cubicBezTo>
                <a:cubicBezTo>
                  <a:pt x="1065530" y="498659"/>
                  <a:pt x="2095500" y="503104"/>
                  <a:pt x="2684145" y="587559"/>
                </a:cubicBezTo>
                <a:cubicBezTo>
                  <a:pt x="3272790" y="672014"/>
                  <a:pt x="3140710" y="689794"/>
                  <a:pt x="3473450" y="837749"/>
                </a:cubicBezTo>
                <a:cubicBezTo>
                  <a:pt x="3806190" y="985704"/>
                  <a:pt x="4093210" y="1392104"/>
                  <a:pt x="4349115" y="1328604"/>
                </a:cubicBezTo>
                <a:cubicBezTo>
                  <a:pt x="4605020" y="1265104"/>
                  <a:pt x="4587240" y="705034"/>
                  <a:pt x="4752975" y="520249"/>
                </a:cubicBezTo>
                <a:cubicBezTo>
                  <a:pt x="4918710" y="335464"/>
                  <a:pt x="5038090" y="508819"/>
                  <a:pt x="5176520" y="404679"/>
                </a:cubicBezTo>
                <a:cubicBezTo>
                  <a:pt x="5314950" y="300539"/>
                  <a:pt x="5264785" y="-18231"/>
                  <a:pt x="5445760" y="819"/>
                </a:cubicBezTo>
                <a:cubicBezTo>
                  <a:pt x="5626735" y="19869"/>
                  <a:pt x="5619115" y="397059"/>
                  <a:pt x="6080760" y="501199"/>
                </a:cubicBezTo>
                <a:cubicBezTo>
                  <a:pt x="6542405" y="605339"/>
                  <a:pt x="7233285" y="510724"/>
                  <a:pt x="7754620" y="520249"/>
                </a:cubicBezTo>
                <a:cubicBezTo>
                  <a:pt x="8275955" y="529774"/>
                  <a:pt x="8510905" y="522154"/>
                  <a:pt x="8688070" y="548824"/>
                </a:cubicBezTo>
              </a:path>
            </a:pathLst>
          </a:custGeom>
          <a:noFill/>
          <a:ln w="38100">
            <a:solidFill>
              <a:srgbClr val="004F8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30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2794" y="2416450"/>
            <a:ext cx="318290" cy="318290"/>
          </a:xfrm>
          <a:prstGeom prst="rect">
            <a:avLst/>
          </a:prstGeom>
        </p:spPr>
      </p:pic>
      <p:pic>
        <p:nvPicPr>
          <p:cNvPr id="72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0339" y="2424070"/>
            <a:ext cx="318290" cy="318290"/>
          </a:xfrm>
          <a:prstGeom prst="rect">
            <a:avLst/>
          </a:prstGeom>
        </p:spPr>
      </p:pic>
      <p:cxnSp>
        <p:nvCxnSpPr>
          <p:cNvPr id="77" name="直接箭头连接符 76"/>
          <p:cNvCxnSpPr/>
          <p:nvPr/>
        </p:nvCxnSpPr>
        <p:spPr>
          <a:xfrm>
            <a:off x="11454765" y="3698298"/>
            <a:ext cx="0" cy="3746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11482705" y="3797300"/>
            <a:ext cx="5829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-8%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48090" y="932797"/>
            <a:ext cx="32956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期间发生敲入且持有到期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99961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182404" y="1301090"/>
            <a:ext cx="1868488" cy="374417"/>
            <a:chOff x="501571" y="1269607"/>
            <a:chExt cx="1868488" cy="374417"/>
          </a:xfrm>
        </p:grpSpPr>
        <p:sp>
          <p:nvSpPr>
            <p:cNvPr id="80" name="文本框 79"/>
            <p:cNvSpPr txBox="1"/>
            <p:nvPr/>
          </p:nvSpPr>
          <p:spPr>
            <a:xfrm>
              <a:off x="501571" y="1269607"/>
              <a:ext cx="1868488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一、场外衍生品概述</a:t>
              </a:r>
            </a:p>
          </p:txBody>
        </p:sp>
        <p:cxnSp>
          <p:nvCxnSpPr>
            <p:cNvPr id="81" name="直接连接符 80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/>
          <p:cNvGrpSpPr/>
          <p:nvPr/>
        </p:nvGrpSpPr>
        <p:grpSpPr>
          <a:xfrm>
            <a:off x="180473" y="1802299"/>
            <a:ext cx="1996546" cy="374417"/>
            <a:chOff x="501571" y="1269607"/>
            <a:chExt cx="1996546" cy="374417"/>
          </a:xfrm>
        </p:grpSpPr>
        <p:sp>
          <p:nvSpPr>
            <p:cNvPr id="83" name="文本框 82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二、监管、法律及格局</a:t>
              </a:r>
            </a:p>
          </p:txBody>
        </p:sp>
        <p:cxnSp>
          <p:nvCxnSpPr>
            <p:cNvPr id="84" name="直接连接符 83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组合 84"/>
          <p:cNvGrpSpPr/>
          <p:nvPr/>
        </p:nvGrpSpPr>
        <p:grpSpPr>
          <a:xfrm>
            <a:off x="180473" y="2291435"/>
            <a:ext cx="1996546" cy="374417"/>
            <a:chOff x="501571" y="1269607"/>
            <a:chExt cx="1996546" cy="374417"/>
          </a:xfrm>
        </p:grpSpPr>
        <p:sp>
          <p:nvSpPr>
            <p:cNvPr id="86" name="文本框 85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三、互换、远期</a:t>
              </a:r>
            </a:p>
          </p:txBody>
        </p:sp>
        <p:cxnSp>
          <p:nvCxnSpPr>
            <p:cNvPr id="87" name="直接连接符 86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组合 87"/>
          <p:cNvGrpSpPr/>
          <p:nvPr/>
        </p:nvGrpSpPr>
        <p:grpSpPr>
          <a:xfrm>
            <a:off x="180473" y="2843258"/>
            <a:ext cx="1996546" cy="374417"/>
            <a:chOff x="501571" y="1269607"/>
            <a:chExt cx="1996546" cy="374417"/>
          </a:xfrm>
        </p:grpSpPr>
        <p:sp>
          <p:nvSpPr>
            <p:cNvPr id="89" name="文本框 88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四、场外期权</a:t>
              </a:r>
            </a:p>
          </p:txBody>
        </p:sp>
        <p:cxnSp>
          <p:nvCxnSpPr>
            <p:cNvPr id="90" name="直接连接符 89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/>
        </p:nvGrpSpPr>
        <p:grpSpPr>
          <a:xfrm>
            <a:off x="175419" y="6034419"/>
            <a:ext cx="1996546" cy="374417"/>
            <a:chOff x="501571" y="1269607"/>
            <a:chExt cx="1996546" cy="374417"/>
          </a:xfrm>
        </p:grpSpPr>
        <p:sp>
          <p:nvSpPr>
            <p:cNvPr id="92" name="文本框 91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五、应用及业务开展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矩形: 剪去对角 76"/>
          <p:cNvSpPr/>
          <p:nvPr/>
        </p:nvSpPr>
        <p:spPr>
          <a:xfrm>
            <a:off x="2461970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267426" y="3214747"/>
            <a:ext cx="322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/>
        </p:nvSpPr>
        <p:spPr>
          <a:xfrm>
            <a:off x="186690" y="3242945"/>
            <a:ext cx="1875790" cy="2576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、场外期权产品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（一）欧式香草期权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（二）常见欧式香草期权组合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（三）鲨鱼鳍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（四）欧式二元&amp;美式二元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（五）自动赎回二元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（六）雪球结构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（七）凤凰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（八）FCN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附录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2、场外期权风险</a:t>
            </a:r>
          </a:p>
        </p:txBody>
      </p:sp>
      <p:sp>
        <p:nvSpPr>
          <p:cNvPr id="97" name="标题 4"/>
          <p:cNvSpPr>
            <a:spLocks noGrp="1"/>
          </p:cNvSpPr>
          <p:nvPr/>
        </p:nvSpPr>
        <p:spPr>
          <a:xfrm>
            <a:off x="2946400" y="-45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经典凤凰</a:t>
            </a:r>
            <a:r>
              <a:rPr kumimoji="0" lang="en-US" altLang="zh-CN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情景分析图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10094595" y="1699175"/>
            <a:ext cx="2651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敲出观察日（每月）</a:t>
            </a:r>
          </a:p>
        </p:txBody>
      </p:sp>
      <p:sp>
        <p:nvSpPr>
          <p:cNvPr id="100" name="椭圆 99"/>
          <p:cNvSpPr/>
          <p:nvPr/>
        </p:nvSpPr>
        <p:spPr>
          <a:xfrm>
            <a:off x="9748520" y="1790700"/>
            <a:ext cx="97155" cy="1016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0094595" y="2073190"/>
            <a:ext cx="2719705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敲入观察日（每日）</a:t>
            </a:r>
          </a:p>
        </p:txBody>
      </p:sp>
      <p:sp>
        <p:nvSpPr>
          <p:cNvPr id="102" name="矩形 101"/>
          <p:cNvSpPr/>
          <p:nvPr/>
        </p:nvSpPr>
        <p:spPr>
          <a:xfrm>
            <a:off x="9704705" y="139954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0094595" y="1325160"/>
            <a:ext cx="27194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票息观察日（每月）</a:t>
            </a:r>
          </a:p>
        </p:txBody>
      </p:sp>
      <p:cxnSp>
        <p:nvCxnSpPr>
          <p:cNvPr id="104" name="直接连接符 103"/>
          <p:cNvCxnSpPr/>
          <p:nvPr/>
        </p:nvCxnSpPr>
        <p:spPr>
          <a:xfrm>
            <a:off x="9665837" y="2239859"/>
            <a:ext cx="360000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5" name="图片 10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64490"/>
            <a:ext cx="1390015" cy="272415"/>
          </a:xfrm>
          <a:prstGeom prst="rect">
            <a:avLst/>
          </a:prstGeom>
        </p:spPr>
      </p:pic>
      <p:sp>
        <p:nvSpPr>
          <p:cNvPr id="16" name="爆炸形: 8 pt  52"/>
          <p:cNvSpPr>
            <a:spLocks noChangeAspect="1"/>
          </p:cNvSpPr>
          <p:nvPr/>
        </p:nvSpPr>
        <p:spPr>
          <a:xfrm>
            <a:off x="6065734" y="4163356"/>
            <a:ext cx="246215" cy="246215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8425180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145270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883140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608310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1324590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705090" y="2757170"/>
            <a:ext cx="161290" cy="13779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997065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254750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560695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847590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2746638" y="2302048"/>
            <a:ext cx="5715" cy="2642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2746638" y="3673772"/>
            <a:ext cx="93617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837682" y="4269319"/>
            <a:ext cx="8567553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746638" y="2829109"/>
            <a:ext cx="8658597" cy="1934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4891741" y="275717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605375" y="275717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6302059" y="275717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7035378" y="275717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7749735" y="275717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8464111" y="275717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9196795" y="275717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9927870" y="275717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10649420" y="275717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55" name="图形 54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8333" y="2454817"/>
            <a:ext cx="281979" cy="281979"/>
          </a:xfrm>
          <a:prstGeom prst="rect">
            <a:avLst/>
          </a:prstGeom>
        </p:spPr>
      </p:pic>
      <p:pic>
        <p:nvPicPr>
          <p:cNvPr id="56" name="图形 55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1858" y="2435400"/>
            <a:ext cx="281979" cy="281979"/>
          </a:xfrm>
          <a:prstGeom prst="rect">
            <a:avLst/>
          </a:prstGeom>
        </p:spPr>
      </p:pic>
      <p:pic>
        <p:nvPicPr>
          <p:cNvPr id="57" name="图形 56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3701" y="2427268"/>
            <a:ext cx="281979" cy="281979"/>
          </a:xfrm>
          <a:prstGeom prst="rect">
            <a:avLst/>
          </a:prstGeom>
        </p:spPr>
      </p:pic>
      <p:pic>
        <p:nvPicPr>
          <p:cNvPr id="58" name="图形 57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8066" y="2428979"/>
            <a:ext cx="281979" cy="281979"/>
          </a:xfrm>
          <a:prstGeom prst="rect">
            <a:avLst/>
          </a:prstGeom>
        </p:spPr>
      </p:pic>
      <p:pic>
        <p:nvPicPr>
          <p:cNvPr id="59" name="图形 58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4898" y="2424755"/>
            <a:ext cx="281979" cy="281979"/>
          </a:xfrm>
          <a:prstGeom prst="rect">
            <a:avLst/>
          </a:prstGeom>
        </p:spPr>
      </p:pic>
      <p:pic>
        <p:nvPicPr>
          <p:cNvPr id="60" name="图形 59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6353" y="2456702"/>
            <a:ext cx="281979" cy="281979"/>
          </a:xfrm>
          <a:prstGeom prst="rect">
            <a:avLst/>
          </a:prstGeom>
        </p:spPr>
      </p:pic>
      <p:sp>
        <p:nvSpPr>
          <p:cNvPr id="71" name="椭圆 70"/>
          <p:cNvSpPr/>
          <p:nvPr/>
        </p:nvSpPr>
        <p:spPr>
          <a:xfrm>
            <a:off x="11360345" y="2757170"/>
            <a:ext cx="72000" cy="7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4" name="直接连接符 3"/>
          <p:cNvCxnSpPr>
            <a:stCxn id="31" idx="2"/>
          </p:cNvCxnSpPr>
          <p:nvPr/>
        </p:nvCxnSpPr>
        <p:spPr>
          <a:xfrm flipH="1">
            <a:off x="3474990" y="2884228"/>
            <a:ext cx="1905" cy="128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32" idx="2"/>
          </p:cNvCxnSpPr>
          <p:nvPr/>
        </p:nvCxnSpPr>
        <p:spPr>
          <a:xfrm>
            <a:off x="4181572" y="2884368"/>
            <a:ext cx="0" cy="13271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34" idx="4"/>
          </p:cNvCxnSpPr>
          <p:nvPr/>
        </p:nvCxnSpPr>
        <p:spPr>
          <a:xfrm>
            <a:off x="4927993" y="2828983"/>
            <a:ext cx="635" cy="132524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35" idx="4"/>
          </p:cNvCxnSpPr>
          <p:nvPr/>
        </p:nvCxnSpPr>
        <p:spPr>
          <a:xfrm flipH="1">
            <a:off x="5638041" y="2828983"/>
            <a:ext cx="3175" cy="13093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36" idx="4"/>
          </p:cNvCxnSpPr>
          <p:nvPr/>
        </p:nvCxnSpPr>
        <p:spPr>
          <a:xfrm flipH="1">
            <a:off x="6331152" y="2828983"/>
            <a:ext cx="7620" cy="13093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37" idx="5"/>
          </p:cNvCxnSpPr>
          <p:nvPr/>
        </p:nvCxnSpPr>
        <p:spPr>
          <a:xfrm flipH="1">
            <a:off x="7085825" y="2818328"/>
            <a:ext cx="10160" cy="13500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38" idx="4"/>
          </p:cNvCxnSpPr>
          <p:nvPr/>
        </p:nvCxnSpPr>
        <p:spPr>
          <a:xfrm flipH="1">
            <a:off x="7781286" y="2829123"/>
            <a:ext cx="4445" cy="13277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39" idx="4"/>
          </p:cNvCxnSpPr>
          <p:nvPr/>
        </p:nvCxnSpPr>
        <p:spPr>
          <a:xfrm>
            <a:off x="8499965" y="2829123"/>
            <a:ext cx="5715" cy="13277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40" idx="4"/>
          </p:cNvCxnSpPr>
          <p:nvPr/>
        </p:nvCxnSpPr>
        <p:spPr>
          <a:xfrm flipH="1">
            <a:off x="9226117" y="2828735"/>
            <a:ext cx="6985" cy="13855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41" idx="3"/>
          </p:cNvCxnSpPr>
          <p:nvPr/>
        </p:nvCxnSpPr>
        <p:spPr>
          <a:xfrm>
            <a:off x="9938458" y="2817940"/>
            <a:ext cx="1905" cy="14084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42" idx="4"/>
          </p:cNvCxnSpPr>
          <p:nvPr/>
        </p:nvCxnSpPr>
        <p:spPr>
          <a:xfrm>
            <a:off x="10685830" y="2828735"/>
            <a:ext cx="3810" cy="13989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71" idx="5"/>
          </p:cNvCxnSpPr>
          <p:nvPr/>
        </p:nvCxnSpPr>
        <p:spPr>
          <a:xfrm flipH="1">
            <a:off x="11404600" y="2817940"/>
            <a:ext cx="16510" cy="14084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文本框 127"/>
          <p:cNvSpPr txBox="1"/>
          <p:nvPr/>
        </p:nvSpPr>
        <p:spPr>
          <a:xfrm>
            <a:off x="2222500" y="1990725"/>
            <a:ext cx="946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标的价格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11485880" y="3388995"/>
            <a:ext cx="7010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891665" y="2651760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103%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891665" y="4090035"/>
            <a:ext cx="946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敲入障碍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票息障碍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891665" y="3388995"/>
            <a:ext cx="946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期初价格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</a:p>
        </p:txBody>
      </p:sp>
      <p:sp>
        <p:nvSpPr>
          <p:cNvPr id="31" name="矩形 30"/>
          <p:cNvSpPr/>
          <p:nvPr/>
        </p:nvSpPr>
        <p:spPr>
          <a:xfrm>
            <a:off x="3395980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100830" y="2757170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476230" y="1608370"/>
            <a:ext cx="2651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敲出观察日（每月）</a:t>
            </a:r>
          </a:p>
        </p:txBody>
      </p:sp>
      <p:sp>
        <p:nvSpPr>
          <p:cNvPr id="63" name="椭圆 62"/>
          <p:cNvSpPr/>
          <p:nvPr/>
        </p:nvSpPr>
        <p:spPr>
          <a:xfrm>
            <a:off x="10130155" y="1699895"/>
            <a:ext cx="97155" cy="101600"/>
          </a:xfrm>
          <a:prstGeom prst="ellipse">
            <a:avLst/>
          </a:prstGeom>
        </p:spPr>
        <p:style>
          <a:lnRef idx="2">
            <a:srgbClr val="4472C4">
              <a:shade val="15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0476230" y="1982385"/>
            <a:ext cx="2719705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敲入观察日（每日）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222500" y="5285105"/>
            <a:ext cx="9626600" cy="1188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实际存续至期末，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收取了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段月息，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累计月息收益【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1%*1=1%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】，按月收取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由于发生敲入，到期时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指数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相对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期初价格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下跌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，客户承担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的亏损，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到期实际返还【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100%-25%=75%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】的名义本金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；客户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864FC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实际投资损益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为【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1%-25%=-24%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】（未计入时间价值）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0086340" y="1308735"/>
            <a:ext cx="16129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476230" y="1234355"/>
            <a:ext cx="27194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票息观察日（每月）</a:t>
            </a:r>
          </a:p>
        </p:txBody>
      </p:sp>
      <p:cxnSp>
        <p:nvCxnSpPr>
          <p:cNvPr id="69" name="直接连接符 68"/>
          <p:cNvCxnSpPr/>
          <p:nvPr/>
        </p:nvCxnSpPr>
        <p:spPr>
          <a:xfrm>
            <a:off x="10047472" y="2149054"/>
            <a:ext cx="360000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2" name="图形 54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26268" y="2452912"/>
            <a:ext cx="281979" cy="281979"/>
          </a:xfrm>
          <a:prstGeom prst="rect">
            <a:avLst/>
          </a:prstGeom>
        </p:spPr>
      </p:pic>
      <p:pic>
        <p:nvPicPr>
          <p:cNvPr id="24" name="图形 55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9793" y="2433495"/>
            <a:ext cx="281979" cy="281979"/>
          </a:xfrm>
          <a:prstGeom prst="rect">
            <a:avLst/>
          </a:prstGeom>
        </p:spPr>
      </p:pic>
      <p:pic>
        <p:nvPicPr>
          <p:cNvPr id="29" name="图形 56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1636" y="2425363"/>
            <a:ext cx="281979" cy="281979"/>
          </a:xfrm>
          <a:prstGeom prst="rect">
            <a:avLst/>
          </a:prstGeom>
        </p:spPr>
      </p:pic>
      <p:pic>
        <p:nvPicPr>
          <p:cNvPr id="33" name="图形 57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66001" y="2427074"/>
            <a:ext cx="281979" cy="281979"/>
          </a:xfrm>
          <a:prstGeom prst="rect">
            <a:avLst/>
          </a:prstGeom>
        </p:spPr>
      </p:pic>
      <p:pic>
        <p:nvPicPr>
          <p:cNvPr id="47" name="图形 58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42833" y="2422850"/>
            <a:ext cx="281979" cy="281979"/>
          </a:xfrm>
          <a:prstGeom prst="rect">
            <a:avLst/>
          </a:prstGeom>
        </p:spPr>
      </p:pic>
      <p:pic>
        <p:nvPicPr>
          <p:cNvPr id="61" name="图形 59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4288" y="2454797"/>
            <a:ext cx="281979" cy="281979"/>
          </a:xfrm>
          <a:prstGeom prst="rect">
            <a:avLst/>
          </a:prstGeom>
        </p:spPr>
      </p:pic>
      <p:pic>
        <p:nvPicPr>
          <p:cNvPr id="66" name="图形 21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5743" y="2441578"/>
            <a:ext cx="281979" cy="281979"/>
          </a:xfrm>
          <a:prstGeom prst="rect">
            <a:avLst/>
          </a:prstGeom>
        </p:spPr>
      </p:pic>
      <p:pic>
        <p:nvPicPr>
          <p:cNvPr id="70" name="图形 22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1232" y="2460243"/>
            <a:ext cx="281979" cy="281979"/>
          </a:xfrm>
          <a:prstGeom prst="rect">
            <a:avLst/>
          </a:prstGeom>
        </p:spPr>
      </p:pic>
      <p:pic>
        <p:nvPicPr>
          <p:cNvPr id="73" name="图形 26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2687" y="2452911"/>
            <a:ext cx="281979" cy="281979"/>
          </a:xfrm>
          <a:prstGeom prst="rect">
            <a:avLst/>
          </a:prstGeom>
        </p:spPr>
      </p:pic>
      <p:pic>
        <p:nvPicPr>
          <p:cNvPr id="74" name="图形 27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7308" y="2465974"/>
            <a:ext cx="281979" cy="281979"/>
          </a:xfrm>
          <a:prstGeom prst="rect">
            <a:avLst/>
          </a:prstGeom>
        </p:spPr>
      </p:pic>
      <p:pic>
        <p:nvPicPr>
          <p:cNvPr id="75" name="图形 28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32365" y="2479376"/>
            <a:ext cx="281979" cy="281979"/>
          </a:xfrm>
          <a:prstGeom prst="rect">
            <a:avLst/>
          </a:prstGeom>
        </p:spPr>
      </p:pic>
      <p:pic>
        <p:nvPicPr>
          <p:cNvPr id="76" name="图形 29" descr="贷款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42614" y="2468213"/>
            <a:ext cx="281979" cy="281979"/>
          </a:xfrm>
          <a:prstGeom prst="rect">
            <a:avLst/>
          </a:prstGeom>
        </p:spPr>
      </p:pic>
      <p:pic>
        <p:nvPicPr>
          <p:cNvPr id="30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2629" y="2441850"/>
            <a:ext cx="318290" cy="318290"/>
          </a:xfrm>
          <a:prstGeom prst="rect">
            <a:avLst/>
          </a:prstGeom>
        </p:spPr>
      </p:pic>
      <p:pic>
        <p:nvPicPr>
          <p:cNvPr id="72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0174" y="2441850"/>
            <a:ext cx="318290" cy="318290"/>
          </a:xfrm>
          <a:prstGeom prst="rect">
            <a:avLst/>
          </a:prstGeom>
        </p:spPr>
      </p:pic>
      <p:cxnSp>
        <p:nvCxnSpPr>
          <p:cNvPr id="77" name="直接箭头连接符 76"/>
          <p:cNvCxnSpPr/>
          <p:nvPr/>
        </p:nvCxnSpPr>
        <p:spPr>
          <a:xfrm>
            <a:off x="11421110" y="3670358"/>
            <a:ext cx="0" cy="880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11360150" y="3910330"/>
            <a:ext cx="808355" cy="509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-25%</a:t>
            </a:r>
          </a:p>
        </p:txBody>
      </p:sp>
      <p:pic>
        <p:nvPicPr>
          <p:cNvPr id="10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9784" y="2441850"/>
            <a:ext cx="318290" cy="318290"/>
          </a:xfrm>
          <a:prstGeom prst="rect">
            <a:avLst/>
          </a:prstGeom>
        </p:spPr>
      </p:pic>
      <p:pic>
        <p:nvPicPr>
          <p:cNvPr id="26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4954" y="2441850"/>
            <a:ext cx="318290" cy="318290"/>
          </a:xfrm>
          <a:prstGeom prst="rect">
            <a:avLst/>
          </a:prstGeom>
        </p:spPr>
      </p:pic>
      <p:pic>
        <p:nvPicPr>
          <p:cNvPr id="79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5214" y="2441850"/>
            <a:ext cx="318290" cy="318290"/>
          </a:xfrm>
          <a:prstGeom prst="rect">
            <a:avLst/>
          </a:prstGeom>
        </p:spPr>
      </p:pic>
      <p:pic>
        <p:nvPicPr>
          <p:cNvPr id="80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26239" y="2441850"/>
            <a:ext cx="318290" cy="318290"/>
          </a:xfrm>
          <a:prstGeom prst="rect">
            <a:avLst/>
          </a:prstGeom>
        </p:spPr>
      </p:pic>
      <p:pic>
        <p:nvPicPr>
          <p:cNvPr id="81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2054" y="2441850"/>
            <a:ext cx="318290" cy="318290"/>
          </a:xfrm>
          <a:prstGeom prst="rect">
            <a:avLst/>
          </a:prstGeom>
        </p:spPr>
      </p:pic>
      <p:pic>
        <p:nvPicPr>
          <p:cNvPr id="82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6424" y="2441850"/>
            <a:ext cx="318290" cy="318290"/>
          </a:xfrm>
          <a:prstGeom prst="rect">
            <a:avLst/>
          </a:prstGeom>
        </p:spPr>
      </p:pic>
      <p:pic>
        <p:nvPicPr>
          <p:cNvPr id="83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8089" y="2441850"/>
            <a:ext cx="318290" cy="318290"/>
          </a:xfrm>
          <a:prstGeom prst="rect">
            <a:avLst/>
          </a:prstGeom>
        </p:spPr>
      </p:pic>
      <p:pic>
        <p:nvPicPr>
          <p:cNvPr id="84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3719" y="2441850"/>
            <a:ext cx="318290" cy="318290"/>
          </a:xfrm>
          <a:prstGeom prst="rect">
            <a:avLst/>
          </a:prstGeom>
        </p:spPr>
      </p:pic>
      <p:pic>
        <p:nvPicPr>
          <p:cNvPr id="85" name="图形 66" descr="禁止标志 纯色填充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1719" y="2441850"/>
            <a:ext cx="318290" cy="318290"/>
          </a:xfrm>
          <a:prstGeom prst="rect">
            <a:avLst/>
          </a:prstGeom>
        </p:spPr>
      </p:pic>
      <p:sp>
        <p:nvSpPr>
          <p:cNvPr id="86" name="任意多边形 85"/>
          <p:cNvSpPr/>
          <p:nvPr/>
        </p:nvSpPr>
        <p:spPr>
          <a:xfrm>
            <a:off x="2752090" y="3670300"/>
            <a:ext cx="8733790" cy="972185"/>
          </a:xfrm>
          <a:custGeom>
            <a:avLst/>
            <a:gdLst>
              <a:gd name="connisteX0" fmla="*/ 0 w 8620760"/>
              <a:gd name="connsiteY0" fmla="*/ 0 h 924693"/>
              <a:gd name="connisteX1" fmla="*/ 384810 w 8620760"/>
              <a:gd name="connsiteY1" fmla="*/ 423545 h 924693"/>
              <a:gd name="connisteX2" fmla="*/ 894715 w 8620760"/>
              <a:gd name="connsiteY2" fmla="*/ 163830 h 924693"/>
              <a:gd name="connisteX3" fmla="*/ 1212215 w 8620760"/>
              <a:gd name="connsiteY3" fmla="*/ 827405 h 924693"/>
              <a:gd name="connisteX4" fmla="*/ 1818640 w 8620760"/>
              <a:gd name="connsiteY4" fmla="*/ 866140 h 924693"/>
              <a:gd name="connisteX5" fmla="*/ 2222500 w 8620760"/>
              <a:gd name="connsiteY5" fmla="*/ 721995 h 924693"/>
              <a:gd name="connisteX6" fmla="*/ 3136265 w 8620760"/>
              <a:gd name="connsiteY6" fmla="*/ 923925 h 924693"/>
              <a:gd name="connisteX7" fmla="*/ 3617595 w 8620760"/>
              <a:gd name="connsiteY7" fmla="*/ 770255 h 924693"/>
              <a:gd name="connisteX8" fmla="*/ 3781425 w 8620760"/>
              <a:gd name="connsiteY8" fmla="*/ 509905 h 924693"/>
              <a:gd name="connisteX9" fmla="*/ 4194810 w 8620760"/>
              <a:gd name="connsiteY9" fmla="*/ 827405 h 924693"/>
              <a:gd name="connisteX10" fmla="*/ 5003165 w 8620760"/>
              <a:gd name="connsiteY10" fmla="*/ 856615 h 924693"/>
              <a:gd name="connisteX11" fmla="*/ 5532120 w 8620760"/>
              <a:gd name="connsiteY11" fmla="*/ 673735 h 924693"/>
              <a:gd name="connisteX12" fmla="*/ 5724525 w 8620760"/>
              <a:gd name="connsiteY12" fmla="*/ 798830 h 924693"/>
              <a:gd name="connisteX13" fmla="*/ 6600190 w 8620760"/>
              <a:gd name="connsiteY13" fmla="*/ 750570 h 924693"/>
              <a:gd name="connisteX14" fmla="*/ 6985000 w 8620760"/>
              <a:gd name="connsiteY14" fmla="*/ 731520 h 924693"/>
              <a:gd name="connisteX15" fmla="*/ 7504430 w 8620760"/>
              <a:gd name="connsiteY15" fmla="*/ 500380 h 924693"/>
              <a:gd name="connisteX16" fmla="*/ 7908925 w 8620760"/>
              <a:gd name="connsiteY16" fmla="*/ 837565 h 924693"/>
              <a:gd name="connisteX17" fmla="*/ 8620760 w 8620760"/>
              <a:gd name="connsiteY17" fmla="*/ 837565 h 924693"/>
              <a:gd name="connisteX18" fmla="*/ 8543925 w 8620760"/>
              <a:gd name="connsiteY18" fmla="*/ 885190 h 92469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</a:cxnLst>
            <a:rect l="l" t="t" r="r" b="b"/>
            <a:pathLst>
              <a:path w="8620760" h="924693">
                <a:moveTo>
                  <a:pt x="0" y="0"/>
                </a:moveTo>
                <a:cubicBezTo>
                  <a:pt x="66675" y="90170"/>
                  <a:pt x="205740" y="390525"/>
                  <a:pt x="384810" y="423545"/>
                </a:cubicBezTo>
                <a:cubicBezTo>
                  <a:pt x="563880" y="456565"/>
                  <a:pt x="728980" y="83185"/>
                  <a:pt x="894715" y="163830"/>
                </a:cubicBezTo>
                <a:cubicBezTo>
                  <a:pt x="1060450" y="244475"/>
                  <a:pt x="1027430" y="687070"/>
                  <a:pt x="1212215" y="827405"/>
                </a:cubicBezTo>
                <a:cubicBezTo>
                  <a:pt x="1397000" y="967740"/>
                  <a:pt x="1616710" y="887095"/>
                  <a:pt x="1818640" y="866140"/>
                </a:cubicBezTo>
                <a:cubicBezTo>
                  <a:pt x="2020570" y="845185"/>
                  <a:pt x="1958975" y="710565"/>
                  <a:pt x="2222500" y="721995"/>
                </a:cubicBezTo>
                <a:cubicBezTo>
                  <a:pt x="2486025" y="733425"/>
                  <a:pt x="2857500" y="914400"/>
                  <a:pt x="3136265" y="923925"/>
                </a:cubicBezTo>
                <a:cubicBezTo>
                  <a:pt x="3415030" y="933450"/>
                  <a:pt x="3488690" y="852805"/>
                  <a:pt x="3617595" y="770255"/>
                </a:cubicBezTo>
                <a:cubicBezTo>
                  <a:pt x="3746500" y="687705"/>
                  <a:pt x="3665855" y="498475"/>
                  <a:pt x="3781425" y="509905"/>
                </a:cubicBezTo>
                <a:cubicBezTo>
                  <a:pt x="3896995" y="521335"/>
                  <a:pt x="3950335" y="758190"/>
                  <a:pt x="4194810" y="827405"/>
                </a:cubicBezTo>
                <a:cubicBezTo>
                  <a:pt x="4439285" y="896620"/>
                  <a:pt x="4735830" y="887095"/>
                  <a:pt x="5003165" y="856615"/>
                </a:cubicBezTo>
                <a:cubicBezTo>
                  <a:pt x="5270500" y="826135"/>
                  <a:pt x="5387975" y="685165"/>
                  <a:pt x="5532120" y="673735"/>
                </a:cubicBezTo>
                <a:cubicBezTo>
                  <a:pt x="5676265" y="662305"/>
                  <a:pt x="5511165" y="783590"/>
                  <a:pt x="5724525" y="798830"/>
                </a:cubicBezTo>
                <a:cubicBezTo>
                  <a:pt x="5937885" y="814070"/>
                  <a:pt x="6348095" y="763905"/>
                  <a:pt x="6600190" y="750570"/>
                </a:cubicBezTo>
                <a:cubicBezTo>
                  <a:pt x="6852285" y="737235"/>
                  <a:pt x="6804025" y="781685"/>
                  <a:pt x="6985000" y="731520"/>
                </a:cubicBezTo>
                <a:cubicBezTo>
                  <a:pt x="7165975" y="681355"/>
                  <a:pt x="7319645" y="479425"/>
                  <a:pt x="7504430" y="500380"/>
                </a:cubicBezTo>
                <a:cubicBezTo>
                  <a:pt x="7689215" y="521335"/>
                  <a:pt x="7685405" y="770255"/>
                  <a:pt x="7908925" y="837565"/>
                </a:cubicBezTo>
                <a:cubicBezTo>
                  <a:pt x="8132445" y="904875"/>
                  <a:pt x="8493760" y="828040"/>
                  <a:pt x="8620760" y="837565"/>
                </a:cubicBezTo>
              </a:path>
            </a:pathLst>
          </a:custGeom>
          <a:noFill/>
          <a:ln w="38100">
            <a:solidFill>
              <a:srgbClr val="004F8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爆炸形: 8 pt  52"/>
          <p:cNvSpPr>
            <a:spLocks noChangeAspect="1"/>
          </p:cNvSpPr>
          <p:nvPr/>
        </p:nvSpPr>
        <p:spPr>
          <a:xfrm>
            <a:off x="3783544" y="4174151"/>
            <a:ext cx="246215" cy="246215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48090" y="932797"/>
            <a:ext cx="6267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（4）可能的最差情形：发生敲入且长期震荡于票息障碍下方</a:t>
            </a:r>
          </a:p>
        </p:txBody>
      </p:sp>
      <p:sp>
        <p:nvSpPr>
          <p:cNvPr id="25" name="矩形 24"/>
          <p:cNvSpPr/>
          <p:nvPr/>
        </p:nvSpPr>
        <p:spPr>
          <a:xfrm>
            <a:off x="0" y="0"/>
            <a:ext cx="199961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82404" y="1301090"/>
            <a:ext cx="1868488" cy="374417"/>
            <a:chOff x="501571" y="1269607"/>
            <a:chExt cx="1868488" cy="374417"/>
          </a:xfrm>
        </p:grpSpPr>
        <p:sp>
          <p:nvSpPr>
            <p:cNvPr id="89" name="文本框 88"/>
            <p:cNvSpPr txBox="1"/>
            <p:nvPr/>
          </p:nvSpPr>
          <p:spPr>
            <a:xfrm>
              <a:off x="501571" y="1269607"/>
              <a:ext cx="1868488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一、场外衍生品概述</a:t>
              </a:r>
            </a:p>
          </p:txBody>
        </p:sp>
        <p:cxnSp>
          <p:nvCxnSpPr>
            <p:cNvPr id="90" name="直接连接符 89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/>
        </p:nvGrpSpPr>
        <p:grpSpPr>
          <a:xfrm>
            <a:off x="180473" y="1802299"/>
            <a:ext cx="1996546" cy="374417"/>
            <a:chOff x="501571" y="1269607"/>
            <a:chExt cx="1996546" cy="374417"/>
          </a:xfrm>
        </p:grpSpPr>
        <p:sp>
          <p:nvSpPr>
            <p:cNvPr id="92" name="文本框 91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二、监管、法律及格局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组合 93"/>
          <p:cNvGrpSpPr/>
          <p:nvPr/>
        </p:nvGrpSpPr>
        <p:grpSpPr>
          <a:xfrm>
            <a:off x="180473" y="2291435"/>
            <a:ext cx="1996546" cy="374417"/>
            <a:chOff x="501571" y="1269607"/>
            <a:chExt cx="1996546" cy="374417"/>
          </a:xfrm>
        </p:grpSpPr>
        <p:sp>
          <p:nvSpPr>
            <p:cNvPr id="95" name="文本框 94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三、互换、远期</a:t>
              </a:r>
            </a:p>
          </p:txBody>
        </p:sp>
        <p:cxnSp>
          <p:nvCxnSpPr>
            <p:cNvPr id="96" name="直接连接符 95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组合 96"/>
          <p:cNvGrpSpPr/>
          <p:nvPr/>
        </p:nvGrpSpPr>
        <p:grpSpPr>
          <a:xfrm>
            <a:off x="180473" y="2843258"/>
            <a:ext cx="1996546" cy="374417"/>
            <a:chOff x="501571" y="1269607"/>
            <a:chExt cx="1996546" cy="374417"/>
          </a:xfrm>
        </p:grpSpPr>
        <p:sp>
          <p:nvSpPr>
            <p:cNvPr id="98" name="文本框 97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四、场外期权</a:t>
              </a:r>
            </a:p>
          </p:txBody>
        </p:sp>
        <p:cxnSp>
          <p:nvCxnSpPr>
            <p:cNvPr id="99" name="直接连接符 98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组合 99"/>
          <p:cNvGrpSpPr/>
          <p:nvPr/>
        </p:nvGrpSpPr>
        <p:grpSpPr>
          <a:xfrm>
            <a:off x="175419" y="6034419"/>
            <a:ext cx="1996546" cy="374417"/>
            <a:chOff x="501571" y="1269607"/>
            <a:chExt cx="1996546" cy="374417"/>
          </a:xfrm>
        </p:grpSpPr>
        <p:sp>
          <p:nvSpPr>
            <p:cNvPr id="101" name="文本框 100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五、应用及业务开展</a:t>
              </a:r>
            </a:p>
          </p:txBody>
        </p:sp>
        <p:cxnSp>
          <p:nvCxnSpPr>
            <p:cNvPr id="102" name="直接连接符 101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矩形: 剪去对角 76"/>
          <p:cNvSpPr/>
          <p:nvPr/>
        </p:nvSpPr>
        <p:spPr>
          <a:xfrm>
            <a:off x="2461970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267426" y="3214747"/>
            <a:ext cx="322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/>
        </p:nvSpPr>
        <p:spPr>
          <a:xfrm>
            <a:off x="186690" y="3242945"/>
            <a:ext cx="1875790" cy="2576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、场外期权产品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（一）欧式香草期权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（二）常见欧式香草期权组合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（三）鲨鱼鳍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（四）欧式二元&amp;美式二元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（五）自动赎回二元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（六）雪球结构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（七）凤凰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（八）FCN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附录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2、场外期权风险</a:t>
            </a:r>
          </a:p>
        </p:txBody>
      </p:sp>
      <p:sp>
        <p:nvSpPr>
          <p:cNvPr id="106" name="标题 4"/>
          <p:cNvSpPr>
            <a:spLocks noGrp="1"/>
          </p:cNvSpPr>
          <p:nvPr/>
        </p:nvSpPr>
        <p:spPr>
          <a:xfrm>
            <a:off x="2946400" y="-45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经典凤凰</a:t>
            </a:r>
            <a:r>
              <a:rPr kumimoji="0" lang="en-US" altLang="zh-CN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sym typeface="+mn-ea"/>
              </a:rPr>
              <a:t>情景分析图</a:t>
            </a: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64490"/>
            <a:ext cx="1390015" cy="2724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3887" y="2560320"/>
            <a:ext cx="10800080" cy="17948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785" y="1926590"/>
            <a:ext cx="5349875" cy="30054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56080" y="1671955"/>
            <a:ext cx="4688205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月月付息是凤凰，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敲入不怕全泡汤。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敲出虽然有锁定，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锁定期内付息忙。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敲入在下决收益，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敲出在上定时长。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票息稳健有保障，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凤凰展翅梦飞翔！</a:t>
            </a:r>
          </a:p>
        </p:txBody>
      </p:sp>
      <p:sp>
        <p:nvSpPr>
          <p:cNvPr id="25" name="矩形 24"/>
          <p:cNvSpPr/>
          <p:nvPr/>
        </p:nvSpPr>
        <p:spPr>
          <a:xfrm>
            <a:off x="0" y="0"/>
            <a:ext cx="1999615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18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82404" y="1301090"/>
            <a:ext cx="1868488" cy="374417"/>
            <a:chOff x="501571" y="1269607"/>
            <a:chExt cx="1868488" cy="374417"/>
          </a:xfrm>
        </p:grpSpPr>
        <p:sp>
          <p:nvSpPr>
            <p:cNvPr id="89" name="文本框 88"/>
            <p:cNvSpPr txBox="1"/>
            <p:nvPr/>
          </p:nvSpPr>
          <p:spPr>
            <a:xfrm>
              <a:off x="501571" y="1269607"/>
              <a:ext cx="1868488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一、场外衍生品概述</a:t>
              </a:r>
            </a:p>
          </p:txBody>
        </p:sp>
        <p:cxnSp>
          <p:nvCxnSpPr>
            <p:cNvPr id="90" name="直接连接符 89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/>
        </p:nvGrpSpPr>
        <p:grpSpPr>
          <a:xfrm>
            <a:off x="180473" y="1802299"/>
            <a:ext cx="1996546" cy="374417"/>
            <a:chOff x="501571" y="1269607"/>
            <a:chExt cx="1996546" cy="374417"/>
          </a:xfrm>
        </p:grpSpPr>
        <p:sp>
          <p:nvSpPr>
            <p:cNvPr id="92" name="文本框 91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二、监管、法律及格局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组合 93"/>
          <p:cNvGrpSpPr/>
          <p:nvPr/>
        </p:nvGrpSpPr>
        <p:grpSpPr>
          <a:xfrm>
            <a:off x="180473" y="2291435"/>
            <a:ext cx="1996546" cy="374417"/>
            <a:chOff x="501571" y="1269607"/>
            <a:chExt cx="1996546" cy="374417"/>
          </a:xfrm>
        </p:grpSpPr>
        <p:sp>
          <p:nvSpPr>
            <p:cNvPr id="95" name="文本框 94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三、互换、远期</a:t>
              </a:r>
            </a:p>
          </p:txBody>
        </p:sp>
        <p:cxnSp>
          <p:nvCxnSpPr>
            <p:cNvPr id="96" name="直接连接符 95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组合 96"/>
          <p:cNvGrpSpPr/>
          <p:nvPr/>
        </p:nvGrpSpPr>
        <p:grpSpPr>
          <a:xfrm>
            <a:off x="180473" y="2843258"/>
            <a:ext cx="1996546" cy="374417"/>
            <a:chOff x="501571" y="1269607"/>
            <a:chExt cx="1996546" cy="374417"/>
          </a:xfrm>
        </p:grpSpPr>
        <p:sp>
          <p:nvSpPr>
            <p:cNvPr id="98" name="文本框 97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四、场外期权</a:t>
              </a:r>
            </a:p>
          </p:txBody>
        </p:sp>
        <p:cxnSp>
          <p:nvCxnSpPr>
            <p:cNvPr id="99" name="直接连接符 98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组合 99"/>
          <p:cNvGrpSpPr/>
          <p:nvPr/>
        </p:nvGrpSpPr>
        <p:grpSpPr>
          <a:xfrm>
            <a:off x="175419" y="6034419"/>
            <a:ext cx="1996546" cy="374417"/>
            <a:chOff x="501571" y="1269607"/>
            <a:chExt cx="1996546" cy="374417"/>
          </a:xfrm>
        </p:grpSpPr>
        <p:sp>
          <p:nvSpPr>
            <p:cNvPr id="101" name="文本框 100"/>
            <p:cNvSpPr txBox="1"/>
            <p:nvPr/>
          </p:nvSpPr>
          <p:spPr>
            <a:xfrm>
              <a:off x="501571" y="1269607"/>
              <a:ext cx="1996546" cy="275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五、应用及业务开展</a:t>
              </a:r>
            </a:p>
          </p:txBody>
        </p:sp>
        <p:cxnSp>
          <p:nvCxnSpPr>
            <p:cNvPr id="102" name="直接连接符 101"/>
            <p:cNvCxnSpPr/>
            <p:nvPr/>
          </p:nvCxnSpPr>
          <p:spPr>
            <a:xfrm>
              <a:off x="505743" y="1644024"/>
              <a:ext cx="1533883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矩形: 剪去对角 76"/>
          <p:cNvSpPr/>
          <p:nvPr/>
        </p:nvSpPr>
        <p:spPr>
          <a:xfrm>
            <a:off x="2461970" y="72539"/>
            <a:ext cx="230075" cy="584036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267426" y="3214747"/>
            <a:ext cx="322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/>
        </p:nvSpPr>
        <p:spPr>
          <a:xfrm>
            <a:off x="186690" y="3242945"/>
            <a:ext cx="1875790" cy="25761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、场外期权产品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（一）欧式香草期权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（二）常见欧式香草期权组合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（三）鲨鱼鳍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（四）欧式二元&amp;美式二元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（五）自动赎回二元</a:t>
            </a: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（六）雪球结构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（七）凤凰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（八）FCN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 附录</a:t>
            </a:r>
          </a:p>
          <a:p>
            <a:pPr marL="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2、场外期权风险</a:t>
            </a:r>
          </a:p>
        </p:txBody>
      </p:sp>
      <p:sp>
        <p:nvSpPr>
          <p:cNvPr id="106" name="标题 4"/>
          <p:cNvSpPr>
            <a:spLocks noGrp="1"/>
          </p:cNvSpPr>
          <p:nvPr/>
        </p:nvSpPr>
        <p:spPr>
          <a:xfrm>
            <a:off x="2946400" y="-45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1">
                <a:ln>
                  <a:noFill/>
                  <a:prstDash val="sysDot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国元凤凰展翅歌</a:t>
            </a:r>
            <a:endParaRPr kumimoji="0" lang="zh-CN" altLang="en-US" sz="2800" b="1" i="0" u="none" strike="noStrike" kern="1200" cap="none" spc="300" normalizeH="0" baseline="0" noProof="1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64490"/>
            <a:ext cx="1390015" cy="2724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B69499C-B42F-EB54-E34C-D8E99A7BF0DD}"/>
              </a:ext>
            </a:extLst>
          </p:cNvPr>
          <p:cNvSpPr txBox="1">
            <a:spLocks/>
          </p:cNvSpPr>
          <p:nvPr/>
        </p:nvSpPr>
        <p:spPr>
          <a:xfrm>
            <a:off x="579120" y="2963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雪球赚什么钱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C47654-ED26-62DE-077C-B90B9AB6BA9E}"/>
              </a:ext>
            </a:extLst>
          </p:cNvPr>
          <p:cNvSpPr txBox="1"/>
          <p:nvPr/>
        </p:nvSpPr>
        <p:spPr>
          <a:xfrm>
            <a:off x="474708" y="1926212"/>
            <a:ext cx="4692310" cy="1296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，波动生息：通过高抛低吸来赚取波动收益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，股指期货贴水收益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，保证金投资收益</a:t>
            </a:r>
          </a:p>
        </p:txBody>
      </p:sp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63DEB116-8E38-7A5F-EEDC-A17A041B1ACF}"/>
              </a:ext>
            </a:extLst>
          </p:cNvPr>
          <p:cNvSpPr/>
          <p:nvPr/>
        </p:nvSpPr>
        <p:spPr>
          <a:xfrm>
            <a:off x="4451691" y="787330"/>
            <a:ext cx="1855177" cy="1059473"/>
          </a:xfrm>
          <a:prstGeom prst="cloud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雪球三赚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356ABB6-F022-EA58-BDB7-FB5E24AD4A1D}"/>
              </a:ext>
            </a:extLst>
          </p:cNvPr>
          <p:cNvSpPr/>
          <p:nvPr/>
        </p:nvSpPr>
        <p:spPr>
          <a:xfrm>
            <a:off x="6911390" y="1887479"/>
            <a:ext cx="4000500" cy="1063869"/>
          </a:xfrm>
          <a:custGeom>
            <a:avLst/>
            <a:gdLst>
              <a:gd name="connsiteX0" fmla="*/ 0 w 4000500"/>
              <a:gd name="connsiteY0" fmla="*/ 835269 h 1063869"/>
              <a:gd name="connsiteX1" fmla="*/ 65942 w 4000500"/>
              <a:gd name="connsiteY1" fmla="*/ 813288 h 1063869"/>
              <a:gd name="connsiteX2" fmla="*/ 413239 w 4000500"/>
              <a:gd name="connsiteY2" fmla="*/ 646234 h 1063869"/>
              <a:gd name="connsiteX3" fmla="*/ 531935 w 4000500"/>
              <a:gd name="connsiteY3" fmla="*/ 606669 h 1063869"/>
              <a:gd name="connsiteX4" fmla="*/ 940777 w 4000500"/>
              <a:gd name="connsiteY4" fmla="*/ 690196 h 1063869"/>
              <a:gd name="connsiteX5" fmla="*/ 1090246 w 4000500"/>
              <a:gd name="connsiteY5" fmla="*/ 852854 h 1063869"/>
              <a:gd name="connsiteX6" fmla="*/ 1494692 w 4000500"/>
              <a:gd name="connsiteY6" fmla="*/ 1041888 h 1063869"/>
              <a:gd name="connsiteX7" fmla="*/ 1696915 w 4000500"/>
              <a:gd name="connsiteY7" fmla="*/ 1063869 h 1063869"/>
              <a:gd name="connsiteX8" fmla="*/ 2070589 w 4000500"/>
              <a:gd name="connsiteY8" fmla="*/ 896815 h 1063869"/>
              <a:gd name="connsiteX9" fmla="*/ 2343150 w 4000500"/>
              <a:gd name="connsiteY9" fmla="*/ 593480 h 1063869"/>
              <a:gd name="connsiteX10" fmla="*/ 2558562 w 4000500"/>
              <a:gd name="connsiteY10" fmla="*/ 404446 h 1063869"/>
              <a:gd name="connsiteX11" fmla="*/ 2690446 w 4000500"/>
              <a:gd name="connsiteY11" fmla="*/ 351692 h 1063869"/>
              <a:gd name="connsiteX12" fmla="*/ 2976196 w 4000500"/>
              <a:gd name="connsiteY12" fmla="*/ 320919 h 1063869"/>
              <a:gd name="connsiteX13" fmla="*/ 3270739 w 4000500"/>
              <a:gd name="connsiteY13" fmla="*/ 422030 h 1063869"/>
              <a:gd name="connsiteX14" fmla="*/ 3494942 w 4000500"/>
              <a:gd name="connsiteY14" fmla="*/ 470388 h 1063869"/>
              <a:gd name="connsiteX15" fmla="*/ 3749919 w 4000500"/>
              <a:gd name="connsiteY15" fmla="*/ 241788 h 1063869"/>
              <a:gd name="connsiteX16" fmla="*/ 3930162 w 4000500"/>
              <a:gd name="connsiteY16" fmla="*/ 83527 h 1063869"/>
              <a:gd name="connsiteX17" fmla="*/ 3982915 w 4000500"/>
              <a:gd name="connsiteY17" fmla="*/ 35169 h 1063869"/>
              <a:gd name="connsiteX18" fmla="*/ 3996104 w 4000500"/>
              <a:gd name="connsiteY18" fmla="*/ 13188 h 1063869"/>
              <a:gd name="connsiteX19" fmla="*/ 4000500 w 4000500"/>
              <a:gd name="connsiteY19" fmla="*/ 0 h 106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000500" h="1063869">
                <a:moveTo>
                  <a:pt x="0" y="835269"/>
                </a:moveTo>
                <a:cubicBezTo>
                  <a:pt x="21981" y="827942"/>
                  <a:pt x="44872" y="822926"/>
                  <a:pt x="65942" y="813288"/>
                </a:cubicBezTo>
                <a:cubicBezTo>
                  <a:pt x="182761" y="759849"/>
                  <a:pt x="291369" y="686857"/>
                  <a:pt x="413239" y="646234"/>
                </a:cubicBezTo>
                <a:lnTo>
                  <a:pt x="531935" y="606669"/>
                </a:lnTo>
                <a:cubicBezTo>
                  <a:pt x="668216" y="634511"/>
                  <a:pt x="813505" y="634076"/>
                  <a:pt x="940777" y="690196"/>
                </a:cubicBezTo>
                <a:cubicBezTo>
                  <a:pt x="1008152" y="719905"/>
                  <a:pt x="1033427" y="806017"/>
                  <a:pt x="1090246" y="852854"/>
                </a:cubicBezTo>
                <a:cubicBezTo>
                  <a:pt x="1189344" y="934543"/>
                  <a:pt x="1375537" y="1012707"/>
                  <a:pt x="1494692" y="1041888"/>
                </a:cubicBezTo>
                <a:cubicBezTo>
                  <a:pt x="1560551" y="1058017"/>
                  <a:pt x="1629507" y="1056542"/>
                  <a:pt x="1696915" y="1063869"/>
                </a:cubicBezTo>
                <a:cubicBezTo>
                  <a:pt x="1813274" y="1024257"/>
                  <a:pt x="1974265" y="984469"/>
                  <a:pt x="2070589" y="896815"/>
                </a:cubicBezTo>
                <a:cubicBezTo>
                  <a:pt x="2171126" y="805326"/>
                  <a:pt x="2251393" y="693773"/>
                  <a:pt x="2343150" y="593480"/>
                </a:cubicBezTo>
                <a:cubicBezTo>
                  <a:pt x="2412901" y="517241"/>
                  <a:pt x="2467021" y="454378"/>
                  <a:pt x="2558562" y="404446"/>
                </a:cubicBezTo>
                <a:cubicBezTo>
                  <a:pt x="2600128" y="381773"/>
                  <a:pt x="2644436" y="362866"/>
                  <a:pt x="2690446" y="351692"/>
                </a:cubicBezTo>
                <a:cubicBezTo>
                  <a:pt x="2749116" y="337444"/>
                  <a:pt x="2902999" y="326775"/>
                  <a:pt x="2976196" y="320919"/>
                </a:cubicBezTo>
                <a:cubicBezTo>
                  <a:pt x="3281399" y="390284"/>
                  <a:pt x="2743115" y="262644"/>
                  <a:pt x="3270739" y="422030"/>
                </a:cubicBezTo>
                <a:cubicBezTo>
                  <a:pt x="3343926" y="444138"/>
                  <a:pt x="3420208" y="454269"/>
                  <a:pt x="3494942" y="470388"/>
                </a:cubicBezTo>
                <a:cubicBezTo>
                  <a:pt x="3695477" y="396507"/>
                  <a:pt x="3455732" y="500097"/>
                  <a:pt x="3749919" y="241788"/>
                </a:cubicBezTo>
                <a:lnTo>
                  <a:pt x="3930162" y="83527"/>
                </a:lnTo>
                <a:cubicBezTo>
                  <a:pt x="3948010" y="67700"/>
                  <a:pt x="3970642" y="55624"/>
                  <a:pt x="3982915" y="35169"/>
                </a:cubicBezTo>
                <a:cubicBezTo>
                  <a:pt x="3987311" y="27842"/>
                  <a:pt x="3992283" y="20831"/>
                  <a:pt x="3996104" y="13188"/>
                </a:cubicBezTo>
                <a:cubicBezTo>
                  <a:pt x="3998176" y="9043"/>
                  <a:pt x="4000500" y="0"/>
                  <a:pt x="4000500" y="0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4874BA8-9E04-FA12-203D-757109165C97}"/>
              </a:ext>
            </a:extLst>
          </p:cNvPr>
          <p:cNvSpPr/>
          <p:nvPr/>
        </p:nvSpPr>
        <p:spPr>
          <a:xfrm>
            <a:off x="6911390" y="1887479"/>
            <a:ext cx="4000500" cy="1725125"/>
          </a:xfrm>
          <a:custGeom>
            <a:avLst/>
            <a:gdLst>
              <a:gd name="connsiteX0" fmla="*/ 0 w 3925777"/>
              <a:gd name="connsiteY0" fmla="*/ 1538654 h 1657350"/>
              <a:gd name="connsiteX1" fmla="*/ 26377 w 3925777"/>
              <a:gd name="connsiteY1" fmla="*/ 1494692 h 1657350"/>
              <a:gd name="connsiteX2" fmla="*/ 35169 w 3925777"/>
              <a:gd name="connsiteY2" fmla="*/ 1477107 h 1657350"/>
              <a:gd name="connsiteX3" fmla="*/ 48358 w 3925777"/>
              <a:gd name="connsiteY3" fmla="*/ 1468315 h 1657350"/>
              <a:gd name="connsiteX4" fmla="*/ 145073 w 3925777"/>
              <a:gd name="connsiteY4" fmla="*/ 1455127 h 1657350"/>
              <a:gd name="connsiteX5" fmla="*/ 232996 w 3925777"/>
              <a:gd name="connsiteY5" fmla="*/ 1441938 h 1657350"/>
              <a:gd name="connsiteX6" fmla="*/ 751742 w 3925777"/>
              <a:gd name="connsiteY6" fmla="*/ 1446334 h 1657350"/>
              <a:gd name="connsiteX7" fmla="*/ 839665 w 3925777"/>
              <a:gd name="connsiteY7" fmla="*/ 1477107 h 1657350"/>
              <a:gd name="connsiteX8" fmla="*/ 1213338 w 3925777"/>
              <a:gd name="connsiteY8" fmla="*/ 1573823 h 1657350"/>
              <a:gd name="connsiteX9" fmla="*/ 1310054 w 3925777"/>
              <a:gd name="connsiteY9" fmla="*/ 1608992 h 1657350"/>
              <a:gd name="connsiteX10" fmla="*/ 1521069 w 3925777"/>
              <a:gd name="connsiteY10" fmla="*/ 1648557 h 1657350"/>
              <a:gd name="connsiteX11" fmla="*/ 1666142 w 3925777"/>
              <a:gd name="connsiteY11" fmla="*/ 1657350 h 1657350"/>
              <a:gd name="connsiteX12" fmla="*/ 1745273 w 3925777"/>
              <a:gd name="connsiteY12" fmla="*/ 1648557 h 1657350"/>
              <a:gd name="connsiteX13" fmla="*/ 1771650 w 3925777"/>
              <a:gd name="connsiteY13" fmla="*/ 1644161 h 1657350"/>
              <a:gd name="connsiteX14" fmla="*/ 1811215 w 3925777"/>
              <a:gd name="connsiteY14" fmla="*/ 1626577 h 1657350"/>
              <a:gd name="connsiteX15" fmla="*/ 1868365 w 3925777"/>
              <a:gd name="connsiteY15" fmla="*/ 1604596 h 1657350"/>
              <a:gd name="connsiteX16" fmla="*/ 1912327 w 3925777"/>
              <a:gd name="connsiteY16" fmla="*/ 1573823 h 1657350"/>
              <a:gd name="connsiteX17" fmla="*/ 1929911 w 3925777"/>
              <a:gd name="connsiteY17" fmla="*/ 1543050 h 1657350"/>
              <a:gd name="connsiteX18" fmla="*/ 2013438 w 3925777"/>
              <a:gd name="connsiteY18" fmla="*/ 1450731 h 1657350"/>
              <a:gd name="connsiteX19" fmla="*/ 2158511 w 3925777"/>
              <a:gd name="connsiteY19" fmla="*/ 1301261 h 1657350"/>
              <a:gd name="connsiteX20" fmla="*/ 2264019 w 3925777"/>
              <a:gd name="connsiteY20" fmla="*/ 1169377 h 1657350"/>
              <a:gd name="connsiteX21" fmla="*/ 2294792 w 3925777"/>
              <a:gd name="connsiteY21" fmla="*/ 1164981 h 1657350"/>
              <a:gd name="connsiteX22" fmla="*/ 2351942 w 3925777"/>
              <a:gd name="connsiteY22" fmla="*/ 1143000 h 1657350"/>
              <a:gd name="connsiteX23" fmla="*/ 2422281 w 3925777"/>
              <a:gd name="connsiteY23" fmla="*/ 1059473 h 1657350"/>
              <a:gd name="connsiteX24" fmla="*/ 2475034 w 3925777"/>
              <a:gd name="connsiteY24" fmla="*/ 997927 h 1657350"/>
              <a:gd name="connsiteX25" fmla="*/ 2567354 w 3925777"/>
              <a:gd name="connsiteY25" fmla="*/ 861646 h 1657350"/>
              <a:gd name="connsiteX26" fmla="*/ 2580542 w 3925777"/>
              <a:gd name="connsiteY26" fmla="*/ 839665 h 1657350"/>
              <a:gd name="connsiteX27" fmla="*/ 2611315 w 3925777"/>
              <a:gd name="connsiteY27" fmla="*/ 800100 h 1657350"/>
              <a:gd name="connsiteX28" fmla="*/ 2650881 w 3925777"/>
              <a:gd name="connsiteY28" fmla="*/ 681404 h 1657350"/>
              <a:gd name="connsiteX29" fmla="*/ 2655277 w 3925777"/>
              <a:gd name="connsiteY29" fmla="*/ 646234 h 1657350"/>
              <a:gd name="connsiteX30" fmla="*/ 2659673 w 3925777"/>
              <a:gd name="connsiteY30" fmla="*/ 633046 h 1657350"/>
              <a:gd name="connsiteX31" fmla="*/ 2756388 w 3925777"/>
              <a:gd name="connsiteY31" fmla="*/ 593481 h 1657350"/>
              <a:gd name="connsiteX32" fmla="*/ 2787161 w 3925777"/>
              <a:gd name="connsiteY32" fmla="*/ 580292 h 1657350"/>
              <a:gd name="connsiteX33" fmla="*/ 2980592 w 3925777"/>
              <a:gd name="connsiteY33" fmla="*/ 562707 h 1657350"/>
              <a:gd name="connsiteX34" fmla="*/ 3169627 w 3925777"/>
              <a:gd name="connsiteY34" fmla="*/ 606669 h 1657350"/>
              <a:gd name="connsiteX35" fmla="*/ 3288323 w 3925777"/>
              <a:gd name="connsiteY35" fmla="*/ 624254 h 1657350"/>
              <a:gd name="connsiteX36" fmla="*/ 3336681 w 3925777"/>
              <a:gd name="connsiteY36" fmla="*/ 628650 h 1657350"/>
              <a:gd name="connsiteX37" fmla="*/ 3618034 w 3925777"/>
              <a:gd name="connsiteY37" fmla="*/ 602273 h 1657350"/>
              <a:gd name="connsiteX38" fmla="*/ 3675184 w 3925777"/>
              <a:gd name="connsiteY38" fmla="*/ 562707 h 1657350"/>
              <a:gd name="connsiteX39" fmla="*/ 3697165 w 3925777"/>
              <a:gd name="connsiteY39" fmla="*/ 527538 h 1657350"/>
              <a:gd name="connsiteX40" fmla="*/ 3719146 w 3925777"/>
              <a:gd name="connsiteY40" fmla="*/ 479181 h 1657350"/>
              <a:gd name="connsiteX41" fmla="*/ 3749919 w 3925777"/>
              <a:gd name="connsiteY41" fmla="*/ 444011 h 1657350"/>
              <a:gd name="connsiteX42" fmla="*/ 3807069 w 3925777"/>
              <a:gd name="connsiteY42" fmla="*/ 320919 h 1657350"/>
              <a:gd name="connsiteX43" fmla="*/ 3815861 w 3925777"/>
              <a:gd name="connsiteY43" fmla="*/ 290146 h 1657350"/>
              <a:gd name="connsiteX44" fmla="*/ 3829050 w 3925777"/>
              <a:gd name="connsiteY44" fmla="*/ 268165 h 1657350"/>
              <a:gd name="connsiteX45" fmla="*/ 3864219 w 3925777"/>
              <a:gd name="connsiteY45" fmla="*/ 197827 h 1657350"/>
              <a:gd name="connsiteX46" fmla="*/ 3894992 w 3925777"/>
              <a:gd name="connsiteY46" fmla="*/ 145073 h 1657350"/>
              <a:gd name="connsiteX47" fmla="*/ 3908181 w 3925777"/>
              <a:gd name="connsiteY47" fmla="*/ 87923 h 1657350"/>
              <a:gd name="connsiteX48" fmla="*/ 3916973 w 3925777"/>
              <a:gd name="connsiteY48" fmla="*/ 43961 h 1657350"/>
              <a:gd name="connsiteX49" fmla="*/ 3925765 w 3925777"/>
              <a:gd name="connsiteY49" fmla="*/ 0 h 165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925777" h="1657350">
                <a:moveTo>
                  <a:pt x="0" y="1538654"/>
                </a:moveTo>
                <a:cubicBezTo>
                  <a:pt x="8792" y="1524000"/>
                  <a:pt x="18735" y="1509977"/>
                  <a:pt x="26377" y="1494692"/>
                </a:cubicBezTo>
                <a:cubicBezTo>
                  <a:pt x="29308" y="1488830"/>
                  <a:pt x="30974" y="1482141"/>
                  <a:pt x="35169" y="1477107"/>
                </a:cubicBezTo>
                <a:cubicBezTo>
                  <a:pt x="38552" y="1473048"/>
                  <a:pt x="43177" y="1469351"/>
                  <a:pt x="48358" y="1468315"/>
                </a:cubicBezTo>
                <a:cubicBezTo>
                  <a:pt x="80263" y="1461934"/>
                  <a:pt x="112863" y="1459728"/>
                  <a:pt x="145073" y="1455127"/>
                </a:cubicBezTo>
                <a:lnTo>
                  <a:pt x="232996" y="1441938"/>
                </a:lnTo>
                <a:lnTo>
                  <a:pt x="751742" y="1446334"/>
                </a:lnTo>
                <a:cubicBezTo>
                  <a:pt x="782741" y="1448131"/>
                  <a:pt x="809784" y="1468662"/>
                  <a:pt x="839665" y="1477107"/>
                </a:cubicBezTo>
                <a:cubicBezTo>
                  <a:pt x="1022261" y="1528710"/>
                  <a:pt x="959734" y="1481605"/>
                  <a:pt x="1213338" y="1573823"/>
                </a:cubicBezTo>
                <a:cubicBezTo>
                  <a:pt x="1245577" y="1585546"/>
                  <a:pt x="1277122" y="1599387"/>
                  <a:pt x="1310054" y="1608992"/>
                </a:cubicBezTo>
                <a:cubicBezTo>
                  <a:pt x="1374916" y="1627910"/>
                  <a:pt x="1453130" y="1642381"/>
                  <a:pt x="1521069" y="1648557"/>
                </a:cubicBezTo>
                <a:cubicBezTo>
                  <a:pt x="1569316" y="1652943"/>
                  <a:pt x="1666142" y="1657350"/>
                  <a:pt x="1666142" y="1657350"/>
                </a:cubicBezTo>
                <a:lnTo>
                  <a:pt x="1745273" y="1648557"/>
                </a:lnTo>
                <a:cubicBezTo>
                  <a:pt x="1754118" y="1647451"/>
                  <a:pt x="1763194" y="1646980"/>
                  <a:pt x="1771650" y="1644161"/>
                </a:cubicBezTo>
                <a:cubicBezTo>
                  <a:pt x="1785342" y="1639597"/>
                  <a:pt x="1797857" y="1632041"/>
                  <a:pt x="1811215" y="1626577"/>
                </a:cubicBezTo>
                <a:cubicBezTo>
                  <a:pt x="1830106" y="1618849"/>
                  <a:pt x="1850269" y="1614037"/>
                  <a:pt x="1868365" y="1604596"/>
                </a:cubicBezTo>
                <a:cubicBezTo>
                  <a:pt x="1884224" y="1596322"/>
                  <a:pt x="1897673" y="1584081"/>
                  <a:pt x="1912327" y="1573823"/>
                </a:cubicBezTo>
                <a:cubicBezTo>
                  <a:pt x="1918188" y="1563565"/>
                  <a:pt x="1922994" y="1552628"/>
                  <a:pt x="1929911" y="1543050"/>
                </a:cubicBezTo>
                <a:cubicBezTo>
                  <a:pt x="1951342" y="1513377"/>
                  <a:pt x="1985852" y="1474869"/>
                  <a:pt x="2013438" y="1450731"/>
                </a:cubicBezTo>
                <a:cubicBezTo>
                  <a:pt x="2087751" y="1385707"/>
                  <a:pt x="2094573" y="1405157"/>
                  <a:pt x="2158511" y="1301261"/>
                </a:cubicBezTo>
                <a:cubicBezTo>
                  <a:pt x="2176853" y="1271456"/>
                  <a:pt x="2231508" y="1174021"/>
                  <a:pt x="2264019" y="1169377"/>
                </a:cubicBezTo>
                <a:lnTo>
                  <a:pt x="2294792" y="1164981"/>
                </a:lnTo>
                <a:cubicBezTo>
                  <a:pt x="2313842" y="1157654"/>
                  <a:pt x="2334370" y="1153383"/>
                  <a:pt x="2351942" y="1143000"/>
                </a:cubicBezTo>
                <a:cubicBezTo>
                  <a:pt x="2396763" y="1116515"/>
                  <a:pt x="2391807" y="1099571"/>
                  <a:pt x="2422281" y="1059473"/>
                </a:cubicBezTo>
                <a:cubicBezTo>
                  <a:pt x="2438630" y="1037960"/>
                  <a:pt x="2459055" y="1019716"/>
                  <a:pt x="2475034" y="997927"/>
                </a:cubicBezTo>
                <a:cubicBezTo>
                  <a:pt x="2507482" y="953680"/>
                  <a:pt x="2539125" y="908696"/>
                  <a:pt x="2567354" y="861646"/>
                </a:cubicBezTo>
                <a:cubicBezTo>
                  <a:pt x="2571750" y="854319"/>
                  <a:pt x="2575576" y="846618"/>
                  <a:pt x="2580542" y="839665"/>
                </a:cubicBezTo>
                <a:cubicBezTo>
                  <a:pt x="2590253" y="826069"/>
                  <a:pt x="2601057" y="813288"/>
                  <a:pt x="2611315" y="800100"/>
                </a:cubicBezTo>
                <a:cubicBezTo>
                  <a:pt x="2628142" y="755227"/>
                  <a:pt x="2641389" y="726490"/>
                  <a:pt x="2650881" y="681404"/>
                </a:cubicBezTo>
                <a:cubicBezTo>
                  <a:pt x="2653315" y="669843"/>
                  <a:pt x="2653164" y="657858"/>
                  <a:pt x="2655277" y="646234"/>
                </a:cubicBezTo>
                <a:cubicBezTo>
                  <a:pt x="2656106" y="641675"/>
                  <a:pt x="2655966" y="635826"/>
                  <a:pt x="2659673" y="633046"/>
                </a:cubicBezTo>
                <a:cubicBezTo>
                  <a:pt x="2702323" y="601059"/>
                  <a:pt x="2708858" y="609325"/>
                  <a:pt x="2756388" y="593481"/>
                </a:cubicBezTo>
                <a:cubicBezTo>
                  <a:pt x="2766975" y="589952"/>
                  <a:pt x="2776267" y="582713"/>
                  <a:pt x="2787161" y="580292"/>
                </a:cubicBezTo>
                <a:cubicBezTo>
                  <a:pt x="2860795" y="563929"/>
                  <a:pt x="2903792" y="565908"/>
                  <a:pt x="2980592" y="562707"/>
                </a:cubicBezTo>
                <a:cubicBezTo>
                  <a:pt x="3053044" y="580820"/>
                  <a:pt x="3098235" y="593518"/>
                  <a:pt x="3169627" y="606669"/>
                </a:cubicBezTo>
                <a:cubicBezTo>
                  <a:pt x="3195386" y="611414"/>
                  <a:pt x="3254288" y="620671"/>
                  <a:pt x="3288323" y="624254"/>
                </a:cubicBezTo>
                <a:cubicBezTo>
                  <a:pt x="3304420" y="625949"/>
                  <a:pt x="3320562" y="627185"/>
                  <a:pt x="3336681" y="628650"/>
                </a:cubicBezTo>
                <a:cubicBezTo>
                  <a:pt x="3347767" y="627819"/>
                  <a:pt x="3574858" y="613702"/>
                  <a:pt x="3618034" y="602273"/>
                </a:cubicBezTo>
                <a:cubicBezTo>
                  <a:pt x="3628984" y="599375"/>
                  <a:pt x="3663862" y="578275"/>
                  <a:pt x="3675184" y="562707"/>
                </a:cubicBezTo>
                <a:cubicBezTo>
                  <a:pt x="3683315" y="551527"/>
                  <a:pt x="3690726" y="539771"/>
                  <a:pt x="3697165" y="527538"/>
                </a:cubicBezTo>
                <a:cubicBezTo>
                  <a:pt x="3705412" y="511870"/>
                  <a:pt x="3709691" y="494151"/>
                  <a:pt x="3719146" y="479181"/>
                </a:cubicBezTo>
                <a:cubicBezTo>
                  <a:pt x="3727464" y="466010"/>
                  <a:pt x="3742354" y="457628"/>
                  <a:pt x="3749919" y="444011"/>
                </a:cubicBezTo>
                <a:cubicBezTo>
                  <a:pt x="3771888" y="404466"/>
                  <a:pt x="3794642" y="364416"/>
                  <a:pt x="3807069" y="320919"/>
                </a:cubicBezTo>
                <a:cubicBezTo>
                  <a:pt x="3810000" y="310661"/>
                  <a:pt x="3811758" y="299993"/>
                  <a:pt x="3815861" y="290146"/>
                </a:cubicBezTo>
                <a:cubicBezTo>
                  <a:pt x="3819147" y="282259"/>
                  <a:pt x="3825085" y="275734"/>
                  <a:pt x="3829050" y="268165"/>
                </a:cubicBezTo>
                <a:cubicBezTo>
                  <a:pt x="3841213" y="244944"/>
                  <a:pt x="3849678" y="219638"/>
                  <a:pt x="3864219" y="197827"/>
                </a:cubicBezTo>
                <a:cubicBezTo>
                  <a:pt x="3887257" y="163271"/>
                  <a:pt x="3877078" y="180902"/>
                  <a:pt x="3894992" y="145073"/>
                </a:cubicBezTo>
                <a:cubicBezTo>
                  <a:pt x="3901156" y="120416"/>
                  <a:pt x="3901451" y="119892"/>
                  <a:pt x="3908181" y="87923"/>
                </a:cubicBezTo>
                <a:cubicBezTo>
                  <a:pt x="3911260" y="73299"/>
                  <a:pt x="3913731" y="58549"/>
                  <a:pt x="3916973" y="43961"/>
                </a:cubicBezTo>
                <a:cubicBezTo>
                  <a:pt x="3926476" y="1197"/>
                  <a:pt x="3925765" y="22028"/>
                  <a:pt x="3925765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CA165EA-1B07-DFC0-29E9-288187E7CD9D}"/>
              </a:ext>
            </a:extLst>
          </p:cNvPr>
          <p:cNvCxnSpPr>
            <a:cxnSpLocks/>
          </p:cNvCxnSpPr>
          <p:nvPr/>
        </p:nvCxnSpPr>
        <p:spPr>
          <a:xfrm flipV="1">
            <a:off x="6901145" y="1775011"/>
            <a:ext cx="10245" cy="2026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82B8696-A309-EBA3-4FDE-88CBF9F2E717}"/>
              </a:ext>
            </a:extLst>
          </p:cNvPr>
          <p:cNvCxnSpPr>
            <a:cxnSpLocks/>
          </p:cNvCxnSpPr>
          <p:nvPr/>
        </p:nvCxnSpPr>
        <p:spPr>
          <a:xfrm>
            <a:off x="6911390" y="3801638"/>
            <a:ext cx="4637942" cy="35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9441609-F571-5FB8-FDF7-E9156ED7A5B0}"/>
              </a:ext>
            </a:extLst>
          </p:cNvPr>
          <p:cNvCxnSpPr>
            <a:cxnSpLocks/>
          </p:cNvCxnSpPr>
          <p:nvPr/>
        </p:nvCxnSpPr>
        <p:spPr>
          <a:xfrm flipV="1">
            <a:off x="10911890" y="1805784"/>
            <a:ext cx="0" cy="2031023"/>
          </a:xfrm>
          <a:prstGeom prst="straightConnector1">
            <a:avLst/>
          </a:prstGeom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F3A4938-496A-B73B-C89A-508087E54625}"/>
              </a:ext>
            </a:extLst>
          </p:cNvPr>
          <p:cNvSpPr txBox="1"/>
          <p:nvPr/>
        </p:nvSpPr>
        <p:spPr>
          <a:xfrm>
            <a:off x="10370716" y="3908260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股指期货交割日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661784-2731-DD94-C7CB-A6AFC549F3C4}"/>
              </a:ext>
            </a:extLst>
          </p:cNvPr>
          <p:cNvSpPr txBox="1"/>
          <p:nvPr/>
        </p:nvSpPr>
        <p:spPr>
          <a:xfrm>
            <a:off x="7019381" y="219334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现货指数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6709FC-99D5-6107-9DB1-2C1A32997532}"/>
              </a:ext>
            </a:extLst>
          </p:cNvPr>
          <p:cNvSpPr txBox="1"/>
          <p:nvPr/>
        </p:nvSpPr>
        <p:spPr>
          <a:xfrm>
            <a:off x="7019381" y="3089931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股指期货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306A85-6DFA-162B-6ED1-7940EF0F2F37}"/>
              </a:ext>
            </a:extLst>
          </p:cNvPr>
          <p:cNvSpPr txBox="1"/>
          <p:nvPr/>
        </p:nvSpPr>
        <p:spPr>
          <a:xfrm>
            <a:off x="6901144" y="4255419"/>
            <a:ext cx="4612621" cy="2646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目前中证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1000/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中证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的股指期货相对现货长期贴水，为雪球投资者提供了额外的收益来源，票息贴水贡献超过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5%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，但由于期限错配等问题，基差也有可能不如预期收敛，也可能面临亏损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不同的卖方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对冲机构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资金成本，投向有差异。资源禀赋的差异导致不同机构对不同的结构报价有较大差异。资金收益一项也有可能面临不及预期的风险。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行情持续低迷，波动亦可能不如预期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5B37B3-A278-BA22-43A7-6F5277C1989B}"/>
              </a:ext>
            </a:extLst>
          </p:cNvPr>
          <p:cNvSpPr txBox="1"/>
          <p:nvPr/>
        </p:nvSpPr>
        <p:spPr>
          <a:xfrm>
            <a:off x="6674225" y="391110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起息日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16BD72-5FE3-A089-5540-2ACD0F30DD25}"/>
              </a:ext>
            </a:extLst>
          </p:cNvPr>
          <p:cNvSpPr/>
          <p:nvPr/>
        </p:nvSpPr>
        <p:spPr>
          <a:xfrm>
            <a:off x="563339" y="4126000"/>
            <a:ext cx="2599594" cy="1191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47CE0B-B1EF-CE32-0C4B-DB4E21FF4137}"/>
              </a:ext>
            </a:extLst>
          </p:cNvPr>
          <p:cNvSpPr/>
          <p:nvPr/>
        </p:nvSpPr>
        <p:spPr>
          <a:xfrm>
            <a:off x="3162933" y="4126000"/>
            <a:ext cx="2599594" cy="1191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09F83A-C842-05A6-A0CB-55D9ED3A68D5}"/>
              </a:ext>
            </a:extLst>
          </p:cNvPr>
          <p:cNvSpPr/>
          <p:nvPr/>
        </p:nvSpPr>
        <p:spPr>
          <a:xfrm>
            <a:off x="563340" y="5430850"/>
            <a:ext cx="296009" cy="1191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4C15EF-6BAA-D173-1B75-9B4899FDFD83}"/>
              </a:ext>
            </a:extLst>
          </p:cNvPr>
          <p:cNvSpPr/>
          <p:nvPr/>
        </p:nvSpPr>
        <p:spPr>
          <a:xfrm>
            <a:off x="859348" y="5430850"/>
            <a:ext cx="4903179" cy="119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7DB29DA-76FC-1D4C-F769-0C0466F7A6F6}"/>
              </a:ext>
            </a:extLst>
          </p:cNvPr>
          <p:cNvCxnSpPr/>
          <p:nvPr/>
        </p:nvCxnSpPr>
        <p:spPr>
          <a:xfrm>
            <a:off x="563339" y="4323827"/>
            <a:ext cx="0" cy="984739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9C1B969-CF50-F513-7F54-45C7CA368B1A}"/>
              </a:ext>
            </a:extLst>
          </p:cNvPr>
          <p:cNvCxnSpPr>
            <a:cxnSpLocks/>
          </p:cNvCxnSpPr>
          <p:nvPr/>
        </p:nvCxnSpPr>
        <p:spPr>
          <a:xfrm flipH="1">
            <a:off x="859348" y="4357530"/>
            <a:ext cx="2303585" cy="981809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标注: 线形 24">
            <a:extLst>
              <a:ext uri="{FF2B5EF4-FFF2-40B4-BE49-F238E27FC236}">
                <a16:creationId xmlns:a16="http://schemas.microsoft.com/office/drawing/2014/main" id="{850F4778-00E5-5B12-80EA-4F6645E39020}"/>
              </a:ext>
            </a:extLst>
          </p:cNvPr>
          <p:cNvSpPr/>
          <p:nvPr/>
        </p:nvSpPr>
        <p:spPr>
          <a:xfrm>
            <a:off x="805804" y="6111826"/>
            <a:ext cx="1473504" cy="555151"/>
          </a:xfrm>
          <a:prstGeom prst="borderCallout1">
            <a:avLst>
              <a:gd name="adj1" fmla="val -891"/>
              <a:gd name="adj2" fmla="val 29095"/>
              <a:gd name="adj3" fmla="val -99849"/>
              <a:gd name="adj4" fmla="val -10256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股指期货的保证金机制，实际对冲占资较少</a:t>
            </a:r>
          </a:p>
        </p:txBody>
      </p:sp>
      <p:sp>
        <p:nvSpPr>
          <p:cNvPr id="26" name="标注: 线形 25">
            <a:extLst>
              <a:ext uri="{FF2B5EF4-FFF2-40B4-BE49-F238E27FC236}">
                <a16:creationId xmlns:a16="http://schemas.microsoft.com/office/drawing/2014/main" id="{6FDE5C05-99E5-FFF8-1A0E-65D0BD9F2C3F}"/>
              </a:ext>
            </a:extLst>
          </p:cNvPr>
          <p:cNvSpPr/>
          <p:nvPr/>
        </p:nvSpPr>
        <p:spPr>
          <a:xfrm>
            <a:off x="3587104" y="6111825"/>
            <a:ext cx="1473504" cy="555151"/>
          </a:xfrm>
          <a:prstGeom prst="borderCallout1">
            <a:avLst>
              <a:gd name="adj1" fmla="val -891"/>
              <a:gd name="adj2" fmla="val 29095"/>
              <a:gd name="adj3" fmla="val -100641"/>
              <a:gd name="adj4" fmla="val 57767"/>
            </a:avLst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剩余保证金用来投资理财赚取稳健的资金收益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6918DA7-CA84-686D-AFA5-1E0735353B4F}"/>
              </a:ext>
            </a:extLst>
          </p:cNvPr>
          <p:cNvCxnSpPr>
            <a:cxnSpLocks/>
          </p:cNvCxnSpPr>
          <p:nvPr/>
        </p:nvCxnSpPr>
        <p:spPr>
          <a:xfrm>
            <a:off x="557476" y="3643537"/>
            <a:ext cx="0" cy="298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5D407CE-EB88-AC04-4879-1DD8F3079A5E}"/>
              </a:ext>
            </a:extLst>
          </p:cNvPr>
          <p:cNvCxnSpPr>
            <a:cxnSpLocks/>
          </p:cNvCxnSpPr>
          <p:nvPr/>
        </p:nvCxnSpPr>
        <p:spPr>
          <a:xfrm>
            <a:off x="5714166" y="3643538"/>
            <a:ext cx="0" cy="298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3BC824F-8CEC-A4C2-76E2-5C168B5762A3}"/>
              </a:ext>
            </a:extLst>
          </p:cNvPr>
          <p:cNvCxnSpPr/>
          <p:nvPr/>
        </p:nvCxnSpPr>
        <p:spPr>
          <a:xfrm flipV="1">
            <a:off x="564803" y="3653444"/>
            <a:ext cx="51493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7C8F8C7-E256-F1BA-68BC-C89C71E2D101}"/>
              </a:ext>
            </a:extLst>
          </p:cNvPr>
          <p:cNvSpPr txBox="1"/>
          <p:nvPr/>
        </p:nvSpPr>
        <p:spPr>
          <a:xfrm>
            <a:off x="1958869" y="3636304"/>
            <a:ext cx="23054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100%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名义本金的保证金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B31598C-D284-27AE-415D-8F2BB1502320}"/>
              </a:ext>
            </a:extLst>
          </p:cNvPr>
          <p:cNvSpPr/>
          <p:nvPr/>
        </p:nvSpPr>
        <p:spPr>
          <a:xfrm>
            <a:off x="6875822" y="4207198"/>
            <a:ext cx="4673507" cy="258445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爆炸形: 14 pt  31">
            <a:extLst>
              <a:ext uri="{FF2B5EF4-FFF2-40B4-BE49-F238E27FC236}">
                <a16:creationId xmlns:a16="http://schemas.microsoft.com/office/drawing/2014/main" id="{415F1570-EFB9-1720-DA19-0DE5986CD863}"/>
              </a:ext>
            </a:extLst>
          </p:cNvPr>
          <p:cNvSpPr/>
          <p:nvPr/>
        </p:nvSpPr>
        <p:spPr>
          <a:xfrm>
            <a:off x="10489515" y="5832661"/>
            <a:ext cx="1210409" cy="914400"/>
          </a:xfrm>
          <a:prstGeom prst="irregularSeal2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盈亏同源</a:t>
            </a:r>
          </a:p>
        </p:txBody>
      </p:sp>
    </p:spTree>
    <p:extLst>
      <p:ext uri="{BB962C8B-B14F-4D97-AF65-F5344CB8AC3E}">
        <p14:creationId xmlns:p14="http://schemas.microsoft.com/office/powerpoint/2010/main" val="3414061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26620" y="1334749"/>
            <a:ext cx="2108114" cy="3482888"/>
            <a:chOff x="126620" y="1301090"/>
            <a:chExt cx="2108114" cy="3482888"/>
          </a:xfrm>
        </p:grpSpPr>
        <p:grpSp>
          <p:nvGrpSpPr>
            <p:cNvPr id="4" name="组合 3"/>
            <p:cNvGrpSpPr/>
            <p:nvPr/>
          </p:nvGrpSpPr>
          <p:grpSpPr>
            <a:xfrm>
              <a:off x="182404" y="1301090"/>
              <a:ext cx="2013755" cy="2709524"/>
              <a:chOff x="182404" y="1301090"/>
              <a:chExt cx="2013755" cy="2709524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182404" y="1301090"/>
                <a:ext cx="1868488" cy="2709524"/>
                <a:chOff x="501571" y="1269607"/>
                <a:chExt cx="1868488" cy="2709524"/>
              </a:xfrm>
            </p:grpSpPr>
            <p:sp>
              <p:nvSpPr>
                <p:cNvPr id="19" name="文本框 18"/>
                <p:cNvSpPr txBox="1"/>
                <p:nvPr/>
              </p:nvSpPr>
              <p:spPr>
                <a:xfrm>
                  <a:off x="501571" y="1269607"/>
                  <a:ext cx="186848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一、场外衍生品概述</a:t>
                  </a:r>
                </a:p>
              </p:txBody>
            </p:sp>
            <p:grpSp>
              <p:nvGrpSpPr>
                <p:cNvPr id="20" name="组合 19"/>
                <p:cNvGrpSpPr/>
                <p:nvPr/>
              </p:nvGrpSpPr>
              <p:grpSpPr>
                <a:xfrm>
                  <a:off x="505743" y="1644024"/>
                  <a:ext cx="1533883" cy="2335107"/>
                  <a:chOff x="743176" y="1745622"/>
                  <a:chExt cx="1533883" cy="2335107"/>
                </a:xfrm>
              </p:grpSpPr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743176" y="1745622"/>
                    <a:ext cx="1533883" cy="0"/>
                  </a:xfrm>
                  <a:prstGeom prst="line">
                    <a:avLst/>
                  </a:prstGeom>
                  <a:ln>
                    <a:solidFill>
                      <a:schemeClr val="accent1">
                        <a:lumMod val="75000"/>
                        <a:alpha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829637" y="4080729"/>
                    <a:ext cx="322160" cy="0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7" name="组合 6"/>
              <p:cNvGrpSpPr/>
              <p:nvPr/>
            </p:nvGrpSpPr>
            <p:grpSpPr>
              <a:xfrm>
                <a:off x="182404" y="1919630"/>
                <a:ext cx="1996546" cy="391247"/>
                <a:chOff x="500962" y="-790189"/>
                <a:chExt cx="1996546" cy="391247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505134" y="-398942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文本框 16"/>
                <p:cNvSpPr txBox="1"/>
                <p:nvPr/>
              </p:nvSpPr>
              <p:spPr>
                <a:xfrm>
                  <a:off x="500962" y="-790189"/>
                  <a:ext cx="199654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二、监管、法律及格局</a:t>
                  </a:r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186576" y="2490352"/>
                <a:ext cx="1533883" cy="374416"/>
                <a:chOff x="505134" y="-708603"/>
                <a:chExt cx="1533883" cy="374416"/>
              </a:xfrm>
            </p:grpSpPr>
            <p:sp>
              <p:nvSpPr>
                <p:cNvPr id="15" name="文本框 14"/>
                <p:cNvSpPr txBox="1"/>
                <p:nvPr/>
              </p:nvSpPr>
              <p:spPr>
                <a:xfrm>
                  <a:off x="506420" y="-708603"/>
                  <a:ext cx="153259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三、互换、远期</a:t>
                  </a:r>
                </a:p>
              </p:txBody>
            </p:sp>
            <p:cxnSp>
              <p:nvCxnSpPr>
                <p:cNvPr id="16" name="直接连接符 15"/>
                <p:cNvCxnSpPr/>
                <p:nvPr/>
              </p:nvCxnSpPr>
              <p:spPr>
                <a:xfrm>
                  <a:off x="505134" y="-334187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199613" y="3044242"/>
                <a:ext cx="1996546" cy="374417"/>
                <a:chOff x="518171" y="-706536"/>
                <a:chExt cx="1996546" cy="374417"/>
              </a:xfrm>
            </p:grpSpPr>
            <p:sp>
              <p:nvSpPr>
                <p:cNvPr id="13" name="文本框 12"/>
                <p:cNvSpPr txBox="1"/>
                <p:nvPr/>
              </p:nvSpPr>
              <p:spPr>
                <a:xfrm>
                  <a:off x="518171" y="-706536"/>
                  <a:ext cx="199654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四、场外期权</a:t>
                  </a: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522343" y="-332119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199613" y="3614964"/>
                <a:ext cx="1996546" cy="395650"/>
                <a:chOff x="518780" y="-659340"/>
                <a:chExt cx="1996546" cy="395650"/>
              </a:xfrm>
            </p:grpSpPr>
            <p:sp>
              <p:nvSpPr>
                <p:cNvPr id="11" name="文本框 10"/>
                <p:cNvSpPr txBox="1"/>
                <p:nvPr/>
              </p:nvSpPr>
              <p:spPr>
                <a:xfrm>
                  <a:off x="518780" y="-659340"/>
                  <a:ext cx="199654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五、应用及业务开展</a:t>
                  </a:r>
                </a:p>
              </p:txBody>
            </p:sp>
            <p:cxnSp>
              <p:nvCxnSpPr>
                <p:cNvPr id="12" name="直接连接符 11"/>
                <p:cNvCxnSpPr/>
                <p:nvPr/>
              </p:nvCxnSpPr>
              <p:spPr>
                <a:xfrm>
                  <a:off x="522952" y="-263690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" name="文本框 22"/>
            <p:cNvSpPr txBox="1"/>
            <p:nvPr/>
          </p:nvSpPr>
          <p:spPr>
            <a:xfrm>
              <a:off x="126620" y="4065576"/>
              <a:ext cx="2108114" cy="718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1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、专员如何开展业务</a:t>
              </a:r>
              <a:endPara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、其他业务应用</a:t>
              </a: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2678200" y="196764"/>
            <a:ext cx="9702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衍生品专员如何开展业务：锁定目标客户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549173" y="1029885"/>
          <a:ext cx="9225937" cy="54675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6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237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客户类型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交易目的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35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金融</a:t>
                      </a:r>
                      <a:endParaRPr lang="en-US" altLang="zh-CN" sz="18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产品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商业银行及子公司、证券公司及子公司、期货公司及子公司、基金子公司管理的各类资产管理计划以及</a:t>
                      </a:r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私募基金产品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管理人主要</a:t>
                      </a:r>
                      <a:r>
                        <a:rPr lang="zh-CN" altLang="en-US" sz="1200" u="sng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以募集资金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，通过期权实施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投资风险管理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，有效控制基金资产的净值波动和回撤。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如私募基金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有</a:t>
                      </a:r>
                      <a:r>
                        <a:rPr lang="zh-CN" altLang="en-US" sz="1200" u="sng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发行相关</a:t>
                      </a:r>
                      <a:r>
                        <a:rPr lang="zh-CN" altLang="en-US" sz="1200" u="sng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产品、市值管理、增加收益、策略对冲</a:t>
                      </a:r>
                      <a:r>
                        <a:rPr lang="zh-CN" altLang="en-US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等需求。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13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法人</a:t>
                      </a: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机构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包括</a:t>
                      </a:r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投资公司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、工商企业、</a:t>
                      </a:r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上市公司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等非持牌专业机构投资者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主要</a:t>
                      </a:r>
                      <a:r>
                        <a:rPr lang="zh-CN" altLang="en-US" sz="1200" u="sng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以自有资金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，通过场外期权进行大宗商品、权益类标的价格套保；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优化和管理基础股权持仓风险；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控制资产配置产生的风险；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优化和增强存量资产的持仓收益等。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140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金融</a:t>
                      </a: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商业银行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通过购买场外期权来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设计和构造各种浮动收益挂钩理财产品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，满足银行理财客户的财富管理和资产配置需求等。如结构化存款产品。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1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证券公司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自营期权交易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，管理自营持仓风险，二级交易商背对背对冲等。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71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期货公司及风险管理公司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参与挂钩大宗商品期货合约的期权交易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，也参与少量权益类期权交易。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实践中也会采取向证券公司买入或卖出期权的方式，实现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风险对冲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26620" y="1334749"/>
            <a:ext cx="2108114" cy="3482888"/>
            <a:chOff x="126620" y="1301090"/>
            <a:chExt cx="2108114" cy="3482888"/>
          </a:xfrm>
        </p:grpSpPr>
        <p:grpSp>
          <p:nvGrpSpPr>
            <p:cNvPr id="4" name="组合 3"/>
            <p:cNvGrpSpPr/>
            <p:nvPr/>
          </p:nvGrpSpPr>
          <p:grpSpPr>
            <a:xfrm>
              <a:off x="182404" y="1301090"/>
              <a:ext cx="2013755" cy="2709524"/>
              <a:chOff x="182404" y="1301090"/>
              <a:chExt cx="2013755" cy="2709524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182404" y="1301090"/>
                <a:ext cx="1868488" cy="2709524"/>
                <a:chOff x="501571" y="1269607"/>
                <a:chExt cx="1868488" cy="2709524"/>
              </a:xfrm>
            </p:grpSpPr>
            <p:sp>
              <p:nvSpPr>
                <p:cNvPr id="19" name="文本框 18"/>
                <p:cNvSpPr txBox="1"/>
                <p:nvPr/>
              </p:nvSpPr>
              <p:spPr>
                <a:xfrm>
                  <a:off x="501571" y="1269607"/>
                  <a:ext cx="186848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一、场外衍生品概述</a:t>
                  </a:r>
                </a:p>
              </p:txBody>
            </p:sp>
            <p:grpSp>
              <p:nvGrpSpPr>
                <p:cNvPr id="20" name="组合 19"/>
                <p:cNvGrpSpPr/>
                <p:nvPr/>
              </p:nvGrpSpPr>
              <p:grpSpPr>
                <a:xfrm>
                  <a:off x="505743" y="1644024"/>
                  <a:ext cx="1533883" cy="2335107"/>
                  <a:chOff x="743176" y="1745622"/>
                  <a:chExt cx="1533883" cy="2335107"/>
                </a:xfrm>
              </p:grpSpPr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743176" y="1745622"/>
                    <a:ext cx="1533883" cy="0"/>
                  </a:xfrm>
                  <a:prstGeom prst="line">
                    <a:avLst/>
                  </a:prstGeom>
                  <a:ln>
                    <a:solidFill>
                      <a:schemeClr val="accent1">
                        <a:lumMod val="75000"/>
                        <a:alpha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829637" y="4080729"/>
                    <a:ext cx="322160" cy="0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7" name="组合 6"/>
              <p:cNvGrpSpPr/>
              <p:nvPr/>
            </p:nvGrpSpPr>
            <p:grpSpPr>
              <a:xfrm>
                <a:off x="182404" y="1919630"/>
                <a:ext cx="1996546" cy="391247"/>
                <a:chOff x="500962" y="-790189"/>
                <a:chExt cx="1996546" cy="391247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505134" y="-398942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文本框 16"/>
                <p:cNvSpPr txBox="1"/>
                <p:nvPr/>
              </p:nvSpPr>
              <p:spPr>
                <a:xfrm>
                  <a:off x="500962" y="-790189"/>
                  <a:ext cx="199654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二、监管、法律及格局</a:t>
                  </a:r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186576" y="2490352"/>
                <a:ext cx="1533883" cy="374416"/>
                <a:chOff x="505134" y="-708603"/>
                <a:chExt cx="1533883" cy="374416"/>
              </a:xfrm>
            </p:grpSpPr>
            <p:sp>
              <p:nvSpPr>
                <p:cNvPr id="15" name="文本框 14"/>
                <p:cNvSpPr txBox="1"/>
                <p:nvPr/>
              </p:nvSpPr>
              <p:spPr>
                <a:xfrm>
                  <a:off x="506420" y="-708603"/>
                  <a:ext cx="153259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三、互换、远期</a:t>
                  </a:r>
                </a:p>
              </p:txBody>
            </p:sp>
            <p:cxnSp>
              <p:nvCxnSpPr>
                <p:cNvPr id="16" name="直接连接符 15"/>
                <p:cNvCxnSpPr/>
                <p:nvPr/>
              </p:nvCxnSpPr>
              <p:spPr>
                <a:xfrm>
                  <a:off x="505134" y="-334187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199613" y="3044242"/>
                <a:ext cx="1996546" cy="374417"/>
                <a:chOff x="518171" y="-706536"/>
                <a:chExt cx="1996546" cy="374417"/>
              </a:xfrm>
            </p:grpSpPr>
            <p:sp>
              <p:nvSpPr>
                <p:cNvPr id="13" name="文本框 12"/>
                <p:cNvSpPr txBox="1"/>
                <p:nvPr/>
              </p:nvSpPr>
              <p:spPr>
                <a:xfrm>
                  <a:off x="518171" y="-706536"/>
                  <a:ext cx="199654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四、场外期权</a:t>
                  </a: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522343" y="-332119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199613" y="3614964"/>
                <a:ext cx="1996546" cy="395650"/>
                <a:chOff x="518780" y="-659340"/>
                <a:chExt cx="1996546" cy="395650"/>
              </a:xfrm>
            </p:grpSpPr>
            <p:sp>
              <p:nvSpPr>
                <p:cNvPr id="11" name="文本框 10"/>
                <p:cNvSpPr txBox="1"/>
                <p:nvPr/>
              </p:nvSpPr>
              <p:spPr>
                <a:xfrm>
                  <a:off x="518780" y="-659340"/>
                  <a:ext cx="199654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五、应用及业务开展</a:t>
                  </a:r>
                </a:p>
              </p:txBody>
            </p:sp>
            <p:cxnSp>
              <p:nvCxnSpPr>
                <p:cNvPr id="12" name="直接连接符 11"/>
                <p:cNvCxnSpPr/>
                <p:nvPr/>
              </p:nvCxnSpPr>
              <p:spPr>
                <a:xfrm>
                  <a:off x="522952" y="-263690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" name="文本框 22"/>
            <p:cNvSpPr txBox="1"/>
            <p:nvPr/>
          </p:nvSpPr>
          <p:spPr>
            <a:xfrm>
              <a:off x="126620" y="4065576"/>
              <a:ext cx="2108114" cy="718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1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、专员如何开展业务</a:t>
              </a:r>
              <a:endPara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、其他业务应用</a:t>
              </a: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2678200" y="196764"/>
            <a:ext cx="9702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衍生品专员如何开展业务：挖掘客户需求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2728" y="3835619"/>
            <a:ext cx="5710426" cy="73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选择不同的票息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结构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体现了投资者的收益预期</a:t>
            </a:r>
          </a:p>
        </p:txBody>
      </p:sp>
      <p:sp>
        <p:nvSpPr>
          <p:cNvPr id="6" name="椭圆 5"/>
          <p:cNvSpPr/>
          <p:nvPr/>
        </p:nvSpPr>
        <p:spPr>
          <a:xfrm>
            <a:off x="2765639" y="2187097"/>
            <a:ext cx="2124856" cy="20851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客户需求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649272" y="1475891"/>
            <a:ext cx="7797338" cy="73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挂钩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标的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选择体现了投资者的市场阅读能力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190631" y="2689414"/>
            <a:ext cx="6287052" cy="73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选择合适的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敲入价敲出价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体现了投资者的风险偏好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8" name="Picture 2" descr="如何找到理想的客户 | iStarto百客聚，提供包括网站建设, seo服务, 搜索营销，社媒广告，营销自动化, 搜索引擎优化等互联网广告技术服务。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3" b="98312" l="9916" r="89241">
                        <a14:foregroundMark x1="74895" y1="57384" x2="76160" y2="88186"/>
                        <a14:foregroundMark x1="73629" y1="86498" x2="73207" y2="94093"/>
                        <a14:foregroundMark x1="74895" y1="92405" x2="75105" y2="95781"/>
                        <a14:foregroundMark x1="83544" y1="66245" x2="83333" y2="81857"/>
                        <a14:foregroundMark x1="83966" y1="52321" x2="85021" y2="65401"/>
                        <a14:foregroundMark x1="56962" y1="80591" x2="57595" y2="95781"/>
                        <a14:foregroundMark x1="40295" y1="55274" x2="40506" y2="88608"/>
                        <a14:foregroundMark x1="37131" y1="75949" x2="35443" y2="80169"/>
                        <a14:foregroundMark x1="31527" y1="82850" x2="31688" y2="86076"/>
                        <a14:foregroundMark x1="30169" y1="55696" x2="31117" y2="74659"/>
                        <a14:foregroundMark x1="21680" y1="80784" x2="21714" y2="86076"/>
                        <a14:foregroundMark x1="21519" y1="55696" x2="21628" y2="72668"/>
                        <a14:foregroundMark x1="21730" y1="88608" x2="21941" y2="89451"/>
                        <a14:foregroundMark x1="13291" y1="53586" x2="14979" y2="90717"/>
                        <a14:foregroundMark x1="13291" y1="51477" x2="14346" y2="51899"/>
                        <a14:foregroundMark x1="21941" y1="53586" x2="21941" y2="59916"/>
                        <a14:foregroundMark x1="41561" y1="5907" x2="41983" y2="20675"/>
                        <a14:foregroundMark x1="29958" y1="85232" x2="29978" y2="86076"/>
                        <a14:foregroundMark x1="14135" y1="90295" x2="14346" y2="95781"/>
                        <a14:foregroundMark x1="84177" y1="82278" x2="84177" y2="83966"/>
                        <a14:foregroundMark x1="74262" y1="64979" x2="72996" y2="70042"/>
                        <a14:foregroundMark x1="76582" y1="64557" x2="77637" y2="68354"/>
                        <a14:foregroundMark x1="72996" y1="64979" x2="72785" y2="73840"/>
                        <a14:foregroundMark x1="72574" y1="71730" x2="72363" y2="79747"/>
                        <a14:foregroundMark x1="75738" y1="64979" x2="72152" y2="71308"/>
                        <a14:foregroundMark x1="72996" y1="61181" x2="72152" y2="73418"/>
                        <a14:foregroundMark x1="23207" y1="88608" x2="23207" y2="97046"/>
                        <a14:foregroundMark x1="23207" y1="85232" x2="23207" y2="86076"/>
                        <a14:foregroundMark x1="30461" y1="94736" x2="30380" y2="98312"/>
                        <a14:foregroundMark x1="30591" y1="89030" x2="30518" y2="92262"/>
                        <a14:backgroundMark x1="10549" y1="20253" x2="12869" y2="26582"/>
                        <a14:backgroundMark x1="27215" y1="73840" x2="26793" y2="81857"/>
                        <a14:backgroundMark x1="27004" y1="86076" x2="27004" y2="88608"/>
                        <a14:backgroundMark x1="27004" y1="94937" x2="27426" y2="970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892" y="4129707"/>
            <a:ext cx="4118302" cy="205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26620" y="1340359"/>
            <a:ext cx="2108114" cy="3482888"/>
            <a:chOff x="126620" y="1301090"/>
            <a:chExt cx="2108114" cy="3482888"/>
          </a:xfrm>
        </p:grpSpPr>
        <p:grpSp>
          <p:nvGrpSpPr>
            <p:cNvPr id="4" name="组合 3"/>
            <p:cNvGrpSpPr/>
            <p:nvPr/>
          </p:nvGrpSpPr>
          <p:grpSpPr>
            <a:xfrm>
              <a:off x="182404" y="1301090"/>
              <a:ext cx="2013755" cy="2709524"/>
              <a:chOff x="182404" y="1301090"/>
              <a:chExt cx="2013755" cy="2709524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182404" y="1301090"/>
                <a:ext cx="1868488" cy="2709524"/>
                <a:chOff x="501571" y="1269607"/>
                <a:chExt cx="1868488" cy="2709524"/>
              </a:xfrm>
            </p:grpSpPr>
            <p:sp>
              <p:nvSpPr>
                <p:cNvPr id="19" name="文本框 18"/>
                <p:cNvSpPr txBox="1"/>
                <p:nvPr/>
              </p:nvSpPr>
              <p:spPr>
                <a:xfrm>
                  <a:off x="501571" y="1269607"/>
                  <a:ext cx="186848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一、场外衍生品概述</a:t>
                  </a:r>
                </a:p>
              </p:txBody>
            </p:sp>
            <p:grpSp>
              <p:nvGrpSpPr>
                <p:cNvPr id="20" name="组合 19"/>
                <p:cNvGrpSpPr/>
                <p:nvPr/>
              </p:nvGrpSpPr>
              <p:grpSpPr>
                <a:xfrm>
                  <a:off x="505743" y="1644024"/>
                  <a:ext cx="1533883" cy="2335107"/>
                  <a:chOff x="743176" y="1745622"/>
                  <a:chExt cx="1533883" cy="2335107"/>
                </a:xfrm>
              </p:grpSpPr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743176" y="1745622"/>
                    <a:ext cx="1533883" cy="0"/>
                  </a:xfrm>
                  <a:prstGeom prst="line">
                    <a:avLst/>
                  </a:prstGeom>
                  <a:ln>
                    <a:solidFill>
                      <a:schemeClr val="accent1">
                        <a:lumMod val="75000"/>
                        <a:alpha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829637" y="4080729"/>
                    <a:ext cx="322160" cy="0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7" name="组合 6"/>
              <p:cNvGrpSpPr/>
              <p:nvPr/>
            </p:nvGrpSpPr>
            <p:grpSpPr>
              <a:xfrm>
                <a:off x="182404" y="1919630"/>
                <a:ext cx="1996546" cy="391247"/>
                <a:chOff x="500962" y="-790189"/>
                <a:chExt cx="1996546" cy="391247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505134" y="-398942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文本框 16"/>
                <p:cNvSpPr txBox="1"/>
                <p:nvPr/>
              </p:nvSpPr>
              <p:spPr>
                <a:xfrm>
                  <a:off x="500962" y="-790189"/>
                  <a:ext cx="199654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二、监管、法律及格局</a:t>
                  </a:r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186576" y="2490352"/>
                <a:ext cx="1533883" cy="374416"/>
                <a:chOff x="505134" y="-708603"/>
                <a:chExt cx="1533883" cy="374416"/>
              </a:xfrm>
            </p:grpSpPr>
            <p:sp>
              <p:nvSpPr>
                <p:cNvPr id="15" name="文本框 14"/>
                <p:cNvSpPr txBox="1"/>
                <p:nvPr/>
              </p:nvSpPr>
              <p:spPr>
                <a:xfrm>
                  <a:off x="506420" y="-708603"/>
                  <a:ext cx="153259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三、互换、远期</a:t>
                  </a:r>
                </a:p>
              </p:txBody>
            </p:sp>
            <p:cxnSp>
              <p:nvCxnSpPr>
                <p:cNvPr id="16" name="直接连接符 15"/>
                <p:cNvCxnSpPr/>
                <p:nvPr/>
              </p:nvCxnSpPr>
              <p:spPr>
                <a:xfrm>
                  <a:off x="505134" y="-334187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199613" y="3044242"/>
                <a:ext cx="1996546" cy="374417"/>
                <a:chOff x="518171" y="-706536"/>
                <a:chExt cx="1996546" cy="374417"/>
              </a:xfrm>
            </p:grpSpPr>
            <p:sp>
              <p:nvSpPr>
                <p:cNvPr id="13" name="文本框 12"/>
                <p:cNvSpPr txBox="1"/>
                <p:nvPr/>
              </p:nvSpPr>
              <p:spPr>
                <a:xfrm>
                  <a:off x="518171" y="-706536"/>
                  <a:ext cx="199654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65000"/>
                        </a:srgb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四、场外期权</a:t>
                  </a: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522343" y="-332119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199613" y="3614964"/>
                <a:ext cx="1996546" cy="395650"/>
                <a:chOff x="518780" y="-659340"/>
                <a:chExt cx="1996546" cy="395650"/>
              </a:xfrm>
            </p:grpSpPr>
            <p:sp>
              <p:nvSpPr>
                <p:cNvPr id="11" name="文本框 10"/>
                <p:cNvSpPr txBox="1"/>
                <p:nvPr/>
              </p:nvSpPr>
              <p:spPr>
                <a:xfrm>
                  <a:off x="518780" y="-659340"/>
                  <a:ext cx="199654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cs"/>
                    </a:rPr>
                    <a:t>五、应用及业务开展</a:t>
                  </a:r>
                </a:p>
              </p:txBody>
            </p:sp>
            <p:cxnSp>
              <p:nvCxnSpPr>
                <p:cNvPr id="12" name="直接连接符 11"/>
                <p:cNvCxnSpPr/>
                <p:nvPr/>
              </p:nvCxnSpPr>
              <p:spPr>
                <a:xfrm>
                  <a:off x="522952" y="-263690"/>
                  <a:ext cx="1533883" cy="0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" name="文本框 22"/>
            <p:cNvSpPr txBox="1"/>
            <p:nvPr/>
          </p:nvSpPr>
          <p:spPr>
            <a:xfrm>
              <a:off x="126620" y="4065576"/>
              <a:ext cx="2108114" cy="718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1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、专员如何开展业务</a:t>
              </a:r>
              <a:endPara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2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、其他业务应用</a:t>
              </a: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2678200" y="196764"/>
            <a:ext cx="9702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衍生品专员如何开展业务：询价交易流程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67218" y="1725996"/>
            <a:ext cx="10238766" cy="3154781"/>
            <a:chOff x="515107" y="1454117"/>
            <a:chExt cx="12317252" cy="3810344"/>
          </a:xfrm>
        </p:grpSpPr>
        <p:sp>
          <p:nvSpPr>
            <p:cNvPr id="6" name="ïŝḻïde"/>
            <p:cNvSpPr/>
            <p:nvPr/>
          </p:nvSpPr>
          <p:spPr bwMode="auto">
            <a:xfrm flipH="1">
              <a:off x="3941203" y="3729702"/>
              <a:ext cx="2474603" cy="251019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iṥlíḋè"/>
            <p:cNvSpPr/>
            <p:nvPr/>
          </p:nvSpPr>
          <p:spPr bwMode="auto">
            <a:xfrm>
              <a:off x="6072696" y="3734811"/>
              <a:ext cx="2474603" cy="251019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ṧļiďé"/>
            <p:cNvSpPr/>
            <p:nvPr/>
          </p:nvSpPr>
          <p:spPr bwMode="auto">
            <a:xfrm flipH="1">
              <a:off x="7625170" y="3740680"/>
              <a:ext cx="2474603" cy="251019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iṩḻïḓe"/>
            <p:cNvSpPr/>
            <p:nvPr/>
          </p:nvSpPr>
          <p:spPr bwMode="auto">
            <a:xfrm>
              <a:off x="2269990" y="3729702"/>
              <a:ext cx="1535819" cy="251019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îṣļïḍé"/>
            <p:cNvSpPr/>
            <p:nvPr/>
          </p:nvSpPr>
          <p:spPr bwMode="auto">
            <a:xfrm>
              <a:off x="1453625" y="3851191"/>
              <a:ext cx="995819" cy="9958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ï$1ïḋè"/>
            <p:cNvSpPr/>
            <p:nvPr/>
          </p:nvSpPr>
          <p:spPr bwMode="auto">
            <a:xfrm>
              <a:off x="5597993" y="3851191"/>
              <a:ext cx="995819" cy="9958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íślíḓe"/>
            <p:cNvSpPr/>
            <p:nvPr/>
          </p:nvSpPr>
          <p:spPr bwMode="auto">
            <a:xfrm>
              <a:off x="9742359" y="3851191"/>
              <a:ext cx="995819" cy="9958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ïṡļïḍé"/>
            <p:cNvSpPr/>
            <p:nvPr/>
          </p:nvSpPr>
          <p:spPr bwMode="auto">
            <a:xfrm>
              <a:off x="3525809" y="3299468"/>
              <a:ext cx="995819" cy="9958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2" name="išļíḑé"/>
            <p:cNvSpPr/>
            <p:nvPr/>
          </p:nvSpPr>
          <p:spPr bwMode="auto">
            <a:xfrm>
              <a:off x="7670176" y="3299468"/>
              <a:ext cx="995819" cy="9958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3" name="Title"/>
            <p:cNvSpPr txBox="1"/>
            <p:nvPr/>
          </p:nvSpPr>
          <p:spPr>
            <a:xfrm>
              <a:off x="1164562" y="1454117"/>
              <a:ext cx="10858500" cy="711200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场外期权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询报价定制流程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515107" y="2745033"/>
              <a:ext cx="4866526" cy="2519428"/>
              <a:chOff x="515107" y="2745033"/>
              <a:chExt cx="4866526" cy="2519428"/>
            </a:xfrm>
          </p:grpSpPr>
          <p:sp>
            <p:nvSpPr>
              <p:cNvPr id="65" name="Number1"/>
              <p:cNvSpPr/>
              <p:nvPr/>
            </p:nvSpPr>
            <p:spPr bwMode="auto">
              <a:xfrm>
                <a:off x="1525669" y="3397445"/>
                <a:ext cx="806139" cy="806140"/>
              </a:xfrm>
              <a:prstGeom prst="ellipse">
                <a:avLst/>
              </a:prstGeom>
              <a:solidFill>
                <a:schemeClr val="accent1"/>
              </a:solidFill>
              <a:ln w="19050">
                <a:noFill/>
                <a:round/>
              </a:ln>
            </p:spPr>
            <p:txBody>
              <a:bodyPr vert="horz" wrap="square" lIns="91440" tIns="45720" rIns="91440" bIns="45720" anchor="ctr" anchorCtr="1" compatLnSpc="1">
                <a:normAutofit fontScale="92500"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1</a:t>
                </a:r>
              </a:p>
            </p:txBody>
          </p:sp>
          <p:sp>
            <p:nvSpPr>
              <p:cNvPr id="66" name="Bullet1"/>
              <p:cNvSpPr txBox="1"/>
              <p:nvPr/>
            </p:nvSpPr>
            <p:spPr bwMode="auto">
              <a:xfrm>
                <a:off x="515107" y="2745033"/>
                <a:ext cx="2606806" cy="39786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b" anchorCtr="1">
                <a:normAutofit fontScale="92500"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确认意向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7" name="Text1"/>
              <p:cNvSpPr txBox="1"/>
              <p:nvPr/>
            </p:nvSpPr>
            <p:spPr bwMode="auto">
              <a:xfrm>
                <a:off x="2774827" y="4295288"/>
                <a:ext cx="2606806" cy="9691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初步确定结构要素，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向创新金融部进行询价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（场外期权模板）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2696391" y="2745033"/>
              <a:ext cx="2606806" cy="1455415"/>
              <a:chOff x="2696391" y="2745033"/>
              <a:chExt cx="2606806" cy="1455415"/>
            </a:xfrm>
          </p:grpSpPr>
          <p:sp>
            <p:nvSpPr>
              <p:cNvPr id="63" name="Number2"/>
              <p:cNvSpPr/>
              <p:nvPr/>
            </p:nvSpPr>
            <p:spPr bwMode="auto">
              <a:xfrm>
                <a:off x="3620649" y="3394308"/>
                <a:ext cx="806139" cy="806140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19050">
                <a:noFill/>
                <a:round/>
              </a:ln>
            </p:spPr>
            <p:txBody>
              <a:bodyPr vert="horz" wrap="square" lIns="91440" tIns="45720" rIns="91440" bIns="45720" anchor="ctr" anchorCtr="1" compatLnSpc="1">
                <a:normAutofit fontScale="92500"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2</a:t>
                </a:r>
              </a:p>
            </p:txBody>
          </p:sp>
          <p:sp>
            <p:nvSpPr>
              <p:cNvPr id="64" name="Bullet2"/>
              <p:cNvSpPr txBox="1"/>
              <p:nvPr/>
            </p:nvSpPr>
            <p:spPr bwMode="auto">
              <a:xfrm>
                <a:off x="2696391" y="2745033"/>
                <a:ext cx="2606806" cy="39786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b" anchorCtr="1">
                <a:normAutofit fontScale="92500"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询价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886317" y="2745033"/>
              <a:ext cx="6515376" cy="2514319"/>
              <a:chOff x="886317" y="2745033"/>
              <a:chExt cx="6515376" cy="2514319"/>
            </a:xfrm>
          </p:grpSpPr>
          <p:sp>
            <p:nvSpPr>
              <p:cNvPr id="59" name="Number3"/>
              <p:cNvSpPr/>
              <p:nvPr/>
            </p:nvSpPr>
            <p:spPr bwMode="auto">
              <a:xfrm>
                <a:off x="5696955" y="3397445"/>
                <a:ext cx="806139" cy="806140"/>
              </a:xfrm>
              <a:prstGeom prst="ellipse">
                <a:avLst/>
              </a:prstGeom>
              <a:solidFill>
                <a:schemeClr val="accent1"/>
              </a:solidFill>
              <a:ln w="19050">
                <a:noFill/>
                <a:round/>
              </a:ln>
            </p:spPr>
            <p:txBody>
              <a:bodyPr vert="horz" wrap="square" lIns="91440" tIns="45720" rIns="91440" bIns="45720" anchor="ctr" anchorCtr="1" compatLnSpc="1">
                <a:normAutofit fontScale="92500"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3</a:t>
                </a:r>
              </a:p>
            </p:txBody>
          </p:sp>
          <p:sp>
            <p:nvSpPr>
              <p:cNvPr id="60" name="Bullet3"/>
              <p:cNvSpPr txBox="1"/>
              <p:nvPr/>
            </p:nvSpPr>
            <p:spPr bwMode="auto">
              <a:xfrm>
                <a:off x="4794887" y="2745033"/>
                <a:ext cx="2606806" cy="39786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b" anchorCtr="1">
                <a:normAutofit fontScale="92500"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SAC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签署备案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1" name="Text3"/>
              <p:cNvSpPr txBox="1"/>
              <p:nvPr/>
            </p:nvSpPr>
            <p:spPr bwMode="auto">
              <a:xfrm>
                <a:off x="5293562" y="4290179"/>
                <a:ext cx="1899321" cy="9691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1">
                <a:normAutofit fontScale="925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SAC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协议签署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（约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2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周，最快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3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天左右），备案完成后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次日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方可交易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2" name="Text3"/>
              <p:cNvSpPr txBox="1"/>
              <p:nvPr/>
            </p:nvSpPr>
            <p:spPr bwMode="auto">
              <a:xfrm>
                <a:off x="886317" y="4349101"/>
                <a:ext cx="1869398" cy="6929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锁定目标客户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确认交易意向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6888889" y="2745324"/>
              <a:ext cx="5613096" cy="2092487"/>
              <a:chOff x="6888889" y="2745324"/>
              <a:chExt cx="5613096" cy="2092487"/>
            </a:xfrm>
          </p:grpSpPr>
          <p:sp>
            <p:nvSpPr>
              <p:cNvPr id="55" name="Number4"/>
              <p:cNvSpPr/>
              <p:nvPr/>
            </p:nvSpPr>
            <p:spPr bwMode="auto">
              <a:xfrm>
                <a:off x="7789223" y="3410759"/>
                <a:ext cx="806139" cy="806140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19050">
                <a:noFill/>
                <a:round/>
              </a:ln>
            </p:spPr>
            <p:txBody>
              <a:bodyPr vert="horz" wrap="square" lIns="91440" tIns="45720" rIns="91440" bIns="45720" anchor="ctr" anchorCtr="1" compatLnSpc="1">
                <a:normAutofit fontScale="92500"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4</a:t>
                </a:r>
              </a:p>
            </p:txBody>
          </p:sp>
          <p:sp>
            <p:nvSpPr>
              <p:cNvPr id="56" name="Bullet4"/>
              <p:cNvSpPr txBox="1"/>
              <p:nvPr/>
            </p:nvSpPr>
            <p:spPr bwMode="auto">
              <a:xfrm>
                <a:off x="6888889" y="2745324"/>
                <a:ext cx="2606806" cy="39786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b" anchorCtr="1">
                <a:normAutofit fontScale="92500"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锁价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7" name="Text4"/>
              <p:cNvSpPr txBox="1"/>
              <p:nvPr/>
            </p:nvSpPr>
            <p:spPr bwMode="auto">
              <a:xfrm>
                <a:off x="7417600" y="4306054"/>
                <a:ext cx="1641729" cy="5317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1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邮件锁价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，双方签署交易确认书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8" name="Number4"/>
              <p:cNvSpPr/>
              <p:nvPr/>
            </p:nvSpPr>
            <p:spPr bwMode="auto">
              <a:xfrm>
                <a:off x="11695846" y="3394308"/>
                <a:ext cx="806139" cy="806140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19050">
                <a:noFill/>
                <a:round/>
              </a:ln>
            </p:spPr>
            <p:txBody>
              <a:bodyPr vert="horz" wrap="square" lIns="91440" tIns="45720" rIns="91440" bIns="45720" anchor="ctr" anchorCtr="1" compatLnSpc="1">
                <a:normAutofit fontScale="92500"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6</a:t>
                </a: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796370" y="2744821"/>
              <a:ext cx="4035989" cy="2092990"/>
              <a:chOff x="8796370" y="2744821"/>
              <a:chExt cx="4035989" cy="2092990"/>
            </a:xfrm>
          </p:grpSpPr>
          <p:sp>
            <p:nvSpPr>
              <p:cNvPr id="50" name="Number5"/>
              <p:cNvSpPr/>
              <p:nvPr/>
            </p:nvSpPr>
            <p:spPr bwMode="auto">
              <a:xfrm>
                <a:off x="9764133" y="3410759"/>
                <a:ext cx="806139" cy="806140"/>
              </a:xfrm>
              <a:prstGeom prst="ellipse">
                <a:avLst/>
              </a:prstGeom>
              <a:solidFill>
                <a:schemeClr val="accent1"/>
              </a:solidFill>
              <a:ln w="19050">
                <a:noFill/>
                <a:round/>
              </a:ln>
            </p:spPr>
            <p:txBody>
              <a:bodyPr vert="horz" wrap="square" lIns="91440" tIns="45720" rIns="91440" bIns="45720" anchor="ctr" anchorCtr="1" compatLnSpc="1">
                <a:normAutofit fontScale="92500"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5</a:t>
                </a:r>
              </a:p>
            </p:txBody>
          </p:sp>
          <p:sp>
            <p:nvSpPr>
              <p:cNvPr id="51" name="Bullet5"/>
              <p:cNvSpPr txBox="1"/>
              <p:nvPr/>
            </p:nvSpPr>
            <p:spPr bwMode="auto">
              <a:xfrm>
                <a:off x="8796370" y="2745033"/>
                <a:ext cx="2606806" cy="39786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b" anchorCtr="1">
                <a:normAutofit fontScale="92500"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入金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2" name="Text5"/>
              <p:cNvSpPr txBox="1"/>
              <p:nvPr/>
            </p:nvSpPr>
            <p:spPr bwMode="auto">
              <a:xfrm>
                <a:off x="11403176" y="4289637"/>
                <a:ext cx="1340010" cy="45649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提醒客户交易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3" name="Bullet5"/>
              <p:cNvSpPr txBox="1"/>
              <p:nvPr/>
            </p:nvSpPr>
            <p:spPr bwMode="auto">
              <a:xfrm>
                <a:off x="11292869" y="2744821"/>
                <a:ext cx="1539490" cy="39786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b" anchorCtr="1">
                <a:normAutofit fontScale="92500"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交易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4" name="Text5"/>
              <p:cNvSpPr txBox="1"/>
              <p:nvPr/>
            </p:nvSpPr>
            <p:spPr bwMode="auto">
              <a:xfrm>
                <a:off x="9438714" y="4306054"/>
                <a:ext cx="1456975" cy="5317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1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确认打款后可交易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49" name="iṥlíḋè"/>
            <p:cNvSpPr/>
            <p:nvPr/>
          </p:nvSpPr>
          <p:spPr bwMode="auto">
            <a:xfrm>
              <a:off x="10403418" y="3688893"/>
              <a:ext cx="1247350" cy="301716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31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15,&quot;left&quot;:54,&quot;top&quot;:170.5,&quot;width&quot;:820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15,&quot;left&quot;:54,&quot;top&quot;:170.5,&quot;width&quot;:820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31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31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31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31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15,&quot;left&quot;:54,&quot;top&quot;:170.5,&quot;width&quot;:820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15,&quot;left&quot;:54,&quot;top&quot;:170.5,&quot;width&quot;:820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15,&quot;left&quot;:54,&quot;top&quot;:170.5,&quot;width&quot;:820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6.95,&quot;left&quot;:54,&quot;top&quot;:170.5,&quot;width&quot;:822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31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8*418"/>
  <p:tag name="TABLE_ENDDRAG_RECT" val="54*93*818*418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31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31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3273</Words>
  <Application>Microsoft Office PowerPoint</Application>
  <PresentationFormat>宽屏</PresentationFormat>
  <Paragraphs>410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MiSans Heavy</vt:lpstr>
      <vt:lpstr>MiSans Normal</vt:lpstr>
      <vt:lpstr>华文新魏</vt:lpstr>
      <vt:lpstr>微软雅黑</vt:lpstr>
      <vt:lpstr>微软雅黑 Light</vt:lpstr>
      <vt:lpstr>楷体</vt:lpstr>
      <vt:lpstr>等线</vt:lpstr>
      <vt:lpstr>等线 Light</vt:lpstr>
      <vt:lpstr>Arial</vt:lpstr>
      <vt:lpstr>Calibri</vt:lpstr>
      <vt:lpstr>Wingdings</vt:lpstr>
      <vt:lpstr>Office 主题​​</vt:lpstr>
      <vt:lpstr>Office 主题</vt:lpstr>
      <vt:lpstr>波动生息与雪球结构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 Song</dc:creator>
  <cp:lastModifiedBy>Liao Song</cp:lastModifiedBy>
  <cp:revision>1</cp:revision>
  <dcterms:created xsi:type="dcterms:W3CDTF">2024-06-25T06:40:28Z</dcterms:created>
  <dcterms:modified xsi:type="dcterms:W3CDTF">2026-05-11T01:44:24Z</dcterms:modified>
</cp:coreProperties>
</file>