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8" r:id="rId3"/>
    <p:sldId id="258" r:id="rId4"/>
    <p:sldId id="302" r:id="rId5"/>
    <p:sldId id="30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89" autoAdjust="0"/>
    <p:restoredTop sz="94694"/>
  </p:normalViewPr>
  <p:slideViewPr>
    <p:cSldViewPr snapToGrid="0">
      <p:cViewPr varScale="1">
        <p:scale>
          <a:sx n="104" d="100"/>
          <a:sy n="104" d="100"/>
        </p:scale>
        <p:origin x="11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ithub\chuangxintou\&#21019;&#26032;&#25237;&#38634;&#29699;&#31649;&#2970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ithub\chuangxintou\&#21019;&#26032;&#25237;&#38634;&#29699;&#31649;&#2970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存续敲出情况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实时行情!$A$13</c:f>
              <c:strCache>
                <c:ptCount val="1"/>
                <c:pt idx="0">
                  <c:v>敲出线上合约总名本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实时行情!$B$5:$E$5</c:f>
              <c:strCache>
                <c:ptCount val="4"/>
                <c:pt idx="0">
                  <c:v>中证 50</c:v>
                </c:pt>
                <c:pt idx="1">
                  <c:v>沪深300</c:v>
                </c:pt>
                <c:pt idx="2">
                  <c:v>中证500</c:v>
                </c:pt>
                <c:pt idx="3">
                  <c:v>中证1000</c:v>
                </c:pt>
              </c:strCache>
            </c:strRef>
          </c:cat>
          <c:val>
            <c:numRef>
              <c:f>实时行情!$B$13:$E$13</c:f>
              <c:numCache>
                <c:formatCode>#,##0.00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10000000</c:v>
                </c:pt>
                <c:pt idx="3">
                  <c:v>83000000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07-4527-9A2F-EC4394ABB97E}"/>
            </c:ext>
          </c:extLst>
        </c:ser>
        <c:ser>
          <c:idx val="1"/>
          <c:order val="1"/>
          <c:tx>
            <c:strRef>
              <c:f>实时行情!$A$14</c:f>
              <c:strCache>
                <c:ptCount val="1"/>
                <c:pt idx="0">
                  <c:v>不在敲出线上总名本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实时行情!$B$5:$E$5</c:f>
              <c:strCache>
                <c:ptCount val="4"/>
                <c:pt idx="0">
                  <c:v>中证 50</c:v>
                </c:pt>
                <c:pt idx="1">
                  <c:v>沪深300</c:v>
                </c:pt>
                <c:pt idx="2">
                  <c:v>中证500</c:v>
                </c:pt>
                <c:pt idx="3">
                  <c:v>中证1000</c:v>
                </c:pt>
              </c:strCache>
            </c:strRef>
          </c:cat>
          <c:val>
            <c:numRef>
              <c:f>实时行情!$B$14:$E$14</c:f>
              <c:numCache>
                <c:formatCode>#,##0.00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31000000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07-4527-9A2F-EC4394ABB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7886896"/>
        <c:axId val="507888336"/>
      </c:barChart>
      <c:catAx>
        <c:axId val="507886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7888336"/>
        <c:crosses val="autoZero"/>
        <c:auto val="1"/>
        <c:lblAlgn val="ctr"/>
        <c:lblOffset val="100"/>
        <c:noMultiLvlLbl val="0"/>
      </c:catAx>
      <c:valAx>
        <c:axId val="507888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788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各标的</a:t>
            </a:r>
            <a:r>
              <a:rPr lang="zh-CN" dirty="0"/>
              <a:t>收益情况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实时行情!$A$11</c:f>
              <c:strCache>
                <c:ptCount val="1"/>
                <c:pt idx="0">
                  <c:v>当日估值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实时行情!$B$5:$E$5</c:f>
              <c:strCache>
                <c:ptCount val="4"/>
                <c:pt idx="0">
                  <c:v>中证 50</c:v>
                </c:pt>
                <c:pt idx="1">
                  <c:v>沪深300</c:v>
                </c:pt>
                <c:pt idx="2">
                  <c:v>中证500</c:v>
                </c:pt>
                <c:pt idx="3">
                  <c:v>中证1000</c:v>
                </c:pt>
              </c:strCache>
            </c:strRef>
          </c:cat>
          <c:val>
            <c:numRef>
              <c:f>实时行情!$B$11:$E$11</c:f>
              <c:numCache>
                <c:formatCode>#,##0.00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993053.85660818149</c:v>
                </c:pt>
                <c:pt idx="3">
                  <c:v>3138552.2906114878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1A-4E42-A18A-D70C007EFE11}"/>
            </c:ext>
          </c:extLst>
        </c:ser>
        <c:ser>
          <c:idx val="1"/>
          <c:order val="1"/>
          <c:tx>
            <c:strRef>
              <c:f>实时行情!$A$24</c:f>
              <c:strCache>
                <c:ptCount val="1"/>
                <c:pt idx="0">
                  <c:v>已实现收益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实时行情!$B$5:$E$5</c:f>
              <c:strCache>
                <c:ptCount val="4"/>
                <c:pt idx="0">
                  <c:v>中证 50</c:v>
                </c:pt>
                <c:pt idx="1">
                  <c:v>沪深300</c:v>
                </c:pt>
                <c:pt idx="2">
                  <c:v>中证500</c:v>
                </c:pt>
                <c:pt idx="3">
                  <c:v>中证1000</c:v>
                </c:pt>
              </c:strCache>
            </c:strRef>
          </c:cat>
          <c:val>
            <c:numRef>
              <c:f>实时行情!$B$24:$E$24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1883186.3</c:v>
                </c:pt>
                <c:pt idx="3">
                  <c:v>3708703.01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1A-4E42-A18A-D70C007EFE1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319951"/>
        <c:axId val="5315151"/>
      </c:barChart>
      <c:catAx>
        <c:axId val="5319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315151"/>
        <c:crosses val="autoZero"/>
        <c:auto val="1"/>
        <c:lblAlgn val="ctr"/>
        <c:lblOffset val="100"/>
        <c:noMultiLvlLbl val="0"/>
      </c:catAx>
      <c:valAx>
        <c:axId val="5315151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tx1">
                      <a:lumMod val="5000"/>
                      <a:lumOff val="95000"/>
                    </a:schemeClr>
                  </a:gs>
                  <a:gs pos="10000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319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0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tx1">
                <a:lumMod val="5000"/>
                <a:lumOff val="95000"/>
              </a:schemeClr>
            </a:gs>
            <a:gs pos="10000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F6E05-99F4-428B-9677-4AEA8F2DC895}" type="datetimeFigureOut">
              <a:rPr lang="zh-CN" altLang="en-US" smtClean="0"/>
              <a:t>2026/2/10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2F399-CD71-4563-8F13-8620938B03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创新投场外衍生品周报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Weekly Report on Derivatives</a:t>
            </a:r>
          </a:p>
          <a:p>
            <a:r>
              <a:rPr lang="en-US" altLang="zh-CN"/>
              <a:t>2026/2/6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7045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近期了结、新增和敲出观察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F644771-DEEB-0E2A-A3C4-26409F2C3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132708"/>
              </p:ext>
            </p:extLst>
          </p:nvPr>
        </p:nvGraphicFramePr>
        <p:xfrm>
          <a:off x="5045881" y="2048379"/>
          <a:ext cx="6837529" cy="2983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644">
                  <a:extLst>
                    <a:ext uri="{9D8B030D-6E8A-4147-A177-3AD203B41FA5}">
                      <a16:colId xmlns:a16="http://schemas.microsoft.com/office/drawing/2014/main" val="2813316685"/>
                    </a:ext>
                  </a:extLst>
                </a:gridCol>
                <a:gridCol w="1111334">
                  <a:extLst>
                    <a:ext uri="{9D8B030D-6E8A-4147-A177-3AD203B41FA5}">
                      <a16:colId xmlns:a16="http://schemas.microsoft.com/office/drawing/2014/main" val="32786577"/>
                    </a:ext>
                  </a:extLst>
                </a:gridCol>
                <a:gridCol w="1375041">
                  <a:extLst>
                    <a:ext uri="{9D8B030D-6E8A-4147-A177-3AD203B41FA5}">
                      <a16:colId xmlns:a16="http://schemas.microsoft.com/office/drawing/2014/main" val="3956605139"/>
                    </a:ext>
                  </a:extLst>
                </a:gridCol>
                <a:gridCol w="1695255">
                  <a:extLst>
                    <a:ext uri="{9D8B030D-6E8A-4147-A177-3AD203B41FA5}">
                      <a16:colId xmlns:a16="http://schemas.microsoft.com/office/drawing/2014/main" val="398513801"/>
                    </a:ext>
                  </a:extLst>
                </a:gridCol>
                <a:gridCol w="1695255">
                  <a:extLst>
                    <a:ext uri="{9D8B030D-6E8A-4147-A177-3AD203B41FA5}">
                      <a16:colId xmlns:a16="http://schemas.microsoft.com/office/drawing/2014/main" val="330725775"/>
                    </a:ext>
                  </a:extLst>
                </a:gridCol>
              </a:tblGrid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合约编号</a:t>
                      </a:r>
                      <a:endParaRPr lang="zh-CN" altLang="en-US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挂钩标的</a:t>
                      </a:r>
                      <a:endParaRPr lang="zh-CN" altLang="en-US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超出敲出线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下一个敲出观察日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名义本金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68965357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16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1.73%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2026/5/6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21,000,000.00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94104125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15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-0.47%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2026/4/27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21,000,000.00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02398719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14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-0.66%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2026/4/13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10,000,000.00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621382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13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1.86%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2026/4/9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30,000,000.00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6985151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12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7.73%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2026/3/30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22,000,000.00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8899259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11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7.95%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2026/2/25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10,000,000.00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5129428"/>
                  </a:ext>
                </a:extLst>
              </a:tr>
              <a:tr h="3728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10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000905.SH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12.94%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2026/2/24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10,000,000.00 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9521344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9126D86-E9BA-5345-5A22-FBD6DD62CBBD}"/>
              </a:ext>
            </a:extLst>
          </p:cNvPr>
          <p:cNvSpPr txBox="1"/>
          <p:nvPr/>
        </p:nvSpPr>
        <p:spPr>
          <a:xfrm>
            <a:off x="755070" y="152634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前两周敲出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2B65E6-B7F1-9134-C41C-C7C79E42CA84}"/>
              </a:ext>
            </a:extLst>
          </p:cNvPr>
          <p:cNvSpPr txBox="1"/>
          <p:nvPr/>
        </p:nvSpPr>
        <p:spPr>
          <a:xfrm>
            <a:off x="5045881" y="15680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未来敲出观察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A4F4ABE-A302-80C4-CAD2-DC156A4C0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43160"/>
              </p:ext>
            </p:extLst>
          </p:nvPr>
        </p:nvGraphicFramePr>
        <p:xfrm>
          <a:off x="755070" y="2091857"/>
          <a:ext cx="3964709" cy="7600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5087">
                  <a:extLst>
                    <a:ext uri="{9D8B030D-6E8A-4147-A177-3AD203B41FA5}">
                      <a16:colId xmlns:a16="http://schemas.microsoft.com/office/drawing/2014/main" val="3172237351"/>
                    </a:ext>
                  </a:extLst>
                </a:gridCol>
                <a:gridCol w="857602">
                  <a:extLst>
                    <a:ext uri="{9D8B030D-6E8A-4147-A177-3AD203B41FA5}">
                      <a16:colId xmlns:a16="http://schemas.microsoft.com/office/drawing/2014/main" val="719769547"/>
                    </a:ext>
                  </a:extLst>
                </a:gridCol>
                <a:gridCol w="1051584">
                  <a:extLst>
                    <a:ext uri="{9D8B030D-6E8A-4147-A177-3AD203B41FA5}">
                      <a16:colId xmlns:a16="http://schemas.microsoft.com/office/drawing/2014/main" val="669576774"/>
                    </a:ext>
                  </a:extLst>
                </a:gridCol>
                <a:gridCol w="1320436">
                  <a:extLst>
                    <a:ext uri="{9D8B030D-6E8A-4147-A177-3AD203B41FA5}">
                      <a16:colId xmlns:a16="http://schemas.microsoft.com/office/drawing/2014/main" val="3401380816"/>
                    </a:ext>
                  </a:extLst>
                </a:gridCol>
              </a:tblGrid>
              <a:tr h="253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合约编号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名义本金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挂钩标的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了结日期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3515145"/>
                  </a:ext>
                </a:extLst>
              </a:tr>
              <a:tr h="253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9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10000000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000905.SH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2026.2.3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95836013"/>
                  </a:ext>
                </a:extLst>
              </a:tr>
              <a:tr h="2533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8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10000000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2026.1.30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899840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946BDB3-1AE1-73D5-7530-7F5B046DB7AB}"/>
              </a:ext>
            </a:extLst>
          </p:cNvPr>
          <p:cNvSpPr txBox="1"/>
          <p:nvPr/>
        </p:nvSpPr>
        <p:spPr>
          <a:xfrm>
            <a:off x="755070" y="38976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本周新增</a:t>
            </a:r>
            <a:endParaRPr lang="en-US" altLang="zh-CN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17F4C87-9767-E04A-727D-AEE321F70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884107"/>
              </p:ext>
            </p:extLst>
          </p:nvPr>
        </p:nvGraphicFramePr>
        <p:xfrm>
          <a:off x="755070" y="4422031"/>
          <a:ext cx="4047838" cy="497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35">
                  <a:extLst>
                    <a:ext uri="{9D8B030D-6E8A-4147-A177-3AD203B41FA5}">
                      <a16:colId xmlns:a16="http://schemas.microsoft.com/office/drawing/2014/main" val="2063555537"/>
                    </a:ext>
                  </a:extLst>
                </a:gridCol>
                <a:gridCol w="1052963">
                  <a:extLst>
                    <a:ext uri="{9D8B030D-6E8A-4147-A177-3AD203B41FA5}">
                      <a16:colId xmlns:a16="http://schemas.microsoft.com/office/drawing/2014/main" val="570193254"/>
                    </a:ext>
                  </a:extLst>
                </a:gridCol>
                <a:gridCol w="1013600">
                  <a:extLst>
                    <a:ext uri="{9D8B030D-6E8A-4147-A177-3AD203B41FA5}">
                      <a16:colId xmlns:a16="http://schemas.microsoft.com/office/drawing/2014/main" val="3520162195"/>
                    </a:ext>
                  </a:extLst>
                </a:gridCol>
                <a:gridCol w="1272740">
                  <a:extLst>
                    <a:ext uri="{9D8B030D-6E8A-4147-A177-3AD203B41FA5}">
                      <a16:colId xmlns:a16="http://schemas.microsoft.com/office/drawing/2014/main" val="1532048708"/>
                    </a:ext>
                  </a:extLst>
                </a:gridCol>
              </a:tblGrid>
              <a:tr h="24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合约编号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名义本金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挂钩标的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起息日</a:t>
                      </a:r>
                      <a:endParaRPr lang="zh-CN" alt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3197900"/>
                  </a:ext>
                </a:extLst>
              </a:tr>
              <a:tr h="2486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16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21,000,000.00 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000852.SH</a:t>
                      </a:r>
                      <a:endParaRPr lang="en-US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2026/2/5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1481141"/>
                  </a:ext>
                </a:extLst>
              </a:tr>
            </a:tbl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28DC1C1C-2F3B-42C2-1679-04BD78AAAC90}"/>
              </a:ext>
            </a:extLst>
          </p:cNvPr>
          <p:cNvSpPr/>
          <p:nvPr/>
        </p:nvSpPr>
        <p:spPr>
          <a:xfrm>
            <a:off x="618835" y="1526345"/>
            <a:ext cx="4184073" cy="156080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A65432F-113B-9455-8C01-E390620D8018}"/>
              </a:ext>
            </a:extLst>
          </p:cNvPr>
          <p:cNvSpPr/>
          <p:nvPr/>
        </p:nvSpPr>
        <p:spPr>
          <a:xfrm>
            <a:off x="618835" y="3837473"/>
            <a:ext cx="4184073" cy="143430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6C5F119-B6CD-C5A2-DD7F-582FBD9D1999}"/>
              </a:ext>
            </a:extLst>
          </p:cNvPr>
          <p:cNvSpPr/>
          <p:nvPr/>
        </p:nvSpPr>
        <p:spPr>
          <a:xfrm>
            <a:off x="4939143" y="1443397"/>
            <a:ext cx="7146119" cy="383518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至今累计估值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3C0E23-A3CF-AB35-A2A0-3F66C2810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197" y="1585724"/>
            <a:ext cx="8389186" cy="47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3B357-9470-C8F1-408B-CAB6F111E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935CC-ED91-E13F-47FF-E539788D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存续本金与分布</a:t>
            </a: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59D524D5-B24E-D1F5-3D70-32BEBAF8EF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6589751"/>
              </p:ext>
            </p:extLst>
          </p:nvPr>
        </p:nvGraphicFramePr>
        <p:xfrm>
          <a:off x="2550202" y="2036839"/>
          <a:ext cx="8004411" cy="2119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DF9D6CA-08B3-BE2C-22A0-4359B1B7ED17}"/>
              </a:ext>
            </a:extLst>
          </p:cNvPr>
          <p:cNvSpPr txBox="1"/>
          <p:nvPr/>
        </p:nvSpPr>
        <p:spPr>
          <a:xfrm>
            <a:off x="1657243" y="1608713"/>
            <a:ext cx="4160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敲出线上合计</a:t>
            </a:r>
            <a:r>
              <a:rPr lang="en-US" altLang="zh-CN" dirty="0"/>
              <a:t>9300</a:t>
            </a:r>
            <a:r>
              <a:rPr lang="zh-CN" altLang="en-US" dirty="0"/>
              <a:t>万，敲出线下</a:t>
            </a:r>
            <a:r>
              <a:rPr lang="en-US" altLang="zh-CN" dirty="0"/>
              <a:t>3100</a:t>
            </a:r>
            <a:r>
              <a:rPr lang="zh-CN" altLang="en-US" dirty="0"/>
              <a:t>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51FCBC-EFBF-52D3-1D12-9ECAD1879C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383" y="4215379"/>
            <a:ext cx="9052578" cy="264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05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5FDC-7DB7-B275-B68D-510B633D0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298BB-C647-CE7D-67AD-6CD3B6B26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存续合约估值</a:t>
            </a:r>
            <a:endParaRPr lang="zh-CN" altLang="en-US" dirty="0"/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AE9784A-B1DB-ED09-B538-95B09253EE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1362104"/>
              </p:ext>
            </p:extLst>
          </p:nvPr>
        </p:nvGraphicFramePr>
        <p:xfrm>
          <a:off x="2940767" y="2949635"/>
          <a:ext cx="6879218" cy="3229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98B9AD4-0852-7F53-0ED4-55ADAC2BAB0F}"/>
              </a:ext>
            </a:extLst>
          </p:cNvPr>
          <p:cNvSpPr txBox="1"/>
          <p:nvPr/>
        </p:nvSpPr>
        <p:spPr>
          <a:xfrm>
            <a:off x="1774208" y="1690688"/>
            <a:ext cx="4788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2025</a:t>
            </a:r>
            <a:r>
              <a:rPr lang="zh-CN" altLang="en-US" dirty="0"/>
              <a:t>年本金占用六千万，实现收益</a:t>
            </a:r>
            <a:r>
              <a:rPr lang="en-US" altLang="zh-CN" dirty="0"/>
              <a:t>196</a:t>
            </a:r>
            <a:r>
              <a:rPr lang="zh-CN" altLang="en-US" dirty="0"/>
              <a:t>万。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2026</a:t>
            </a:r>
            <a:r>
              <a:rPr lang="zh-CN" altLang="en-US" dirty="0"/>
              <a:t>年增加六千万，已实现收益</a:t>
            </a:r>
            <a:r>
              <a:rPr lang="en-US" altLang="zh-CN" dirty="0"/>
              <a:t>362</a:t>
            </a:r>
            <a:r>
              <a:rPr lang="zh-CN" altLang="en-US" dirty="0"/>
              <a:t>万。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年化占资收益率远超</a:t>
            </a:r>
            <a:r>
              <a:rPr lang="en-US" altLang="zh-CN" dirty="0"/>
              <a:t>20%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40540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203</Words>
  <Application>Microsoft Office PowerPoint</Application>
  <PresentationFormat>宽屏</PresentationFormat>
  <Paragraphs>76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Office 主题​​</vt:lpstr>
      <vt:lpstr>创新投场外衍生品周报</vt:lpstr>
      <vt:lpstr>近期了结、新增和敲出观察</vt:lpstr>
      <vt:lpstr>至今累计估值</vt:lpstr>
      <vt:lpstr>存续本金与分布</vt:lpstr>
      <vt:lpstr>存续合约估值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 Song</dc:creator>
  <cp:lastModifiedBy>Zhi Shen</cp:lastModifiedBy>
  <cp:revision>392</cp:revision>
  <dcterms:created xsi:type="dcterms:W3CDTF">2025-02-14T06:31:00Z</dcterms:created>
  <dcterms:modified xsi:type="dcterms:W3CDTF">2026-02-10T03:29:09Z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B7594430C3244699A79BF9BAED409043_13</vt:lpwstr>
  </property>
  <property fmtid="{D5CDD505-2E9C-101B-9397-08002B2CF9AE}" pid="3" name="KSOProductBuildVer">
    <vt:lpwstr>2052-12.1.0.24657</vt:lpwstr>
  </property>
</Properties>
</file>