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78" r:id="rId3"/>
    <p:sldId id="268" r:id="rId4"/>
    <p:sldId id="279" r:id="rId5"/>
    <p:sldId id="260" r:id="rId6"/>
    <p:sldId id="274" r:id="rId7"/>
    <p:sldId id="276" r:id="rId8"/>
    <p:sldId id="275" r:id="rId9"/>
    <p:sldId id="277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  <a:srgbClr val="000000"/>
    <a:srgbClr val="0F9E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9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38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&#24037;&#20316;&#31807;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&#24037;&#20316;&#31807;1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1487951512650244"/>
          <c:y val="0.10537689340364417"/>
          <c:w val="0.8061578114148199"/>
          <c:h val="0.5888706005122854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历史行情!$C$4</c:f>
              <c:strCache>
                <c:ptCount val="1"/>
                <c:pt idx="0">
                  <c:v>DELTA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历史行情!$A$5:$A$100</c:f>
              <c:numCache>
                <c:formatCode>yyyy\-mm\-dd</c:formatCode>
                <c:ptCount val="96"/>
                <c:pt idx="0">
                  <c:v>44399</c:v>
                </c:pt>
                <c:pt idx="1">
                  <c:v>44400</c:v>
                </c:pt>
                <c:pt idx="2">
                  <c:v>44403</c:v>
                </c:pt>
                <c:pt idx="3">
                  <c:v>44404</c:v>
                </c:pt>
                <c:pt idx="4">
                  <c:v>44405</c:v>
                </c:pt>
                <c:pt idx="5">
                  <c:v>44406</c:v>
                </c:pt>
                <c:pt idx="6">
                  <c:v>44407</c:v>
                </c:pt>
                <c:pt idx="7">
                  <c:v>44410</c:v>
                </c:pt>
                <c:pt idx="8">
                  <c:v>44411</c:v>
                </c:pt>
                <c:pt idx="9">
                  <c:v>44412</c:v>
                </c:pt>
                <c:pt idx="10">
                  <c:v>44413</c:v>
                </c:pt>
                <c:pt idx="11">
                  <c:v>44414</c:v>
                </c:pt>
                <c:pt idx="12">
                  <c:v>44417</c:v>
                </c:pt>
                <c:pt idx="13">
                  <c:v>44418</c:v>
                </c:pt>
                <c:pt idx="14">
                  <c:v>44419</c:v>
                </c:pt>
                <c:pt idx="15">
                  <c:v>44420</c:v>
                </c:pt>
                <c:pt idx="16">
                  <c:v>44421</c:v>
                </c:pt>
                <c:pt idx="17">
                  <c:v>44424</c:v>
                </c:pt>
                <c:pt idx="18">
                  <c:v>44425</c:v>
                </c:pt>
                <c:pt idx="19">
                  <c:v>44426</c:v>
                </c:pt>
                <c:pt idx="20">
                  <c:v>44427</c:v>
                </c:pt>
                <c:pt idx="21">
                  <c:v>44428</c:v>
                </c:pt>
                <c:pt idx="22">
                  <c:v>44431</c:v>
                </c:pt>
                <c:pt idx="23">
                  <c:v>44432</c:v>
                </c:pt>
                <c:pt idx="24">
                  <c:v>44433</c:v>
                </c:pt>
                <c:pt idx="25">
                  <c:v>44434</c:v>
                </c:pt>
                <c:pt idx="26">
                  <c:v>44435</c:v>
                </c:pt>
                <c:pt idx="27">
                  <c:v>44438</c:v>
                </c:pt>
                <c:pt idx="28">
                  <c:v>44439</c:v>
                </c:pt>
                <c:pt idx="29">
                  <c:v>44440</c:v>
                </c:pt>
                <c:pt idx="30">
                  <c:v>44441</c:v>
                </c:pt>
                <c:pt idx="31">
                  <c:v>44442</c:v>
                </c:pt>
                <c:pt idx="32">
                  <c:v>44445</c:v>
                </c:pt>
                <c:pt idx="33">
                  <c:v>44446</c:v>
                </c:pt>
                <c:pt idx="34">
                  <c:v>44447</c:v>
                </c:pt>
                <c:pt idx="35">
                  <c:v>44448</c:v>
                </c:pt>
                <c:pt idx="36">
                  <c:v>44449</c:v>
                </c:pt>
                <c:pt idx="37">
                  <c:v>44452</c:v>
                </c:pt>
                <c:pt idx="38">
                  <c:v>44453</c:v>
                </c:pt>
                <c:pt idx="39">
                  <c:v>44454</c:v>
                </c:pt>
                <c:pt idx="40">
                  <c:v>44455</c:v>
                </c:pt>
                <c:pt idx="41">
                  <c:v>44456</c:v>
                </c:pt>
                <c:pt idx="42">
                  <c:v>44461</c:v>
                </c:pt>
                <c:pt idx="43">
                  <c:v>44462</c:v>
                </c:pt>
                <c:pt idx="44">
                  <c:v>44463</c:v>
                </c:pt>
                <c:pt idx="45">
                  <c:v>44466</c:v>
                </c:pt>
                <c:pt idx="46">
                  <c:v>44467</c:v>
                </c:pt>
                <c:pt idx="47">
                  <c:v>44468</c:v>
                </c:pt>
                <c:pt idx="48">
                  <c:v>44469</c:v>
                </c:pt>
                <c:pt idx="49">
                  <c:v>44477</c:v>
                </c:pt>
                <c:pt idx="50">
                  <c:v>44480</c:v>
                </c:pt>
                <c:pt idx="51">
                  <c:v>44481</c:v>
                </c:pt>
                <c:pt idx="52">
                  <c:v>44482</c:v>
                </c:pt>
                <c:pt idx="53">
                  <c:v>44483</c:v>
                </c:pt>
                <c:pt idx="54">
                  <c:v>44484</c:v>
                </c:pt>
                <c:pt idx="55">
                  <c:v>44487</c:v>
                </c:pt>
                <c:pt idx="56">
                  <c:v>44488</c:v>
                </c:pt>
                <c:pt idx="57">
                  <c:v>44489</c:v>
                </c:pt>
                <c:pt idx="58">
                  <c:v>44490</c:v>
                </c:pt>
                <c:pt idx="59">
                  <c:v>44491</c:v>
                </c:pt>
                <c:pt idx="60">
                  <c:v>44494</c:v>
                </c:pt>
                <c:pt idx="61">
                  <c:v>44495</c:v>
                </c:pt>
                <c:pt idx="62">
                  <c:v>44496</c:v>
                </c:pt>
                <c:pt idx="63">
                  <c:v>44497</c:v>
                </c:pt>
                <c:pt idx="64">
                  <c:v>44498</c:v>
                </c:pt>
                <c:pt idx="65">
                  <c:v>44501</c:v>
                </c:pt>
                <c:pt idx="66">
                  <c:v>44502</c:v>
                </c:pt>
                <c:pt idx="67">
                  <c:v>44503</c:v>
                </c:pt>
                <c:pt idx="68">
                  <c:v>44504</c:v>
                </c:pt>
                <c:pt idx="69">
                  <c:v>44505</c:v>
                </c:pt>
                <c:pt idx="70">
                  <c:v>44508</c:v>
                </c:pt>
                <c:pt idx="71">
                  <c:v>44509</c:v>
                </c:pt>
                <c:pt idx="72">
                  <c:v>44510</c:v>
                </c:pt>
                <c:pt idx="73">
                  <c:v>44511</c:v>
                </c:pt>
                <c:pt idx="74">
                  <c:v>44512</c:v>
                </c:pt>
                <c:pt idx="75">
                  <c:v>44515</c:v>
                </c:pt>
                <c:pt idx="76">
                  <c:v>44516</c:v>
                </c:pt>
                <c:pt idx="77">
                  <c:v>44517</c:v>
                </c:pt>
                <c:pt idx="78">
                  <c:v>44518</c:v>
                </c:pt>
                <c:pt idx="79">
                  <c:v>44519</c:v>
                </c:pt>
                <c:pt idx="80">
                  <c:v>44522</c:v>
                </c:pt>
                <c:pt idx="81">
                  <c:v>44523</c:v>
                </c:pt>
                <c:pt idx="82">
                  <c:v>44524</c:v>
                </c:pt>
                <c:pt idx="83">
                  <c:v>44525</c:v>
                </c:pt>
                <c:pt idx="84">
                  <c:v>44526</c:v>
                </c:pt>
                <c:pt idx="85">
                  <c:v>44529</c:v>
                </c:pt>
                <c:pt idx="86">
                  <c:v>44530</c:v>
                </c:pt>
                <c:pt idx="87">
                  <c:v>44531</c:v>
                </c:pt>
                <c:pt idx="88">
                  <c:v>44532</c:v>
                </c:pt>
                <c:pt idx="89">
                  <c:v>44533</c:v>
                </c:pt>
                <c:pt idx="90">
                  <c:v>44536</c:v>
                </c:pt>
                <c:pt idx="91">
                  <c:v>44537</c:v>
                </c:pt>
                <c:pt idx="92">
                  <c:v>44538</c:v>
                </c:pt>
                <c:pt idx="93">
                  <c:v>44539</c:v>
                </c:pt>
                <c:pt idx="94">
                  <c:v>44540</c:v>
                </c:pt>
                <c:pt idx="95">
                  <c:v>44543</c:v>
                </c:pt>
              </c:numCache>
            </c:numRef>
          </c:cat>
          <c:val>
            <c:numRef>
              <c:f>历史行情!$C$5:$C$100</c:f>
              <c:numCache>
                <c:formatCode>General</c:formatCode>
                <c:ptCount val="96"/>
                <c:pt idx="0">
                  <c:v>0.31043106834556611</c:v>
                </c:pt>
                <c:pt idx="1">
                  <c:v>0.33744503410529281</c:v>
                </c:pt>
                <c:pt idx="2">
                  <c:v>0.41780550076205769</c:v>
                </c:pt>
                <c:pt idx="3">
                  <c:v>0.51191010042791862</c:v>
                </c:pt>
                <c:pt idx="4">
                  <c:v>0.50801115233279726</c:v>
                </c:pt>
                <c:pt idx="5">
                  <c:v>0.45892763533257908</c:v>
                </c:pt>
                <c:pt idx="6">
                  <c:v>0.48178535482707741</c:v>
                </c:pt>
                <c:pt idx="7">
                  <c:v>0.41334852432939961</c:v>
                </c:pt>
                <c:pt idx="8">
                  <c:v>0.41314246072492133</c:v>
                </c:pt>
                <c:pt idx="9">
                  <c:v>0.38805304306612975</c:v>
                </c:pt>
                <c:pt idx="10">
                  <c:v>0.40559073710229659</c:v>
                </c:pt>
                <c:pt idx="11">
                  <c:v>0.42235502375950901</c:v>
                </c:pt>
                <c:pt idx="12">
                  <c:v>0.38436229427200369</c:v>
                </c:pt>
                <c:pt idx="13">
                  <c:v>0.34952032669194982</c:v>
                </c:pt>
                <c:pt idx="14">
                  <c:v>0.36672814615732485</c:v>
                </c:pt>
                <c:pt idx="15">
                  <c:v>0.39477597270720238</c:v>
                </c:pt>
                <c:pt idx="16">
                  <c:v>0.41523786304040111</c:v>
                </c:pt>
                <c:pt idx="17">
                  <c:v>0.42202080226749855</c:v>
                </c:pt>
                <c:pt idx="18">
                  <c:v>0.49826453003810622</c:v>
                </c:pt>
                <c:pt idx="19">
                  <c:v>0.46655270529754528</c:v>
                </c:pt>
                <c:pt idx="20">
                  <c:v>0.49713229339876458</c:v>
                </c:pt>
                <c:pt idx="21">
                  <c:v>0.56044065274943822</c:v>
                </c:pt>
                <c:pt idx="22">
                  <c:v>0.52591906030706725</c:v>
                </c:pt>
                <c:pt idx="23">
                  <c:v>0.49458080954905081</c:v>
                </c:pt>
                <c:pt idx="24">
                  <c:v>0.48996533089059663</c:v>
                </c:pt>
                <c:pt idx="25">
                  <c:v>0.54736028724781005</c:v>
                </c:pt>
                <c:pt idx="26">
                  <c:v>0.53417282407336064</c:v>
                </c:pt>
                <c:pt idx="27">
                  <c:v>0.54436347898893866</c:v>
                </c:pt>
                <c:pt idx="28">
                  <c:v>0.55124602635088626</c:v>
                </c:pt>
                <c:pt idx="29">
                  <c:v>0.51427786162935696</c:v>
                </c:pt>
                <c:pt idx="30">
                  <c:v>0.51650686356520237</c:v>
                </c:pt>
                <c:pt idx="31">
                  <c:v>0.53585352127139763</c:v>
                </c:pt>
                <c:pt idx="32">
                  <c:v>0.48007484046876736</c:v>
                </c:pt>
                <c:pt idx="33">
                  <c:v>0.44336323558284985</c:v>
                </c:pt>
                <c:pt idx="34">
                  <c:v>0.45964451172923138</c:v>
                </c:pt>
                <c:pt idx="35">
                  <c:v>0.46429984078501546</c:v>
                </c:pt>
                <c:pt idx="36">
                  <c:v>0.43703907921181939</c:v>
                </c:pt>
                <c:pt idx="37">
                  <c:v>0.45765422826835633</c:v>
                </c:pt>
                <c:pt idx="38">
                  <c:v>0.51951540406470775</c:v>
                </c:pt>
                <c:pt idx="39">
                  <c:v>0.56375814605035013</c:v>
                </c:pt>
                <c:pt idx="40">
                  <c:v>0.61043407640235448</c:v>
                </c:pt>
                <c:pt idx="41">
                  <c:v>0.59058209844274534</c:v>
                </c:pt>
                <c:pt idx="42">
                  <c:v>0.60710038131398747</c:v>
                </c:pt>
                <c:pt idx="43">
                  <c:v>0.58551087611534247</c:v>
                </c:pt>
                <c:pt idx="44">
                  <c:v>0.59053474363667924</c:v>
                </c:pt>
                <c:pt idx="45">
                  <c:v>0.57652640070968719</c:v>
                </c:pt>
                <c:pt idx="46">
                  <c:v>0.57569346237192309</c:v>
                </c:pt>
                <c:pt idx="47">
                  <c:v>0.61024305738378126</c:v>
                </c:pt>
                <c:pt idx="48">
                  <c:v>0.59407319784614221</c:v>
                </c:pt>
                <c:pt idx="49">
                  <c:v>0.55755471211263008</c:v>
                </c:pt>
                <c:pt idx="50">
                  <c:v>0.55805158153805601</c:v>
                </c:pt>
                <c:pt idx="51">
                  <c:v>0.59802599892726216</c:v>
                </c:pt>
                <c:pt idx="52">
                  <c:v>0.56701425439927433</c:v>
                </c:pt>
                <c:pt idx="53">
                  <c:v>0.59248245358450546</c:v>
                </c:pt>
                <c:pt idx="54">
                  <c:v>0.58905747099879902</c:v>
                </c:pt>
                <c:pt idx="55">
                  <c:v>0.63654518072009947</c:v>
                </c:pt>
                <c:pt idx="56">
                  <c:v>0.61966933243904498</c:v>
                </c:pt>
                <c:pt idx="57">
                  <c:v>0.64207134844910174</c:v>
                </c:pt>
                <c:pt idx="58">
                  <c:v>0.65014288167374457</c:v>
                </c:pt>
                <c:pt idx="59">
                  <c:v>0.65464795483716176</c:v>
                </c:pt>
                <c:pt idx="60">
                  <c:v>0.56285502960645706</c:v>
                </c:pt>
                <c:pt idx="61">
                  <c:v>0.57449902736444214</c:v>
                </c:pt>
                <c:pt idx="62">
                  <c:v>0.61610283002053257</c:v>
                </c:pt>
                <c:pt idx="63">
                  <c:v>0.63978538115045591</c:v>
                </c:pt>
                <c:pt idx="64">
                  <c:v>0.61538795455309347</c:v>
                </c:pt>
                <c:pt idx="65">
                  <c:v>0.63003556755854728</c:v>
                </c:pt>
                <c:pt idx="66">
                  <c:v>0.66579940027950524</c:v>
                </c:pt>
                <c:pt idx="67">
                  <c:v>0.68192903530481574</c:v>
                </c:pt>
                <c:pt idx="68">
                  <c:v>0.65654032527558059</c:v>
                </c:pt>
                <c:pt idx="69">
                  <c:v>0.67864756314660424</c:v>
                </c:pt>
                <c:pt idx="70">
                  <c:v>0.68069810420385191</c:v>
                </c:pt>
                <c:pt idx="71">
                  <c:v>0.68803005583421217</c:v>
                </c:pt>
                <c:pt idx="72">
                  <c:v>0.7112362492994927</c:v>
                </c:pt>
                <c:pt idx="73">
                  <c:v>0.66969586958873439</c:v>
                </c:pt>
                <c:pt idx="74">
                  <c:v>0.68583898900145746</c:v>
                </c:pt>
                <c:pt idx="75">
                  <c:v>0.70039263453828227</c:v>
                </c:pt>
                <c:pt idx="76">
                  <c:v>0.71201373676876412</c:v>
                </c:pt>
                <c:pt idx="77">
                  <c:v>0.72428181543991998</c:v>
                </c:pt>
                <c:pt idx="78">
                  <c:v>0.75505758774527876</c:v>
                </c:pt>
                <c:pt idx="79">
                  <c:v>0.74580839083191885</c:v>
                </c:pt>
                <c:pt idx="80">
                  <c:v>0.72885207193521673</c:v>
                </c:pt>
                <c:pt idx="81">
                  <c:v>0.65612797515543309</c:v>
                </c:pt>
                <c:pt idx="82">
                  <c:v>0.65671570682631275</c:v>
                </c:pt>
                <c:pt idx="83">
                  <c:v>0.67250017742148771</c:v>
                </c:pt>
                <c:pt idx="84">
                  <c:v>0.6991091671107742</c:v>
                </c:pt>
                <c:pt idx="85">
                  <c:v>0.70849868951210138</c:v>
                </c:pt>
                <c:pt idx="86">
                  <c:v>0.72523017061863326</c:v>
                </c:pt>
                <c:pt idx="87">
                  <c:v>0.72203152547125793</c:v>
                </c:pt>
                <c:pt idx="88">
                  <c:v>0.7186999057739526</c:v>
                </c:pt>
                <c:pt idx="89">
                  <c:v>0.69344524028909615</c:v>
                </c:pt>
                <c:pt idx="90">
                  <c:v>0.70464281522823391</c:v>
                </c:pt>
                <c:pt idx="91">
                  <c:v>0.69002319989534977</c:v>
                </c:pt>
                <c:pt idx="92">
                  <c:v>0.6425783041808939</c:v>
                </c:pt>
                <c:pt idx="93">
                  <c:v>0.58493867181255632</c:v>
                </c:pt>
                <c:pt idx="94">
                  <c:v>0.61038484467453136</c:v>
                </c:pt>
                <c:pt idx="95">
                  <c:v>0.59474515087463076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D89-4D6D-8FDE-85883D3B59E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55703808"/>
        <c:axId val="155682208"/>
      </c:barChart>
      <c:dateAx>
        <c:axId val="155703808"/>
        <c:scaling>
          <c:orientation val="minMax"/>
        </c:scaling>
        <c:delete val="1"/>
        <c:axPos val="b"/>
        <c:numFmt formatCode="yyyy\-mm\-dd" sourceLinked="1"/>
        <c:majorTickMark val="none"/>
        <c:minorTickMark val="none"/>
        <c:tickLblPos val="nextTo"/>
        <c:crossAx val="155682208"/>
        <c:crosses val="autoZero"/>
        <c:auto val="1"/>
        <c:lblOffset val="100"/>
        <c:baseTimeUnit val="days"/>
      </c:dateAx>
      <c:valAx>
        <c:axId val="15568220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557038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2952964367250633E-2"/>
          <c:y val="2.4751248767680381E-2"/>
          <c:w val="0.9132166851391742"/>
          <c:h val="0.92388564032732012"/>
        </c:manualLayout>
      </c:layout>
      <c:scatterChart>
        <c:scatterStyle val="smoothMarker"/>
        <c:varyColors val="0"/>
        <c:ser>
          <c:idx val="0"/>
          <c:order val="0"/>
          <c:spPr>
            <a:ln w="3492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noFill/>
              <a:ln w="9525">
                <a:noFill/>
              </a:ln>
              <a:effectLst/>
            </c:spPr>
          </c:marker>
          <c:dPt>
            <c:idx val="58"/>
            <c:marker>
              <c:symbol val="circle"/>
              <c:size val="5"/>
              <c:spPr>
                <a:noFill/>
                <a:ln w="9525">
                  <a:solidFill>
                    <a:schemeClr val="accent1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91EC-4C18-9350-977BDF637D39}"/>
              </c:ext>
            </c:extLst>
          </c:dPt>
          <c:xVal>
            <c:numRef>
              <c:f>历史行情!$A$5:$A$100</c:f>
              <c:numCache>
                <c:formatCode>yyyy\-mm\-dd</c:formatCode>
                <c:ptCount val="96"/>
                <c:pt idx="0">
                  <c:v>44399</c:v>
                </c:pt>
                <c:pt idx="1">
                  <c:v>44400</c:v>
                </c:pt>
                <c:pt idx="2">
                  <c:v>44403</c:v>
                </c:pt>
                <c:pt idx="3">
                  <c:v>44404</c:v>
                </c:pt>
                <c:pt idx="4">
                  <c:v>44405</c:v>
                </c:pt>
                <c:pt idx="5">
                  <c:v>44406</c:v>
                </c:pt>
                <c:pt idx="6">
                  <c:v>44407</c:v>
                </c:pt>
                <c:pt idx="7">
                  <c:v>44410</c:v>
                </c:pt>
                <c:pt idx="8">
                  <c:v>44411</c:v>
                </c:pt>
                <c:pt idx="9">
                  <c:v>44412</c:v>
                </c:pt>
                <c:pt idx="10">
                  <c:v>44413</c:v>
                </c:pt>
                <c:pt idx="11">
                  <c:v>44414</c:v>
                </c:pt>
                <c:pt idx="12">
                  <c:v>44417</c:v>
                </c:pt>
                <c:pt idx="13">
                  <c:v>44418</c:v>
                </c:pt>
                <c:pt idx="14">
                  <c:v>44419</c:v>
                </c:pt>
                <c:pt idx="15">
                  <c:v>44420</c:v>
                </c:pt>
                <c:pt idx="16">
                  <c:v>44421</c:v>
                </c:pt>
                <c:pt idx="17">
                  <c:v>44424</c:v>
                </c:pt>
                <c:pt idx="18">
                  <c:v>44425</c:v>
                </c:pt>
                <c:pt idx="19">
                  <c:v>44426</c:v>
                </c:pt>
                <c:pt idx="20">
                  <c:v>44427</c:v>
                </c:pt>
                <c:pt idx="21">
                  <c:v>44428</c:v>
                </c:pt>
                <c:pt idx="22">
                  <c:v>44431</c:v>
                </c:pt>
                <c:pt idx="23">
                  <c:v>44432</c:v>
                </c:pt>
                <c:pt idx="24">
                  <c:v>44433</c:v>
                </c:pt>
                <c:pt idx="25">
                  <c:v>44434</c:v>
                </c:pt>
                <c:pt idx="26">
                  <c:v>44435</c:v>
                </c:pt>
                <c:pt idx="27">
                  <c:v>44438</c:v>
                </c:pt>
                <c:pt idx="28">
                  <c:v>44439</c:v>
                </c:pt>
                <c:pt idx="29">
                  <c:v>44440</c:v>
                </c:pt>
                <c:pt idx="30">
                  <c:v>44441</c:v>
                </c:pt>
                <c:pt idx="31">
                  <c:v>44442</c:v>
                </c:pt>
                <c:pt idx="32">
                  <c:v>44445</c:v>
                </c:pt>
                <c:pt idx="33">
                  <c:v>44446</c:v>
                </c:pt>
                <c:pt idx="34">
                  <c:v>44447</c:v>
                </c:pt>
                <c:pt idx="35">
                  <c:v>44448</c:v>
                </c:pt>
                <c:pt idx="36">
                  <c:v>44449</c:v>
                </c:pt>
                <c:pt idx="37">
                  <c:v>44452</c:v>
                </c:pt>
                <c:pt idx="38">
                  <c:v>44453</c:v>
                </c:pt>
                <c:pt idx="39">
                  <c:v>44454</c:v>
                </c:pt>
                <c:pt idx="40">
                  <c:v>44455</c:v>
                </c:pt>
                <c:pt idx="41">
                  <c:v>44456</c:v>
                </c:pt>
                <c:pt idx="42">
                  <c:v>44461</c:v>
                </c:pt>
                <c:pt idx="43">
                  <c:v>44462</c:v>
                </c:pt>
                <c:pt idx="44">
                  <c:v>44463</c:v>
                </c:pt>
                <c:pt idx="45">
                  <c:v>44466</c:v>
                </c:pt>
                <c:pt idx="46">
                  <c:v>44467</c:v>
                </c:pt>
                <c:pt idx="47">
                  <c:v>44468</c:v>
                </c:pt>
                <c:pt idx="48">
                  <c:v>44469</c:v>
                </c:pt>
                <c:pt idx="49">
                  <c:v>44477</c:v>
                </c:pt>
                <c:pt idx="50">
                  <c:v>44480</c:v>
                </c:pt>
                <c:pt idx="51">
                  <c:v>44481</c:v>
                </c:pt>
                <c:pt idx="52">
                  <c:v>44482</c:v>
                </c:pt>
                <c:pt idx="53">
                  <c:v>44483</c:v>
                </c:pt>
                <c:pt idx="54">
                  <c:v>44484</c:v>
                </c:pt>
                <c:pt idx="55">
                  <c:v>44487</c:v>
                </c:pt>
                <c:pt idx="56">
                  <c:v>44488</c:v>
                </c:pt>
                <c:pt idx="57">
                  <c:v>44489</c:v>
                </c:pt>
                <c:pt idx="58">
                  <c:v>44490</c:v>
                </c:pt>
                <c:pt idx="59">
                  <c:v>44491</c:v>
                </c:pt>
                <c:pt idx="60">
                  <c:v>44494</c:v>
                </c:pt>
                <c:pt idx="61">
                  <c:v>44495</c:v>
                </c:pt>
                <c:pt idx="62">
                  <c:v>44496</c:v>
                </c:pt>
                <c:pt idx="63">
                  <c:v>44497</c:v>
                </c:pt>
                <c:pt idx="64">
                  <c:v>44498</c:v>
                </c:pt>
                <c:pt idx="65">
                  <c:v>44501</c:v>
                </c:pt>
                <c:pt idx="66">
                  <c:v>44502</c:v>
                </c:pt>
                <c:pt idx="67">
                  <c:v>44503</c:v>
                </c:pt>
                <c:pt idx="68">
                  <c:v>44504</c:v>
                </c:pt>
                <c:pt idx="69">
                  <c:v>44505</c:v>
                </c:pt>
                <c:pt idx="70">
                  <c:v>44508</c:v>
                </c:pt>
                <c:pt idx="71">
                  <c:v>44509</c:v>
                </c:pt>
                <c:pt idx="72">
                  <c:v>44510</c:v>
                </c:pt>
                <c:pt idx="73">
                  <c:v>44511</c:v>
                </c:pt>
                <c:pt idx="74">
                  <c:v>44512</c:v>
                </c:pt>
                <c:pt idx="75">
                  <c:v>44515</c:v>
                </c:pt>
                <c:pt idx="76">
                  <c:v>44516</c:v>
                </c:pt>
                <c:pt idx="77">
                  <c:v>44517</c:v>
                </c:pt>
                <c:pt idx="78">
                  <c:v>44518</c:v>
                </c:pt>
                <c:pt idx="79">
                  <c:v>44519</c:v>
                </c:pt>
                <c:pt idx="80">
                  <c:v>44522</c:v>
                </c:pt>
                <c:pt idx="81">
                  <c:v>44523</c:v>
                </c:pt>
                <c:pt idx="82">
                  <c:v>44524</c:v>
                </c:pt>
                <c:pt idx="83">
                  <c:v>44525</c:v>
                </c:pt>
                <c:pt idx="84">
                  <c:v>44526</c:v>
                </c:pt>
                <c:pt idx="85">
                  <c:v>44529</c:v>
                </c:pt>
                <c:pt idx="86">
                  <c:v>44530</c:v>
                </c:pt>
                <c:pt idx="87">
                  <c:v>44531</c:v>
                </c:pt>
                <c:pt idx="88">
                  <c:v>44532</c:v>
                </c:pt>
                <c:pt idx="89">
                  <c:v>44533</c:v>
                </c:pt>
                <c:pt idx="90">
                  <c:v>44536</c:v>
                </c:pt>
                <c:pt idx="91">
                  <c:v>44537</c:v>
                </c:pt>
                <c:pt idx="92">
                  <c:v>44538</c:v>
                </c:pt>
                <c:pt idx="93">
                  <c:v>44539</c:v>
                </c:pt>
                <c:pt idx="94">
                  <c:v>44540</c:v>
                </c:pt>
                <c:pt idx="95">
                  <c:v>44543</c:v>
                </c:pt>
              </c:numCache>
            </c:numRef>
          </c:xVal>
          <c:yVal>
            <c:numRef>
              <c:f>历史行情!$B$5:$B$100</c:f>
              <c:numCache>
                <c:formatCode>General</c:formatCode>
                <c:ptCount val="96"/>
                <c:pt idx="0">
                  <c:v>5151.7516999999998</c:v>
                </c:pt>
                <c:pt idx="1">
                  <c:v>5089.2281999999996</c:v>
                </c:pt>
                <c:pt idx="2">
                  <c:v>4925.299</c:v>
                </c:pt>
                <c:pt idx="3">
                  <c:v>4751.3130000000001</c:v>
                </c:pt>
                <c:pt idx="4">
                  <c:v>4760.4826000000003</c:v>
                </c:pt>
                <c:pt idx="5">
                  <c:v>4850.2745999999997</c:v>
                </c:pt>
                <c:pt idx="6">
                  <c:v>4811.1695</c:v>
                </c:pt>
                <c:pt idx="7">
                  <c:v>4933.7359999999999</c:v>
                </c:pt>
                <c:pt idx="8">
                  <c:v>4934.4583000000002</c:v>
                </c:pt>
                <c:pt idx="9">
                  <c:v>4978.8478999999998</c:v>
                </c:pt>
                <c:pt idx="10">
                  <c:v>4948.6702999999998</c:v>
                </c:pt>
                <c:pt idx="11">
                  <c:v>4921.5646999999999</c:v>
                </c:pt>
                <c:pt idx="12">
                  <c:v>4985.5627000000004</c:v>
                </c:pt>
                <c:pt idx="13">
                  <c:v>5043.1480000000001</c:v>
                </c:pt>
                <c:pt idx="14">
                  <c:v>5015.3406000000004</c:v>
                </c:pt>
                <c:pt idx="15">
                  <c:v>4973.3509000000004</c:v>
                </c:pt>
                <c:pt idx="16">
                  <c:v>4945.9829</c:v>
                </c:pt>
                <c:pt idx="17">
                  <c:v>4941.0676000000003</c:v>
                </c:pt>
                <c:pt idx="18">
                  <c:v>4837.4034000000001</c:v>
                </c:pt>
                <c:pt idx="19">
                  <c:v>4894.2384000000002</c:v>
                </c:pt>
                <c:pt idx="20">
                  <c:v>4862.1394</c:v>
                </c:pt>
                <c:pt idx="21">
                  <c:v>4769.2677999999996</c:v>
                </c:pt>
                <c:pt idx="22">
                  <c:v>4835.8782000000001</c:v>
                </c:pt>
                <c:pt idx="23">
                  <c:v>4888.3901999999998</c:v>
                </c:pt>
                <c:pt idx="24">
                  <c:v>4898.1571999999996</c:v>
                </c:pt>
                <c:pt idx="25">
                  <c:v>4801.6094000000003</c:v>
                </c:pt>
                <c:pt idx="26">
                  <c:v>4827.0433000000003</c:v>
                </c:pt>
                <c:pt idx="27">
                  <c:v>4813.2703000000001</c:v>
                </c:pt>
                <c:pt idx="28">
                  <c:v>4805.6099000000004</c:v>
                </c:pt>
                <c:pt idx="29">
                  <c:v>4869.4587000000001</c:v>
                </c:pt>
                <c:pt idx="30">
                  <c:v>4869.4112999999998</c:v>
                </c:pt>
                <c:pt idx="31">
                  <c:v>4843.0623999999998</c:v>
                </c:pt>
                <c:pt idx="32">
                  <c:v>4933.7262000000001</c:v>
                </c:pt>
                <c:pt idx="33">
                  <c:v>4992.8293999999996</c:v>
                </c:pt>
                <c:pt idx="34">
                  <c:v>4972.1324000000004</c:v>
                </c:pt>
                <c:pt idx="35">
                  <c:v>4970.0132999999996</c:v>
                </c:pt>
                <c:pt idx="36">
                  <c:v>5013.5218999999997</c:v>
                </c:pt>
                <c:pt idx="37">
                  <c:v>4991.6598000000004</c:v>
                </c:pt>
                <c:pt idx="38">
                  <c:v>4917.1616999999997</c:v>
                </c:pt>
                <c:pt idx="39">
                  <c:v>4867.3186999999998</c:v>
                </c:pt>
                <c:pt idx="40">
                  <c:v>4807.6977999999999</c:v>
                </c:pt>
                <c:pt idx="41">
                  <c:v>4855.9402</c:v>
                </c:pt>
                <c:pt idx="42">
                  <c:v>4821.7674999999999</c:v>
                </c:pt>
                <c:pt idx="43">
                  <c:v>4853.1957000000002</c:v>
                </c:pt>
                <c:pt idx="44">
                  <c:v>4849.4277000000002</c:v>
                </c:pt>
                <c:pt idx="45">
                  <c:v>4877.3698000000004</c:v>
                </c:pt>
                <c:pt idx="46">
                  <c:v>4883.8280000000004</c:v>
                </c:pt>
                <c:pt idx="47">
                  <c:v>4833.9281000000001</c:v>
                </c:pt>
                <c:pt idx="48">
                  <c:v>4866.3825999999999</c:v>
                </c:pt>
                <c:pt idx="49">
                  <c:v>4929.9408999999996</c:v>
                </c:pt>
                <c:pt idx="50">
                  <c:v>4936.1917999999996</c:v>
                </c:pt>
                <c:pt idx="51">
                  <c:v>4883.8369000000002</c:v>
                </c:pt>
                <c:pt idx="52">
                  <c:v>4940.1089000000002</c:v>
                </c:pt>
                <c:pt idx="53">
                  <c:v>4913.6122999999998</c:v>
                </c:pt>
                <c:pt idx="54">
                  <c:v>4932.1084000000001</c:v>
                </c:pt>
                <c:pt idx="55">
                  <c:v>4874.7753000000002</c:v>
                </c:pt>
                <c:pt idx="56">
                  <c:v>4922.7232000000004</c:v>
                </c:pt>
                <c:pt idx="57">
                  <c:v>4910.1845999999996</c:v>
                </c:pt>
                <c:pt idx="58">
                  <c:v>4928.0155999999997</c:v>
                </c:pt>
                <c:pt idx="59">
                  <c:v>4959.7254000000003</c:v>
                </c:pt>
                <c:pt idx="60">
                  <c:v>4979.5235000000002</c:v>
                </c:pt>
                <c:pt idx="61">
                  <c:v>4963.0983999999999</c:v>
                </c:pt>
                <c:pt idx="62">
                  <c:v>4898.1643999999997</c:v>
                </c:pt>
                <c:pt idx="63">
                  <c:v>4864.1379999999999</c:v>
                </c:pt>
                <c:pt idx="64">
                  <c:v>4908.7700999999997</c:v>
                </c:pt>
                <c:pt idx="65">
                  <c:v>4890.6850999999997</c:v>
                </c:pt>
                <c:pt idx="66">
                  <c:v>4839.8456999999999</c:v>
                </c:pt>
                <c:pt idx="67">
                  <c:v>4821.1118999999999</c:v>
                </c:pt>
                <c:pt idx="68">
                  <c:v>4868.7419</c:v>
                </c:pt>
                <c:pt idx="69">
                  <c:v>4842.3458000000001</c:v>
                </c:pt>
                <c:pt idx="70">
                  <c:v>4848.1795000000002</c:v>
                </c:pt>
                <c:pt idx="71">
                  <c:v>4846.7443999999996</c:v>
                </c:pt>
                <c:pt idx="72">
                  <c:v>4821.1925000000001</c:v>
                </c:pt>
                <c:pt idx="73">
                  <c:v>4898.6529</c:v>
                </c:pt>
                <c:pt idx="74">
                  <c:v>4888.3748999999998</c:v>
                </c:pt>
                <c:pt idx="75">
                  <c:v>4882.3777</c:v>
                </c:pt>
                <c:pt idx="76">
                  <c:v>4883.3206</c:v>
                </c:pt>
                <c:pt idx="77">
                  <c:v>4885.7543999999998</c:v>
                </c:pt>
                <c:pt idx="78">
                  <c:v>4837.6184999999996</c:v>
                </c:pt>
                <c:pt idx="79">
                  <c:v>4890.0574999999999</c:v>
                </c:pt>
                <c:pt idx="80">
                  <c:v>4912.3990000000003</c:v>
                </c:pt>
                <c:pt idx="81">
                  <c:v>4913.3456999999999</c:v>
                </c:pt>
                <c:pt idx="82">
                  <c:v>4916.6579000000002</c:v>
                </c:pt>
                <c:pt idx="83">
                  <c:v>4896.4416000000001</c:v>
                </c:pt>
                <c:pt idx="84">
                  <c:v>4860.1265000000003</c:v>
                </c:pt>
                <c:pt idx="85">
                  <c:v>4851.4229999999998</c:v>
                </c:pt>
                <c:pt idx="86">
                  <c:v>4832.0259999999998</c:v>
                </c:pt>
                <c:pt idx="87">
                  <c:v>4843.8509999999997</c:v>
                </c:pt>
                <c:pt idx="88">
                  <c:v>4856.1629999999996</c:v>
                </c:pt>
                <c:pt idx="89">
                  <c:v>4901.0174999999999</c:v>
                </c:pt>
                <c:pt idx="90">
                  <c:v>4892.6208999999999</c:v>
                </c:pt>
                <c:pt idx="91">
                  <c:v>4922.1014999999998</c:v>
                </c:pt>
                <c:pt idx="92">
                  <c:v>4995.9297999999999</c:v>
                </c:pt>
                <c:pt idx="93">
                  <c:v>5078.6900999999998</c:v>
                </c:pt>
                <c:pt idx="94">
                  <c:v>5055.1171999999997</c:v>
                </c:pt>
                <c:pt idx="95">
                  <c:v>5083.8006999999998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91EC-4C18-9350-977BDF637D39}"/>
            </c:ext>
          </c:extLst>
        </c:ser>
        <c:ser>
          <c:idx val="1"/>
          <c:order val="1"/>
          <c:tx>
            <c:strRef>
              <c:f>历史行情!$G$4</c:f>
              <c:strCache>
                <c:ptCount val="1"/>
                <c:pt idx="0">
                  <c:v>含名义本金</c:v>
                </c:pt>
              </c:strCache>
            </c:strRef>
          </c:tx>
          <c:spPr>
            <a:ln w="19050" cap="rnd">
              <a:solidFill>
                <a:schemeClr val="tx1">
                  <a:lumMod val="50000"/>
                  <a:lumOff val="50000"/>
                </a:schemeClr>
              </a:solidFill>
              <a:round/>
            </a:ln>
            <a:effectLst/>
          </c:spPr>
          <c:marker>
            <c:symbol val="none"/>
          </c:marker>
          <c:xVal>
            <c:numRef>
              <c:f>历史行情!$A$5:$A$100</c:f>
              <c:numCache>
                <c:formatCode>yyyy\-mm\-dd</c:formatCode>
                <c:ptCount val="96"/>
                <c:pt idx="0">
                  <c:v>44399</c:v>
                </c:pt>
                <c:pt idx="1">
                  <c:v>44400</c:v>
                </c:pt>
                <c:pt idx="2">
                  <c:v>44403</c:v>
                </c:pt>
                <c:pt idx="3">
                  <c:v>44404</c:v>
                </c:pt>
                <c:pt idx="4">
                  <c:v>44405</c:v>
                </c:pt>
                <c:pt idx="5">
                  <c:v>44406</c:v>
                </c:pt>
                <c:pt idx="6">
                  <c:v>44407</c:v>
                </c:pt>
                <c:pt idx="7">
                  <c:v>44410</c:v>
                </c:pt>
                <c:pt idx="8">
                  <c:v>44411</c:v>
                </c:pt>
                <c:pt idx="9">
                  <c:v>44412</c:v>
                </c:pt>
                <c:pt idx="10">
                  <c:v>44413</c:v>
                </c:pt>
                <c:pt idx="11">
                  <c:v>44414</c:v>
                </c:pt>
                <c:pt idx="12">
                  <c:v>44417</c:v>
                </c:pt>
                <c:pt idx="13">
                  <c:v>44418</c:v>
                </c:pt>
                <c:pt idx="14">
                  <c:v>44419</c:v>
                </c:pt>
                <c:pt idx="15">
                  <c:v>44420</c:v>
                </c:pt>
                <c:pt idx="16">
                  <c:v>44421</c:v>
                </c:pt>
                <c:pt idx="17">
                  <c:v>44424</c:v>
                </c:pt>
                <c:pt idx="18">
                  <c:v>44425</c:v>
                </c:pt>
                <c:pt idx="19">
                  <c:v>44426</c:v>
                </c:pt>
                <c:pt idx="20">
                  <c:v>44427</c:v>
                </c:pt>
                <c:pt idx="21">
                  <c:v>44428</c:v>
                </c:pt>
                <c:pt idx="22">
                  <c:v>44431</c:v>
                </c:pt>
                <c:pt idx="23">
                  <c:v>44432</c:v>
                </c:pt>
                <c:pt idx="24">
                  <c:v>44433</c:v>
                </c:pt>
                <c:pt idx="25">
                  <c:v>44434</c:v>
                </c:pt>
                <c:pt idx="26">
                  <c:v>44435</c:v>
                </c:pt>
                <c:pt idx="27">
                  <c:v>44438</c:v>
                </c:pt>
                <c:pt idx="28">
                  <c:v>44439</c:v>
                </c:pt>
                <c:pt idx="29">
                  <c:v>44440</c:v>
                </c:pt>
                <c:pt idx="30">
                  <c:v>44441</c:v>
                </c:pt>
                <c:pt idx="31">
                  <c:v>44442</c:v>
                </c:pt>
                <c:pt idx="32">
                  <c:v>44445</c:v>
                </c:pt>
                <c:pt idx="33">
                  <c:v>44446</c:v>
                </c:pt>
                <c:pt idx="34">
                  <c:v>44447</c:v>
                </c:pt>
                <c:pt idx="35">
                  <c:v>44448</c:v>
                </c:pt>
                <c:pt idx="36">
                  <c:v>44449</c:v>
                </c:pt>
                <c:pt idx="37">
                  <c:v>44452</c:v>
                </c:pt>
                <c:pt idx="38">
                  <c:v>44453</c:v>
                </c:pt>
                <c:pt idx="39">
                  <c:v>44454</c:v>
                </c:pt>
                <c:pt idx="40">
                  <c:v>44455</c:v>
                </c:pt>
                <c:pt idx="41">
                  <c:v>44456</c:v>
                </c:pt>
                <c:pt idx="42">
                  <c:v>44461</c:v>
                </c:pt>
                <c:pt idx="43">
                  <c:v>44462</c:v>
                </c:pt>
                <c:pt idx="44">
                  <c:v>44463</c:v>
                </c:pt>
                <c:pt idx="45">
                  <c:v>44466</c:v>
                </c:pt>
                <c:pt idx="46">
                  <c:v>44467</c:v>
                </c:pt>
                <c:pt idx="47">
                  <c:v>44468</c:v>
                </c:pt>
                <c:pt idx="48">
                  <c:v>44469</c:v>
                </c:pt>
                <c:pt idx="49">
                  <c:v>44477</c:v>
                </c:pt>
                <c:pt idx="50">
                  <c:v>44480</c:v>
                </c:pt>
                <c:pt idx="51">
                  <c:v>44481</c:v>
                </c:pt>
                <c:pt idx="52">
                  <c:v>44482</c:v>
                </c:pt>
                <c:pt idx="53">
                  <c:v>44483</c:v>
                </c:pt>
                <c:pt idx="54">
                  <c:v>44484</c:v>
                </c:pt>
                <c:pt idx="55">
                  <c:v>44487</c:v>
                </c:pt>
                <c:pt idx="56">
                  <c:v>44488</c:v>
                </c:pt>
                <c:pt idx="57">
                  <c:v>44489</c:v>
                </c:pt>
                <c:pt idx="58">
                  <c:v>44490</c:v>
                </c:pt>
                <c:pt idx="59">
                  <c:v>44491</c:v>
                </c:pt>
                <c:pt idx="60">
                  <c:v>44494</c:v>
                </c:pt>
                <c:pt idx="61">
                  <c:v>44495</c:v>
                </c:pt>
                <c:pt idx="62">
                  <c:v>44496</c:v>
                </c:pt>
                <c:pt idx="63">
                  <c:v>44497</c:v>
                </c:pt>
                <c:pt idx="64">
                  <c:v>44498</c:v>
                </c:pt>
                <c:pt idx="65">
                  <c:v>44501</c:v>
                </c:pt>
                <c:pt idx="66">
                  <c:v>44502</c:v>
                </c:pt>
                <c:pt idx="67">
                  <c:v>44503</c:v>
                </c:pt>
                <c:pt idx="68">
                  <c:v>44504</c:v>
                </c:pt>
                <c:pt idx="69">
                  <c:v>44505</c:v>
                </c:pt>
                <c:pt idx="70">
                  <c:v>44508</c:v>
                </c:pt>
                <c:pt idx="71">
                  <c:v>44509</c:v>
                </c:pt>
                <c:pt idx="72">
                  <c:v>44510</c:v>
                </c:pt>
                <c:pt idx="73">
                  <c:v>44511</c:v>
                </c:pt>
                <c:pt idx="74">
                  <c:v>44512</c:v>
                </c:pt>
                <c:pt idx="75">
                  <c:v>44515</c:v>
                </c:pt>
                <c:pt idx="76">
                  <c:v>44516</c:v>
                </c:pt>
                <c:pt idx="77">
                  <c:v>44517</c:v>
                </c:pt>
                <c:pt idx="78">
                  <c:v>44518</c:v>
                </c:pt>
                <c:pt idx="79">
                  <c:v>44519</c:v>
                </c:pt>
                <c:pt idx="80">
                  <c:v>44522</c:v>
                </c:pt>
                <c:pt idx="81">
                  <c:v>44523</c:v>
                </c:pt>
                <c:pt idx="82">
                  <c:v>44524</c:v>
                </c:pt>
                <c:pt idx="83">
                  <c:v>44525</c:v>
                </c:pt>
                <c:pt idx="84">
                  <c:v>44526</c:v>
                </c:pt>
                <c:pt idx="85">
                  <c:v>44529</c:v>
                </c:pt>
                <c:pt idx="86">
                  <c:v>44530</c:v>
                </c:pt>
                <c:pt idx="87">
                  <c:v>44531</c:v>
                </c:pt>
                <c:pt idx="88">
                  <c:v>44532</c:v>
                </c:pt>
                <c:pt idx="89">
                  <c:v>44533</c:v>
                </c:pt>
                <c:pt idx="90">
                  <c:v>44536</c:v>
                </c:pt>
                <c:pt idx="91">
                  <c:v>44537</c:v>
                </c:pt>
                <c:pt idx="92">
                  <c:v>44538</c:v>
                </c:pt>
                <c:pt idx="93">
                  <c:v>44539</c:v>
                </c:pt>
                <c:pt idx="94">
                  <c:v>44540</c:v>
                </c:pt>
                <c:pt idx="95">
                  <c:v>44543</c:v>
                </c:pt>
              </c:numCache>
            </c:numRef>
          </c:xVal>
          <c:yVal>
            <c:numRef>
              <c:f>历史行情!$G$5:$G$100</c:f>
              <c:numCache>
                <c:formatCode>General</c:formatCode>
                <c:ptCount val="96"/>
                <c:pt idx="0">
                  <c:v>5151.7516999999998</c:v>
                </c:pt>
                <c:pt idx="1">
                  <c:v>5132.3424630982954</c:v>
                </c:pt>
                <c:pt idx="2">
                  <c:v>5077.0253686134429</c:v>
                </c:pt>
                <c:pt idx="3">
                  <c:v>5004.3330607578555</c:v>
                </c:pt>
                <c:pt idx="4">
                  <c:v>5009.0270716147397</c:v>
                </c:pt>
                <c:pt idx="5">
                  <c:v>5054.6424090050059</c:v>
                </c:pt>
                <c:pt idx="6">
                  <c:v>5036.695997932562</c:v>
                </c:pt>
                <c:pt idx="7">
                  <c:v>5095.746742624975</c:v>
                </c:pt>
                <c:pt idx="8">
                  <c:v>5096.0453042640975</c:v>
                </c:pt>
                <c:pt idx="9">
                  <c:v>5114.3845328386924</c:v>
                </c:pt>
                <c:pt idx="10">
                  <c:v>5102.6740233262599</c:v>
                </c:pt>
                <c:pt idx="11">
                  <c:v>5091.6802430426605</c:v>
                </c:pt>
                <c:pt idx="12">
                  <c:v>5118.7101198532218</c:v>
                </c:pt>
                <c:pt idx="13">
                  <c:v>5140.8437378775634</c:v>
                </c:pt>
                <c:pt idx="14">
                  <c:v>5131.1244863451093</c:v>
                </c:pt>
                <c:pt idx="15">
                  <c:v>5115.7256815064075</c:v>
                </c:pt>
                <c:pt idx="16">
                  <c:v>5104.9214526853566</c:v>
                </c:pt>
                <c:pt idx="17">
                  <c:v>5102.8804340171537</c:v>
                </c:pt>
                <c:pt idx="18">
                  <c:v>5059.1319851667358</c:v>
                </c:pt>
                <c:pt idx="19">
                  <c:v>5087.4508497314519</c:v>
                </c:pt>
                <c:pt idx="20">
                  <c:v>5072.4749744441051</c:v>
                </c:pt>
                <c:pt idx="21">
                  <c:v>5026.3055029444922</c:v>
                </c:pt>
                <c:pt idx="22">
                  <c:v>5063.636679000394</c:v>
                </c:pt>
                <c:pt idx="23">
                  <c:v>5091.2537406952388</c:v>
                </c:pt>
                <c:pt idx="24">
                  <c:v>5096.0843114621039</c:v>
                </c:pt>
                <c:pt idx="25">
                  <c:v>5048.7792366883459</c:v>
                </c:pt>
                <c:pt idx="26">
                  <c:v>5062.700743498177</c:v>
                </c:pt>
                <c:pt idx="27">
                  <c:v>5055.3435811922145</c:v>
                </c:pt>
                <c:pt idx="28">
                  <c:v>5051.1735391977682</c:v>
                </c:pt>
                <c:pt idx="29">
                  <c:v>5086.3699364850399</c:v>
                </c:pt>
                <c:pt idx="30">
                  <c:v>5086.3455597143984</c:v>
                </c:pt>
                <c:pt idx="31">
                  <c:v>5072.7361720170056</c:v>
                </c:pt>
                <c:pt idx="32">
                  <c:v>5121.3186884988509</c:v>
                </c:pt>
                <c:pt idx="33">
                  <c:v>5149.6926478100449</c:v>
                </c:pt>
                <c:pt idx="34">
                  <c:v>5140.516358923187</c:v>
                </c:pt>
                <c:pt idx="35">
                  <c:v>5139.5423262383811</c:v>
                </c:pt>
                <c:pt idx="36">
                  <c:v>5159.7433622911603</c:v>
                </c:pt>
                <c:pt idx="37">
                  <c:v>5150.1887702375234</c:v>
                </c:pt>
                <c:pt idx="38">
                  <c:v>5116.0943997745644</c:v>
                </c:pt>
                <c:pt idx="39">
                  <c:v>5090.2001934897671</c:v>
                </c:pt>
                <c:pt idx="40">
                  <c:v>5056.5884254399143</c:v>
                </c:pt>
                <c:pt idx="41">
                  <c:v>5086.0372303273471</c:v>
                </c:pt>
                <c:pt idx="42">
                  <c:v>5065.8554454518926</c:v>
                </c:pt>
                <c:pt idx="43">
                  <c:v>5084.9355176559056</c:v>
                </c:pt>
                <c:pt idx="44">
                  <c:v>5082.7293126747027</c:v>
                </c:pt>
                <c:pt idx="45">
                  <c:v>5099.230093534874</c:v>
                </c:pt>
                <c:pt idx="46">
                  <c:v>5102.9534163359367</c:v>
                </c:pt>
                <c:pt idx="47">
                  <c:v>5074.2263701329239</c:v>
                </c:pt>
                <c:pt idx="48">
                  <c:v>5094.0315034387859</c:v>
                </c:pt>
                <c:pt idx="49">
                  <c:v>5131.7897859694494</c:v>
                </c:pt>
                <c:pt idx="50">
                  <c:v>5135.275004719394</c:v>
                </c:pt>
                <c:pt idx="51">
                  <c:v>5106.0582699731276</c:v>
                </c:pt>
                <c:pt idx="52">
                  <c:v>5139.7103889847631</c:v>
                </c:pt>
                <c:pt idx="53">
                  <c:v>5124.6864390916471</c:v>
                </c:pt>
                <c:pt idx="54">
                  <c:v>5135.6450538013914</c:v>
                </c:pt>
                <c:pt idx="55">
                  <c:v>5101.8725629108703</c:v>
                </c:pt>
                <c:pt idx="56">
                  <c:v>5132.3935675815192</c:v>
                </c:pt>
                <c:pt idx="57">
                  <c:v>5124.6237816897983</c:v>
                </c:pt>
                <c:pt idx="58">
                  <c:v>5136.0725559039938</c:v>
                </c:pt>
                <c:pt idx="59">
                  <c:v>5156.6884566532926</c:v>
                </c:pt>
                <c:pt idx="60">
                  <c:v>5169.6492423279542</c:v>
                </c:pt>
                <c:pt idx="61">
                  <c:v>5160.4042921811651</c:v>
                </c:pt>
                <c:pt idx="62">
                  <c:v>5123.0997723382825</c:v>
                </c:pt>
                <c:pt idx="63">
                  <c:v>5102.1360110028718</c:v>
                </c:pt>
                <c:pt idx="64">
                  <c:v>5130.6909761129173</c:v>
                </c:pt>
                <c:pt idx="65">
                  <c:v>5119.5616849548242</c:v>
                </c:pt>
                <c:pt idx="66">
                  <c:v>5087.5310547214885</c:v>
                </c:pt>
                <c:pt idx="67">
                  <c:v>5075.0581019165329</c:v>
                </c:pt>
                <c:pt idx="68">
                  <c:v>5107.5383818681003</c:v>
                </c:pt>
                <c:pt idx="69">
                  <c:v>5090.2082777880942</c:v>
                </c:pt>
                <c:pt idx="70">
                  <c:v>5094.167304077223</c:v>
                </c:pt>
                <c:pt idx="71">
                  <c:v>5093.1904342278795</c:v>
                </c:pt>
                <c:pt idx="72">
                  <c:v>5075.6099590442091</c:v>
                </c:pt>
                <c:pt idx="73">
                  <c:v>5130.7026034094479</c:v>
                </c:pt>
                <c:pt idx="74">
                  <c:v>5123.8194692618144</c:v>
                </c:pt>
                <c:pt idx="75">
                  <c:v>5119.7063556769754</c:v>
                </c:pt>
                <c:pt idx="76">
                  <c:v>5120.3667558920815</c:v>
                </c:pt>
                <c:pt idx="77">
                  <c:v>5122.0996549246292</c:v>
                </c:pt>
                <c:pt idx="78">
                  <c:v>5087.2356978847938</c:v>
                </c:pt>
                <c:pt idx="79">
                  <c:v>5126.8301627285691</c:v>
                </c:pt>
                <c:pt idx="80">
                  <c:v>5143.4926408923411</c:v>
                </c:pt>
                <c:pt idx="81">
                  <c:v>5144.1826451488414</c:v>
                </c:pt>
                <c:pt idx="82">
                  <c:v>5146.3558722281514</c:v>
                </c:pt>
                <c:pt idx="83">
                  <c:v>5133.0795104842391</c:v>
                </c:pt>
                <c:pt idx="84">
                  <c:v>5108.6575992911603</c:v>
                </c:pt>
                <c:pt idx="85">
                  <c:v>5102.5729026552108</c:v>
                </c:pt>
                <c:pt idx="86">
                  <c:v>5088.8301535747451</c:v>
                </c:pt>
                <c:pt idx="87">
                  <c:v>5097.4060003423101</c:v>
                </c:pt>
                <c:pt idx="88">
                  <c:v>5106.2956524839119</c:v>
                </c:pt>
                <c:pt idx="89">
                  <c:v>5138.5325774074499</c:v>
                </c:pt>
                <c:pt idx="90">
                  <c:v>5132.7099951028385</c:v>
                </c:pt>
                <c:pt idx="91">
                  <c:v>5153.4832880814556</c:v>
                </c:pt>
                <c:pt idx="92">
                  <c:v>5204.4265278902894</c:v>
                </c:pt>
                <c:pt idx="93">
                  <c:v>5257.6065011177916</c:v>
                </c:pt>
                <c:pt idx="94">
                  <c:v>5243.8178003010216</c:v>
                </c:pt>
                <c:pt idx="95">
                  <c:v>5261.3257739932433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2-91EC-4C18-9350-977BDF637D3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55684128"/>
        <c:axId val="155695168"/>
      </c:scatterChart>
      <c:valAx>
        <c:axId val="155684128"/>
        <c:scaling>
          <c:orientation val="minMax"/>
        </c:scaling>
        <c:delete val="1"/>
        <c:axPos val="b"/>
        <c:numFmt formatCode="yyyy\-mm\-dd" sourceLinked="1"/>
        <c:majorTickMark val="none"/>
        <c:minorTickMark val="none"/>
        <c:tickLblPos val="nextTo"/>
        <c:crossAx val="155695168"/>
        <c:crosses val="autoZero"/>
        <c:crossBetween val="midCat"/>
      </c:valAx>
      <c:valAx>
        <c:axId val="15569516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5568412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DC0A4-AB10-42EE-B4E9-10C3C659D0F0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A9B89-07D5-4D2F-90FD-EC1406DF497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DC0A4-AB10-42EE-B4E9-10C3C659D0F0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A9B89-07D5-4D2F-90FD-EC1406DF497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DC0A4-AB10-42EE-B4E9-10C3C659D0F0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A9B89-07D5-4D2F-90FD-EC1406DF497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DC0A4-AB10-42EE-B4E9-10C3C659D0F0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A9B89-07D5-4D2F-90FD-EC1406DF497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DC0A4-AB10-42EE-B4E9-10C3C659D0F0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A9B89-07D5-4D2F-90FD-EC1406DF497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DC0A4-AB10-42EE-B4E9-10C3C659D0F0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A9B89-07D5-4D2F-90FD-EC1406DF497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DC0A4-AB10-42EE-B4E9-10C3C659D0F0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A9B89-07D5-4D2F-90FD-EC1406DF497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DC0A4-AB10-42EE-B4E9-10C3C659D0F0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A9B89-07D5-4D2F-90FD-EC1406DF497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DC0A4-AB10-42EE-B4E9-10C3C659D0F0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A9B89-07D5-4D2F-90FD-EC1406DF497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DC0A4-AB10-42EE-B4E9-10C3C659D0F0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A9B89-07D5-4D2F-90FD-EC1406DF497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DC0A4-AB10-42EE-B4E9-10C3C659D0F0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A9B89-07D5-4D2F-90FD-EC1406DF497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5DC0A4-AB10-42EE-B4E9-10C3C659D0F0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6A9B89-07D5-4D2F-90FD-EC1406DF497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/>
            <a:r>
              <a:rPr lang="zh-CN" altLang="en-US" b="1" dirty="0"/>
              <a:t>波动生息与雪球期权投资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985260"/>
            <a:ext cx="9144000" cy="554990"/>
          </a:xfrm>
        </p:spPr>
        <p:txBody>
          <a:bodyPr/>
          <a:lstStyle/>
          <a:p>
            <a:r>
              <a:rPr lang="en-US" altLang="zh-CN" b="1" dirty="0"/>
              <a:t>2026</a:t>
            </a:r>
            <a:r>
              <a:rPr lang="zh-CN" altLang="en-US" b="1" dirty="0"/>
              <a:t>年</a:t>
            </a:r>
            <a:r>
              <a:rPr lang="en-US" altLang="zh-CN" b="1" dirty="0"/>
              <a:t>5</a:t>
            </a:r>
            <a:r>
              <a:rPr lang="zh-CN" altLang="en-US" b="1" dirty="0"/>
              <a:t>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509353-23C3-A0DA-CB55-EBAAC5714C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BA9461D0-76B8-8658-BBE6-A79B9F8A8199}"/>
              </a:ext>
            </a:extLst>
          </p:cNvPr>
          <p:cNvSpPr txBox="1">
            <a:spLocks/>
          </p:cNvSpPr>
          <p:nvPr/>
        </p:nvSpPr>
        <p:spPr>
          <a:xfrm>
            <a:off x="579120" y="55493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 dirty="0">
                <a:ea typeface="楷体" panose="02010609060101010101" pitchFamily="49" charset="-122"/>
              </a:rPr>
              <a:t>一、波动生息</a:t>
            </a:r>
            <a:endParaRPr lang="en-US" altLang="zh-CN" sz="3200" dirty="0">
              <a:ea typeface="楷体" panose="02010609060101010101" pitchFamily="49" charset="-122"/>
            </a:endParaRPr>
          </a:p>
          <a:p>
            <a:endParaRPr lang="en-US" altLang="zh-CN" sz="3200" dirty="0">
              <a:ea typeface="楷体" panose="02010609060101010101" pitchFamily="49" charset="-122"/>
            </a:endParaRPr>
          </a:p>
          <a:p>
            <a:r>
              <a:rPr lang="en-US" altLang="zh-CN" sz="2800" dirty="0">
                <a:ea typeface="楷体" panose="02010609060101010101" pitchFamily="49" charset="-122"/>
              </a:rPr>
              <a:t>-</a:t>
            </a:r>
            <a:r>
              <a:rPr lang="zh-CN" altLang="en-US" sz="2800" dirty="0">
                <a:ea typeface="楷体" panose="02010609060101010101" pitchFamily="49" charset="-122"/>
              </a:rPr>
              <a:t>通过高抛低吸来赚取波动收益</a:t>
            </a:r>
            <a:endParaRPr lang="zh-CN" altLang="en-US" sz="2800" dirty="0">
              <a:latin typeface="+mn-ea"/>
              <a:ea typeface="+mn-ea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BA432F3B-9EAC-1782-29EA-F24F0BB2A2B1}"/>
              </a:ext>
            </a:extLst>
          </p:cNvPr>
          <p:cNvSpPr txBox="1"/>
          <p:nvPr/>
        </p:nvSpPr>
        <p:spPr>
          <a:xfrm>
            <a:off x="1163675" y="1790405"/>
            <a:ext cx="578206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LONG GAMMA /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高抛低吸 策略指导进行在</a:t>
            </a:r>
            <a:r>
              <a:rPr lang="zh-CN" altLang="en-US" b="1" dirty="0">
                <a:solidFill>
                  <a:schemeClr val="accent6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下跌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中逐步</a:t>
            </a:r>
            <a:r>
              <a:rPr lang="zh-CN" altLang="en-US" b="1" dirty="0">
                <a:solidFill>
                  <a:schemeClr val="accent6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加仓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zh-CN" altLang="en-US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上涨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时逐步</a:t>
            </a:r>
            <a:r>
              <a:rPr lang="zh-CN" altLang="en-US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减仓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采用既定的投资策略，如</a:t>
            </a:r>
            <a:r>
              <a:rPr lang="zh-CN" altLang="en-US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网格交易法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或者</a:t>
            </a:r>
            <a:r>
              <a:rPr lang="zh-CN" altLang="en-US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雪球对冲模型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，来计算初始以及需要增减的仓位，以</a:t>
            </a:r>
            <a:r>
              <a:rPr lang="zh-CN" altLang="en-US" b="1" dirty="0">
                <a:solidFill>
                  <a:schemeClr val="accent6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投资目标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导向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-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预期的收益率以及亏损限额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-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来指导仓位变化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波动永远存在，波动生息永远可以进行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285750" indent="-285750">
              <a:buFont typeface="Wingdings" panose="05000000000000000000" pitchFamily="2" charset="2"/>
              <a:buChar char="u"/>
            </a:pP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生息即在建仓和敲出后可以一直滚动运作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378125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93B6804D-7B33-7F7A-3A9C-2F4ED5FF4576}"/>
              </a:ext>
            </a:extLst>
          </p:cNvPr>
          <p:cNvGrpSpPr/>
          <p:nvPr/>
        </p:nvGrpSpPr>
        <p:grpSpPr>
          <a:xfrm>
            <a:off x="2370892" y="2030013"/>
            <a:ext cx="7675732" cy="4531938"/>
            <a:chOff x="2258925" y="1880723"/>
            <a:chExt cx="7675732" cy="4531938"/>
          </a:xfrm>
        </p:grpSpPr>
        <p:grpSp>
          <p:nvGrpSpPr>
            <p:cNvPr id="2" name="组合 1">
              <a:extLst>
                <a:ext uri="{FF2B5EF4-FFF2-40B4-BE49-F238E27FC236}">
                  <a16:creationId xmlns:a16="http://schemas.microsoft.com/office/drawing/2014/main" id="{7DE29355-18B5-2393-AEF3-D3C249576CA4}"/>
                </a:ext>
              </a:extLst>
            </p:cNvPr>
            <p:cNvGrpSpPr/>
            <p:nvPr/>
          </p:nvGrpSpPr>
          <p:grpSpPr>
            <a:xfrm>
              <a:off x="2690710" y="1880723"/>
              <a:ext cx="7243947" cy="4531938"/>
              <a:chOff x="4898201" y="1917668"/>
              <a:chExt cx="7243947" cy="4531938"/>
            </a:xfrm>
          </p:grpSpPr>
          <p:graphicFrame>
            <p:nvGraphicFramePr>
              <p:cNvPr id="9" name="图表 8">
                <a:extLst>
                  <a:ext uri="{FF2B5EF4-FFF2-40B4-BE49-F238E27FC236}">
                    <a16:creationId xmlns:a16="http://schemas.microsoft.com/office/drawing/2014/main" id="{91F595BD-5ADA-8114-83BB-C40E74E3FC8C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1366239408"/>
                  </p:ext>
                </p:extLst>
              </p:nvPr>
            </p:nvGraphicFramePr>
            <p:xfrm>
              <a:off x="5039443" y="5028488"/>
              <a:ext cx="5950913" cy="1421118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2"/>
              </a:graphicData>
            </a:graphic>
          </p:graphicFrame>
          <p:graphicFrame>
            <p:nvGraphicFramePr>
              <p:cNvPr id="11" name="图表 10">
                <a:extLst>
                  <a:ext uri="{FF2B5EF4-FFF2-40B4-BE49-F238E27FC236}">
                    <a16:creationId xmlns:a16="http://schemas.microsoft.com/office/drawing/2014/main" id="{2A460D0F-C4A7-E126-7E70-B9E6C93EB5CF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441219744"/>
                  </p:ext>
                </p:extLst>
              </p:nvPr>
            </p:nvGraphicFramePr>
            <p:xfrm>
              <a:off x="4898201" y="2192192"/>
              <a:ext cx="6144937" cy="2918277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3"/>
              </a:graphicData>
            </a:graphic>
          </p:graphicFrame>
          <p:cxnSp>
            <p:nvCxnSpPr>
              <p:cNvPr id="12" name="直接箭头连接符 11">
                <a:extLst>
                  <a:ext uri="{FF2B5EF4-FFF2-40B4-BE49-F238E27FC236}">
                    <a16:creationId xmlns:a16="http://schemas.microsoft.com/office/drawing/2014/main" id="{BDF6E450-6AF7-13C4-E70E-315557D637C5}"/>
                  </a:ext>
                </a:extLst>
              </p:cNvPr>
              <p:cNvCxnSpPr/>
              <p:nvPr/>
            </p:nvCxnSpPr>
            <p:spPr>
              <a:xfrm>
                <a:off x="5275356" y="4945153"/>
                <a:ext cx="5556738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接箭头连接符 12">
                <a:extLst>
                  <a:ext uri="{FF2B5EF4-FFF2-40B4-BE49-F238E27FC236}">
                    <a16:creationId xmlns:a16="http://schemas.microsoft.com/office/drawing/2014/main" id="{7534CA87-B6EE-4700-E52D-F3457100D88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273891" y="6018832"/>
                <a:ext cx="5613888" cy="1707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直接箭头连接符 13">
                <a:extLst>
                  <a:ext uri="{FF2B5EF4-FFF2-40B4-BE49-F238E27FC236}">
                    <a16:creationId xmlns:a16="http://schemas.microsoft.com/office/drawing/2014/main" id="{CB49148E-0A97-9994-45C9-19BAABF4EA1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273891" y="1917668"/>
                <a:ext cx="1465" cy="411824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5AFC35FC-F784-3943-0B36-0C3D60973C01}"/>
                  </a:ext>
                </a:extLst>
              </p:cNvPr>
              <p:cNvSpPr/>
              <p:nvPr/>
            </p:nvSpPr>
            <p:spPr>
              <a:xfrm>
                <a:off x="10681132" y="2554896"/>
                <a:ext cx="134816" cy="45719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3A50FA64-7322-E9A5-1A62-C53A18D4E297}"/>
                  </a:ext>
                </a:extLst>
              </p:cNvPr>
              <p:cNvSpPr txBox="1"/>
              <p:nvPr/>
            </p:nvSpPr>
            <p:spPr>
              <a:xfrm>
                <a:off x="10849624" y="2450684"/>
                <a:ext cx="954107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投资净值曲线</a:t>
                </a:r>
              </a:p>
            </p:txBody>
          </p:sp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53A43F80-E5AC-E451-B6C4-BA78C78D9B47}"/>
                  </a:ext>
                </a:extLst>
              </p:cNvPr>
              <p:cNvSpPr txBox="1"/>
              <p:nvPr/>
            </p:nvSpPr>
            <p:spPr>
              <a:xfrm>
                <a:off x="10887779" y="2794488"/>
                <a:ext cx="1210588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挂钩资产价格曲线</a:t>
                </a:r>
              </a:p>
            </p:txBody>
          </p:sp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F65CB1E7-187F-5855-8241-0929A2EDAE09}"/>
                  </a:ext>
                </a:extLst>
              </p:cNvPr>
              <p:cNvSpPr/>
              <p:nvPr/>
            </p:nvSpPr>
            <p:spPr>
              <a:xfrm>
                <a:off x="10701758" y="2917600"/>
                <a:ext cx="134816" cy="45719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0A38956E-8BB1-95E6-808F-1D27BD51BA83}"/>
                  </a:ext>
                </a:extLst>
              </p:cNvPr>
              <p:cNvSpPr/>
              <p:nvPr/>
            </p:nvSpPr>
            <p:spPr>
              <a:xfrm>
                <a:off x="10701758" y="3238480"/>
                <a:ext cx="134816" cy="45719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FEC1901C-01C8-AFBA-71AA-E070FD7605DE}"/>
                  </a:ext>
                </a:extLst>
              </p:cNvPr>
              <p:cNvSpPr txBox="1"/>
              <p:nvPr/>
            </p:nvSpPr>
            <p:spPr>
              <a:xfrm>
                <a:off x="10887779" y="3115369"/>
                <a:ext cx="697627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持仓份额</a:t>
                </a:r>
              </a:p>
            </p:txBody>
          </p:sp>
          <p:cxnSp>
            <p:nvCxnSpPr>
              <p:cNvPr id="21" name="连接符: 曲线 20">
                <a:extLst>
                  <a:ext uri="{FF2B5EF4-FFF2-40B4-BE49-F238E27FC236}">
                    <a16:creationId xmlns:a16="http://schemas.microsoft.com/office/drawing/2014/main" id="{388EBF15-E48E-D00E-5E35-1C906D0AFB2A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5099761" y="3679312"/>
                <a:ext cx="1258263" cy="376602"/>
              </a:xfrm>
              <a:prstGeom prst="curvedConnector3">
                <a:avLst>
                  <a:gd name="adj1" fmla="val 46157"/>
                </a:avLst>
              </a:prstGeom>
              <a:ln w="19050" cap="flat" cmpd="sng" algn="ctr">
                <a:solidFill>
                  <a:schemeClr val="accent6"/>
                </a:solidFill>
                <a:prstDash val="solid"/>
                <a:round/>
                <a:headEnd type="none" w="med" len="med"/>
                <a:tailEnd type="arrow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22" name="连接符: 曲线 21">
                <a:extLst>
                  <a:ext uri="{FF2B5EF4-FFF2-40B4-BE49-F238E27FC236}">
                    <a16:creationId xmlns:a16="http://schemas.microsoft.com/office/drawing/2014/main" id="{9D3DE23B-7F06-9DAD-CC8E-77D82F60B1FD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 flipV="1">
                <a:off x="5652218" y="5139259"/>
                <a:ext cx="387805" cy="265242"/>
              </a:xfrm>
              <a:prstGeom prst="curvedConnector3">
                <a:avLst>
                  <a:gd name="adj1" fmla="val 50000"/>
                </a:avLst>
              </a:prstGeom>
              <a:ln w="19050" cap="flat" cmpd="sng" algn="ctr">
                <a:solidFill>
                  <a:schemeClr val="accent5"/>
                </a:solidFill>
                <a:prstDash val="solid"/>
                <a:round/>
                <a:headEnd type="none" w="med" len="med"/>
                <a:tailEnd type="arrow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23" name="连接符: 曲线 22">
                <a:extLst>
                  <a:ext uri="{FF2B5EF4-FFF2-40B4-BE49-F238E27FC236}">
                    <a16:creationId xmlns:a16="http://schemas.microsoft.com/office/drawing/2014/main" id="{D1646C7E-67AC-8BC0-AD15-4B476043F9F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790206" y="5089539"/>
                <a:ext cx="781078" cy="182341"/>
              </a:xfrm>
              <a:prstGeom prst="curvedConnector3">
                <a:avLst>
                  <a:gd name="adj1" fmla="val 50000"/>
                </a:avLst>
              </a:prstGeom>
              <a:ln w="19050" cap="flat" cmpd="sng" algn="ctr">
                <a:solidFill>
                  <a:schemeClr val="accent5"/>
                </a:solidFill>
                <a:prstDash val="solid"/>
                <a:round/>
                <a:headEnd type="none" w="med" len="med"/>
                <a:tailEnd type="arrow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24" name="连接符: 曲线 23">
                <a:extLst>
                  <a:ext uri="{FF2B5EF4-FFF2-40B4-BE49-F238E27FC236}">
                    <a16:creationId xmlns:a16="http://schemas.microsoft.com/office/drawing/2014/main" id="{894A7DBD-1ED6-190B-7C5E-FB21E17483EA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 flipV="1">
                <a:off x="9378842" y="3552758"/>
                <a:ext cx="1561297" cy="670442"/>
              </a:xfrm>
              <a:prstGeom prst="curvedConnector3">
                <a:avLst>
                  <a:gd name="adj1" fmla="val 11706"/>
                </a:avLst>
              </a:prstGeom>
              <a:ln w="19050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arrow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sp>
            <p:nvSpPr>
              <p:cNvPr id="25" name="标注: 弯曲线形 24">
                <a:extLst>
                  <a:ext uri="{FF2B5EF4-FFF2-40B4-BE49-F238E27FC236}">
                    <a16:creationId xmlns:a16="http://schemas.microsoft.com/office/drawing/2014/main" id="{7C3B0AF8-49A7-8089-9F16-D70493AE48AC}"/>
                  </a:ext>
                </a:extLst>
              </p:cNvPr>
              <p:cNvSpPr/>
              <p:nvPr/>
            </p:nvSpPr>
            <p:spPr>
              <a:xfrm>
                <a:off x="5992564" y="2307463"/>
                <a:ext cx="1432512" cy="247433"/>
              </a:xfrm>
              <a:prstGeom prst="borderCallout2">
                <a:avLst>
                  <a:gd name="adj1" fmla="val 17555"/>
                  <a:gd name="adj2" fmla="val 3"/>
                  <a:gd name="adj3" fmla="val 18750"/>
                  <a:gd name="adj4" fmla="val -16667"/>
                  <a:gd name="adj5" fmla="val 362893"/>
                  <a:gd name="adj6" fmla="val -33473"/>
                </a:avLst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solidFill>
                  <a:schemeClr val="accent6"/>
                </a:solidFill>
              </a:ln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在下跌中逐步加仓</a:t>
                </a:r>
              </a:p>
            </p:txBody>
          </p:sp>
          <p:sp>
            <p:nvSpPr>
              <p:cNvPr id="26" name="标注: 弯曲线形 25">
                <a:extLst>
                  <a:ext uri="{FF2B5EF4-FFF2-40B4-BE49-F238E27FC236}">
                    <a16:creationId xmlns:a16="http://schemas.microsoft.com/office/drawing/2014/main" id="{5ABE867F-3BDE-F334-5D37-6A7B2079B777}"/>
                  </a:ext>
                </a:extLst>
              </p:cNvPr>
              <p:cNvSpPr/>
              <p:nvPr/>
            </p:nvSpPr>
            <p:spPr>
              <a:xfrm>
                <a:off x="10826654" y="4091527"/>
                <a:ext cx="1315494" cy="247433"/>
              </a:xfrm>
              <a:prstGeom prst="borderCallout2">
                <a:avLst>
                  <a:gd name="adj1" fmla="val 17555"/>
                  <a:gd name="adj2" fmla="val 3"/>
                  <a:gd name="adj3" fmla="val 18750"/>
                  <a:gd name="adj4" fmla="val -16667"/>
                  <a:gd name="adj5" fmla="val -120370"/>
                  <a:gd name="adj6" fmla="val -24880"/>
                </a:avLst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在上涨中减仓</a:t>
                </a:r>
              </a:p>
            </p:txBody>
          </p:sp>
          <p:sp>
            <p:nvSpPr>
              <p:cNvPr id="27" name="矩形 26">
                <a:extLst>
                  <a:ext uri="{FF2B5EF4-FFF2-40B4-BE49-F238E27FC236}">
                    <a16:creationId xmlns:a16="http://schemas.microsoft.com/office/drawing/2014/main" id="{89EDF81A-0832-7462-AA3C-810C8FAE3766}"/>
                  </a:ext>
                </a:extLst>
              </p:cNvPr>
              <p:cNvSpPr/>
              <p:nvPr/>
            </p:nvSpPr>
            <p:spPr>
              <a:xfrm>
                <a:off x="10613982" y="2422188"/>
                <a:ext cx="1528166" cy="948421"/>
              </a:xfrm>
              <a:prstGeom prst="rect">
                <a:avLst/>
              </a:prstGeom>
              <a:noFill/>
              <a:ln>
                <a:prstDash val="sys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0E67966A-4692-34E7-1D98-7408894A8424}"/>
                </a:ext>
              </a:extLst>
            </p:cNvPr>
            <p:cNvSpPr txBox="1"/>
            <p:nvPr/>
          </p:nvSpPr>
          <p:spPr>
            <a:xfrm>
              <a:off x="2258925" y="2659960"/>
              <a:ext cx="369332" cy="1006876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zh-CN" altLang="en-US" sz="1200" dirty="0"/>
                <a:t>指数</a:t>
              </a:r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9D4077B5-2831-B4AB-69AD-404A1EE432AF}"/>
                </a:ext>
              </a:extLst>
            </p:cNvPr>
            <p:cNvSpPr txBox="1"/>
            <p:nvPr/>
          </p:nvSpPr>
          <p:spPr>
            <a:xfrm>
              <a:off x="2328722" y="4991543"/>
              <a:ext cx="369332" cy="1070578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zh-CN" altLang="en-US" sz="1200" dirty="0"/>
                <a:t>持仓比重</a:t>
              </a:r>
            </a:p>
          </p:txBody>
        </p:sp>
      </p:grpSp>
      <p:sp>
        <p:nvSpPr>
          <p:cNvPr id="7" name="标题 1">
            <a:extLst>
              <a:ext uri="{FF2B5EF4-FFF2-40B4-BE49-F238E27FC236}">
                <a16:creationId xmlns:a16="http://schemas.microsoft.com/office/drawing/2014/main" id="{4858099C-1E23-EED9-FBD5-F204E0A7B1E2}"/>
              </a:ext>
            </a:extLst>
          </p:cNvPr>
          <p:cNvSpPr txBox="1">
            <a:spLocks/>
          </p:cNvSpPr>
          <p:nvPr/>
        </p:nvSpPr>
        <p:spPr>
          <a:xfrm>
            <a:off x="579120" y="55493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 dirty="0">
                <a:ea typeface="楷体" panose="02010609060101010101" pitchFamily="49" charset="-122"/>
              </a:rPr>
              <a:t>一、波动生息</a:t>
            </a:r>
            <a:endParaRPr lang="en-US" altLang="zh-CN" sz="3200" dirty="0">
              <a:ea typeface="楷体" panose="02010609060101010101" pitchFamily="49" charset="-122"/>
            </a:endParaRPr>
          </a:p>
          <a:p>
            <a:endParaRPr lang="en-US" altLang="zh-CN" sz="3200" dirty="0">
              <a:ea typeface="楷体" panose="02010609060101010101" pitchFamily="49" charset="-122"/>
            </a:endParaRPr>
          </a:p>
          <a:p>
            <a:r>
              <a:rPr lang="en-US" altLang="zh-CN" sz="2800" dirty="0">
                <a:ea typeface="楷体" panose="02010609060101010101" pitchFamily="49" charset="-122"/>
              </a:rPr>
              <a:t>-</a:t>
            </a:r>
            <a:r>
              <a:rPr lang="zh-CN" altLang="en-US" sz="2800" dirty="0">
                <a:ea typeface="楷体" panose="02010609060101010101" pitchFamily="49" charset="-122"/>
              </a:rPr>
              <a:t>通过高抛低吸来赚取波动收益</a:t>
            </a:r>
            <a:endParaRPr lang="zh-CN" altLang="en-US" sz="280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4619875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E2F261-D54A-52C9-11BD-75A3490CEC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文本框 23">
            <a:extLst>
              <a:ext uri="{FF2B5EF4-FFF2-40B4-BE49-F238E27FC236}">
                <a16:creationId xmlns:a16="http://schemas.microsoft.com/office/drawing/2014/main" id="{098645EE-A7BB-2FAA-5198-4DDA15750E31}"/>
              </a:ext>
            </a:extLst>
          </p:cNvPr>
          <p:cNvSpPr txBox="1"/>
          <p:nvPr/>
        </p:nvSpPr>
        <p:spPr>
          <a:xfrm>
            <a:off x="743640" y="822831"/>
            <a:ext cx="34676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/>
              <a:t>二、收益风险概述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ADC9137-C6B3-AA39-EAD0-F0BB442410F7}"/>
              </a:ext>
            </a:extLst>
          </p:cNvPr>
          <p:cNvSpPr txBox="1"/>
          <p:nvPr/>
        </p:nvSpPr>
        <p:spPr>
          <a:xfrm>
            <a:off x="1602582" y="1553277"/>
            <a:ext cx="578206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2.1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 简要收益分析：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波动生息为主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285750" indent="-285750">
              <a:buFont typeface="Wingdings" panose="05000000000000000000" pitchFamily="2" charset="2"/>
              <a:buChar char="u"/>
            </a:pP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在建仓和敲出后可以一直滚动续作赚取收益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285750" indent="-285750">
              <a:buFont typeface="Wingdings" panose="05000000000000000000" pitchFamily="2" charset="2"/>
              <a:buChar char="u"/>
            </a:pP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股指期货长期与股指存在贴水，稳定无风险收益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500831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80035" y="812198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情景一</a:t>
            </a:r>
          </a:p>
        </p:txBody>
      </p:sp>
      <p:sp>
        <p:nvSpPr>
          <p:cNvPr id="74" name="椭圆 73"/>
          <p:cNvSpPr/>
          <p:nvPr/>
        </p:nvSpPr>
        <p:spPr>
          <a:xfrm>
            <a:off x="10322400" y="1764047"/>
            <a:ext cx="91440" cy="91440"/>
          </a:xfrm>
          <a:prstGeom prst="ellips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文本框 74"/>
          <p:cNvSpPr txBox="1"/>
          <p:nvPr/>
        </p:nvSpPr>
        <p:spPr>
          <a:xfrm>
            <a:off x="10413840" y="1668616"/>
            <a:ext cx="12618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/>
              <a:t>雪球的敲出观察</a:t>
            </a:r>
          </a:p>
        </p:txBody>
      </p:sp>
      <p:cxnSp>
        <p:nvCxnSpPr>
          <p:cNvPr id="78" name="直接连接符 77"/>
          <p:cNvCxnSpPr/>
          <p:nvPr/>
        </p:nvCxnSpPr>
        <p:spPr>
          <a:xfrm>
            <a:off x="10334406" y="2372032"/>
            <a:ext cx="127792" cy="0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文本框 80"/>
          <p:cNvSpPr txBox="1"/>
          <p:nvPr/>
        </p:nvSpPr>
        <p:spPr>
          <a:xfrm>
            <a:off x="10439621" y="2232216"/>
            <a:ext cx="11079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/>
              <a:t>雪球敲入观察</a:t>
            </a:r>
          </a:p>
        </p:txBody>
      </p:sp>
      <p:sp>
        <p:nvSpPr>
          <p:cNvPr id="90" name="文本框 89"/>
          <p:cNvSpPr txBox="1"/>
          <p:nvPr/>
        </p:nvSpPr>
        <p:spPr>
          <a:xfrm>
            <a:off x="280035" y="4570730"/>
            <a:ext cx="7990840" cy="175895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zh-CN" altLang="en-US" sz="1200" dirty="0"/>
              <a:t>起息后，指数上涨强劲，产品在锁定期满后即敲出，那么：</a:t>
            </a:r>
            <a:endParaRPr lang="en-US" altLang="zh-CN" sz="1200" dirty="0"/>
          </a:p>
          <a:p>
            <a:endParaRPr lang="en-US" altLang="zh-CN" sz="1200" dirty="0"/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200" dirty="0"/>
              <a:t>早利雪球在首年敲出，获得早利票息，收益为  </a:t>
            </a:r>
            <a:r>
              <a:rPr lang="en-US" altLang="zh-CN" sz="1200" dirty="0"/>
              <a:t>37.2%【</a:t>
            </a:r>
            <a:r>
              <a:rPr lang="zh-CN" altLang="en-US" sz="1200" dirty="0"/>
              <a:t>派息率</a:t>
            </a:r>
            <a:r>
              <a:rPr lang="en-US" altLang="zh-CN" sz="1200" dirty="0"/>
              <a:t>】 * 3 / 12【</a:t>
            </a:r>
            <a:r>
              <a:rPr lang="zh-CN" altLang="en-US" sz="1200" dirty="0"/>
              <a:t>存续期限</a:t>
            </a:r>
            <a:r>
              <a:rPr lang="en-US" altLang="zh-CN" sz="1200" dirty="0"/>
              <a:t>】 = </a:t>
            </a:r>
            <a:r>
              <a:rPr lang="en-US" altLang="zh-CN" sz="1200" b="1" dirty="0"/>
              <a:t>9.3%</a:t>
            </a:r>
            <a:r>
              <a:rPr lang="zh-CN" altLang="en-US" sz="1200" dirty="0"/>
              <a:t>；</a:t>
            </a:r>
            <a:endParaRPr lang="en-US" altLang="zh-CN" sz="1200" dirty="0"/>
          </a:p>
          <a:p>
            <a:endParaRPr lang="en-US" altLang="zh-CN" sz="1200" dirty="0"/>
          </a:p>
          <a:p>
            <a:endParaRPr lang="en-US" altLang="zh-CN" sz="1200" dirty="0">
              <a:solidFill>
                <a:srgbClr val="C00000"/>
              </a:solidFill>
            </a:endParaRPr>
          </a:p>
          <a:p>
            <a:endParaRPr lang="en-US" altLang="zh-CN" sz="1200" dirty="0">
              <a:solidFill>
                <a:srgbClr val="C00000"/>
              </a:solidFill>
            </a:endParaRPr>
          </a:p>
          <a:p>
            <a:endParaRPr lang="en-US" altLang="zh-CN" sz="1200" dirty="0">
              <a:solidFill>
                <a:srgbClr val="C00000"/>
              </a:solidFill>
            </a:endParaRPr>
          </a:p>
          <a:p>
            <a:r>
              <a:rPr lang="en-US" altLang="zh-CN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*</a:t>
            </a:r>
            <a:r>
              <a:rPr lang="zh-CN" altLang="en-US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收益测算基于情景分析，预估了销售费管理费，</a:t>
            </a:r>
            <a:r>
              <a:rPr lang="zh-CN" altLang="en-US" sz="9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未计入业绩计提</a:t>
            </a:r>
            <a:r>
              <a:rPr lang="zh-CN" altLang="en-US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以及可能产生的税费的影响，仅作为参考不作为收益承诺。</a:t>
            </a:r>
            <a:endParaRPr lang="en-US" altLang="zh-CN" sz="1200" dirty="0">
              <a:solidFill>
                <a:srgbClr val="C00000"/>
              </a:solidFill>
            </a:endParaRPr>
          </a:p>
        </p:txBody>
      </p: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5D8EAB30-CA8B-DF53-1A4A-E2090BBB2F47}"/>
              </a:ext>
            </a:extLst>
          </p:cNvPr>
          <p:cNvGrpSpPr/>
          <p:nvPr/>
        </p:nvGrpSpPr>
        <p:grpSpPr>
          <a:xfrm>
            <a:off x="786400" y="1264242"/>
            <a:ext cx="9490280" cy="3226777"/>
            <a:chOff x="352708" y="1314450"/>
            <a:chExt cx="9490280" cy="3226777"/>
          </a:xfrm>
        </p:grpSpPr>
        <p:cxnSp>
          <p:nvCxnSpPr>
            <p:cNvPr id="6" name="直接箭头连接符 5"/>
            <p:cNvCxnSpPr/>
            <p:nvPr/>
          </p:nvCxnSpPr>
          <p:spPr>
            <a:xfrm flipV="1">
              <a:off x="366471" y="1358315"/>
              <a:ext cx="6594" cy="302465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/>
            <p:cNvCxnSpPr/>
            <p:nvPr/>
          </p:nvCxnSpPr>
          <p:spPr>
            <a:xfrm>
              <a:off x="9771191" y="1314450"/>
              <a:ext cx="28051" cy="322677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0" name="组合 49">
              <a:extLst>
                <a:ext uri="{FF2B5EF4-FFF2-40B4-BE49-F238E27FC236}">
                  <a16:creationId xmlns:a16="http://schemas.microsoft.com/office/drawing/2014/main" id="{F0B9A910-0A0A-6D8D-C6A8-9A94E658E8F2}"/>
                </a:ext>
              </a:extLst>
            </p:cNvPr>
            <p:cNvGrpSpPr/>
            <p:nvPr/>
          </p:nvGrpSpPr>
          <p:grpSpPr>
            <a:xfrm>
              <a:off x="352708" y="1445546"/>
              <a:ext cx="9490280" cy="2271507"/>
              <a:chOff x="352708" y="1445546"/>
              <a:chExt cx="9490280" cy="2271507"/>
            </a:xfrm>
          </p:grpSpPr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ED44D587-DAAD-0887-F031-0C4B75402153}"/>
                  </a:ext>
                </a:extLst>
              </p:cNvPr>
              <p:cNvSpPr/>
              <p:nvPr/>
            </p:nvSpPr>
            <p:spPr>
              <a:xfrm>
                <a:off x="352708" y="1636550"/>
                <a:ext cx="5550970" cy="2045689"/>
              </a:xfrm>
              <a:prstGeom prst="rect">
                <a:avLst/>
              </a:prstGeom>
              <a:solidFill>
                <a:srgbClr val="0F9ED5">
                  <a:alpha val="20000"/>
                </a:srgb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7" name="直接连接符 16"/>
              <p:cNvCxnSpPr/>
              <p:nvPr/>
            </p:nvCxnSpPr>
            <p:spPr>
              <a:xfrm>
                <a:off x="373066" y="3697166"/>
                <a:ext cx="9420099" cy="0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接连接符 17"/>
              <p:cNvCxnSpPr/>
              <p:nvPr/>
            </p:nvCxnSpPr>
            <p:spPr>
              <a:xfrm flipV="1">
                <a:off x="373066" y="1976805"/>
                <a:ext cx="9469922" cy="0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直接连接符 18"/>
              <p:cNvCxnSpPr/>
              <p:nvPr/>
            </p:nvCxnSpPr>
            <p:spPr>
              <a:xfrm>
                <a:off x="1639158" y="1976805"/>
                <a:ext cx="8142284" cy="729026"/>
              </a:xfrm>
              <a:prstGeom prst="line">
                <a:avLst/>
              </a:prstGeom>
              <a:ln>
                <a:solidFill>
                  <a:schemeClr val="accent2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直接连接符 25"/>
              <p:cNvCxnSpPr>
                <a:cxnSpLocks/>
              </p:cNvCxnSpPr>
              <p:nvPr/>
            </p:nvCxnSpPr>
            <p:spPr>
              <a:xfrm>
                <a:off x="1651133" y="1966363"/>
                <a:ext cx="22859" cy="1715876"/>
              </a:xfrm>
              <a:prstGeom prst="line">
                <a:avLst/>
              </a:prstGeom>
              <a:ln>
                <a:solidFill>
                  <a:schemeClr val="bg2">
                    <a:lumMod val="90000"/>
                  </a:schemeClr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直接连接符 27"/>
              <p:cNvCxnSpPr>
                <a:cxnSpLocks/>
              </p:cNvCxnSpPr>
              <p:nvPr/>
            </p:nvCxnSpPr>
            <p:spPr>
              <a:xfrm>
                <a:off x="742646" y="1976805"/>
                <a:ext cx="0" cy="1694529"/>
              </a:xfrm>
              <a:prstGeom prst="line">
                <a:avLst/>
              </a:prstGeom>
              <a:ln>
                <a:solidFill>
                  <a:schemeClr val="bg2">
                    <a:lumMod val="90000"/>
                  </a:schemeClr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接连接符 28"/>
              <p:cNvCxnSpPr>
                <a:cxnSpLocks/>
              </p:cNvCxnSpPr>
              <p:nvPr/>
            </p:nvCxnSpPr>
            <p:spPr>
              <a:xfrm>
                <a:off x="1198381" y="1976805"/>
                <a:ext cx="0" cy="1720361"/>
              </a:xfrm>
              <a:prstGeom prst="line">
                <a:avLst/>
              </a:prstGeom>
              <a:ln>
                <a:solidFill>
                  <a:schemeClr val="bg2">
                    <a:lumMod val="90000"/>
                  </a:schemeClr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接连接符 29"/>
              <p:cNvCxnSpPr>
                <a:cxnSpLocks/>
              </p:cNvCxnSpPr>
              <p:nvPr/>
            </p:nvCxnSpPr>
            <p:spPr>
              <a:xfrm>
                <a:off x="2120107" y="2035419"/>
                <a:ext cx="0" cy="1681634"/>
              </a:xfrm>
              <a:prstGeom prst="line">
                <a:avLst/>
              </a:prstGeom>
              <a:ln>
                <a:solidFill>
                  <a:schemeClr val="bg2">
                    <a:lumMod val="90000"/>
                  </a:schemeClr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接连接符 31"/>
              <p:cNvCxnSpPr>
                <a:cxnSpLocks/>
              </p:cNvCxnSpPr>
              <p:nvPr/>
            </p:nvCxnSpPr>
            <p:spPr>
              <a:xfrm>
                <a:off x="2580240" y="2094035"/>
                <a:ext cx="0" cy="1603131"/>
              </a:xfrm>
              <a:prstGeom prst="line">
                <a:avLst/>
              </a:prstGeom>
              <a:ln>
                <a:solidFill>
                  <a:schemeClr val="bg2">
                    <a:lumMod val="90000"/>
                  </a:schemeClr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接连接符 32"/>
              <p:cNvCxnSpPr>
                <a:cxnSpLocks/>
              </p:cNvCxnSpPr>
              <p:nvPr/>
            </p:nvCxnSpPr>
            <p:spPr>
              <a:xfrm>
                <a:off x="3000804" y="2104293"/>
                <a:ext cx="0" cy="1592873"/>
              </a:xfrm>
              <a:prstGeom prst="line">
                <a:avLst/>
              </a:prstGeom>
              <a:ln>
                <a:solidFill>
                  <a:schemeClr val="bg2">
                    <a:lumMod val="90000"/>
                  </a:schemeClr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接连接符 38"/>
              <p:cNvCxnSpPr/>
              <p:nvPr/>
            </p:nvCxnSpPr>
            <p:spPr>
              <a:xfrm>
                <a:off x="9781442" y="2705831"/>
                <a:ext cx="0" cy="483210"/>
              </a:xfrm>
              <a:prstGeom prst="line">
                <a:avLst/>
              </a:prstGeom>
              <a:ln>
                <a:solidFill>
                  <a:schemeClr val="bg2">
                    <a:lumMod val="90000"/>
                  </a:schemeClr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9" name="椭圆 58"/>
              <p:cNvSpPr/>
              <p:nvPr/>
            </p:nvSpPr>
            <p:spPr>
              <a:xfrm>
                <a:off x="1628273" y="1941359"/>
                <a:ext cx="45719" cy="45719"/>
              </a:xfrm>
              <a:prstGeom prst="ellipse">
                <a:avLst/>
              </a:prstGeom>
              <a:ln>
                <a:solidFill>
                  <a:schemeClr val="accent2"/>
                </a:solidFill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" name="椭圆 59"/>
              <p:cNvSpPr/>
              <p:nvPr/>
            </p:nvSpPr>
            <p:spPr>
              <a:xfrm>
                <a:off x="2103885" y="2027230"/>
                <a:ext cx="45719" cy="45719"/>
              </a:xfrm>
              <a:prstGeom prst="ellipse">
                <a:avLst/>
              </a:prstGeom>
              <a:ln>
                <a:solidFill>
                  <a:schemeClr val="accent2"/>
                </a:solidFill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" name="椭圆 60"/>
              <p:cNvSpPr/>
              <p:nvPr/>
            </p:nvSpPr>
            <p:spPr>
              <a:xfrm>
                <a:off x="2572859" y="2050089"/>
                <a:ext cx="45719" cy="45719"/>
              </a:xfrm>
              <a:prstGeom prst="ellipse">
                <a:avLst/>
              </a:prstGeom>
              <a:ln>
                <a:solidFill>
                  <a:schemeClr val="accent2"/>
                </a:solidFill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2" name="椭圆 61"/>
              <p:cNvSpPr/>
              <p:nvPr/>
            </p:nvSpPr>
            <p:spPr>
              <a:xfrm>
                <a:off x="3003496" y="2094035"/>
                <a:ext cx="45719" cy="45719"/>
              </a:xfrm>
              <a:prstGeom prst="ellipse">
                <a:avLst/>
              </a:prstGeom>
              <a:ln>
                <a:solidFill>
                  <a:schemeClr val="accent2"/>
                </a:solidFill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3" name="椭圆 62"/>
              <p:cNvSpPr/>
              <p:nvPr/>
            </p:nvSpPr>
            <p:spPr>
              <a:xfrm>
                <a:off x="9302217" y="2645729"/>
                <a:ext cx="45719" cy="45719"/>
              </a:xfrm>
              <a:prstGeom prst="ellipse">
                <a:avLst/>
              </a:prstGeom>
              <a:ln>
                <a:solidFill>
                  <a:schemeClr val="accent2"/>
                </a:solidFill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4" name="椭圆 63"/>
              <p:cNvSpPr/>
              <p:nvPr/>
            </p:nvSpPr>
            <p:spPr>
              <a:xfrm>
                <a:off x="9764206" y="2693413"/>
                <a:ext cx="45719" cy="45719"/>
              </a:xfrm>
              <a:prstGeom prst="ellipse">
                <a:avLst/>
              </a:prstGeom>
              <a:ln>
                <a:solidFill>
                  <a:schemeClr val="accent2"/>
                </a:solidFill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8" name="椭圆 87"/>
              <p:cNvSpPr/>
              <p:nvPr/>
            </p:nvSpPr>
            <p:spPr>
              <a:xfrm>
                <a:off x="352708" y="1953945"/>
                <a:ext cx="45719" cy="45719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" name="椭圆 2"/>
              <p:cNvSpPr/>
              <p:nvPr/>
            </p:nvSpPr>
            <p:spPr>
              <a:xfrm>
                <a:off x="9771801" y="3671334"/>
                <a:ext cx="45719" cy="45719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" name="任意多边形: 形状 6">
                <a:extLst>
                  <a:ext uri="{FF2B5EF4-FFF2-40B4-BE49-F238E27FC236}">
                    <a16:creationId xmlns:a16="http://schemas.microsoft.com/office/drawing/2014/main" id="{9672127A-3BCD-44DD-2FB8-4FE374933DCD}"/>
                  </a:ext>
                </a:extLst>
              </p:cNvPr>
              <p:cNvSpPr/>
              <p:nvPr/>
            </p:nvSpPr>
            <p:spPr>
              <a:xfrm>
                <a:off x="364921" y="1489046"/>
                <a:ext cx="1266738" cy="673084"/>
              </a:xfrm>
              <a:custGeom>
                <a:avLst/>
                <a:gdLst>
                  <a:gd name="csX0" fmla="*/ 0 w 1266738"/>
                  <a:gd name="csY0" fmla="*/ 494950 h 673084"/>
                  <a:gd name="csX1" fmla="*/ 440422 w 1266738"/>
                  <a:gd name="csY1" fmla="*/ 637563 h 673084"/>
                  <a:gd name="csX2" fmla="*/ 901817 w 1266738"/>
                  <a:gd name="csY2" fmla="*/ 612396 h 673084"/>
                  <a:gd name="csX3" fmla="*/ 1266738 w 1266738"/>
                  <a:gd name="csY3" fmla="*/ 0 h 67308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266738" h="673084">
                    <a:moveTo>
                      <a:pt x="0" y="494950"/>
                    </a:moveTo>
                    <a:cubicBezTo>
                      <a:pt x="145059" y="556469"/>
                      <a:pt x="290119" y="617989"/>
                      <a:pt x="440422" y="637563"/>
                    </a:cubicBezTo>
                    <a:cubicBezTo>
                      <a:pt x="590725" y="657137"/>
                      <a:pt x="764098" y="718656"/>
                      <a:pt x="901817" y="612396"/>
                    </a:cubicBezTo>
                    <a:cubicBezTo>
                      <a:pt x="1039536" y="506136"/>
                      <a:pt x="1153137" y="253068"/>
                      <a:pt x="1266738" y="0"/>
                    </a:cubicBezTo>
                  </a:path>
                </a:pathLst>
              </a:cu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" name="椭圆 7">
                <a:extLst>
                  <a:ext uri="{FF2B5EF4-FFF2-40B4-BE49-F238E27FC236}">
                    <a16:creationId xmlns:a16="http://schemas.microsoft.com/office/drawing/2014/main" id="{6F2109E4-7BB1-8F9D-0184-7DDA6C78B6FD}"/>
                  </a:ext>
                </a:extLst>
              </p:cNvPr>
              <p:cNvSpPr/>
              <p:nvPr/>
            </p:nvSpPr>
            <p:spPr>
              <a:xfrm>
                <a:off x="1620862" y="1445546"/>
                <a:ext cx="45719" cy="45719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13" name="矩形 12">
            <a:extLst>
              <a:ext uri="{FF2B5EF4-FFF2-40B4-BE49-F238E27FC236}">
                <a16:creationId xmlns:a16="http://schemas.microsoft.com/office/drawing/2014/main" id="{EB981162-1712-5772-F01D-4E39DE06BA9A}"/>
              </a:ext>
            </a:extLst>
          </p:cNvPr>
          <p:cNvSpPr/>
          <p:nvPr/>
        </p:nvSpPr>
        <p:spPr>
          <a:xfrm>
            <a:off x="10334352" y="2795817"/>
            <a:ext cx="159654" cy="164592"/>
          </a:xfrm>
          <a:prstGeom prst="rect">
            <a:avLst/>
          </a:prstGeom>
          <a:solidFill>
            <a:srgbClr val="0F9ED5">
              <a:alpha val="2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8FEF02F-B281-38CE-5A3B-E81D2073E077}"/>
              </a:ext>
            </a:extLst>
          </p:cNvPr>
          <p:cNvSpPr txBox="1"/>
          <p:nvPr/>
        </p:nvSpPr>
        <p:spPr>
          <a:xfrm>
            <a:off x="10494006" y="2739132"/>
            <a:ext cx="6463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/>
              <a:t>早利期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47F726D-B699-06B0-8005-92C5E59DD670}"/>
              </a:ext>
            </a:extLst>
          </p:cNvPr>
          <p:cNvSpPr txBox="1"/>
          <p:nvPr/>
        </p:nvSpPr>
        <p:spPr>
          <a:xfrm>
            <a:off x="280034" y="300797"/>
            <a:ext cx="23759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/>
              <a:t>2.2 </a:t>
            </a:r>
            <a:r>
              <a:rPr lang="zh-CN" altLang="en-US" sz="2000" dirty="0"/>
              <a:t>详细情景分析：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9D97B3-57A7-DCEF-4939-B6D9817924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2E0B2C76-EC7E-0911-1A7C-7F05BDEB926F}"/>
              </a:ext>
            </a:extLst>
          </p:cNvPr>
          <p:cNvSpPr txBox="1"/>
          <p:nvPr/>
        </p:nvSpPr>
        <p:spPr>
          <a:xfrm>
            <a:off x="267779" y="524251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情景二</a:t>
            </a:r>
          </a:p>
        </p:txBody>
      </p:sp>
      <p:sp>
        <p:nvSpPr>
          <p:cNvPr id="74" name="椭圆 73">
            <a:extLst>
              <a:ext uri="{FF2B5EF4-FFF2-40B4-BE49-F238E27FC236}">
                <a16:creationId xmlns:a16="http://schemas.microsoft.com/office/drawing/2014/main" id="{B3AF06F8-0F44-DC2B-AAC5-30EB74187972}"/>
              </a:ext>
            </a:extLst>
          </p:cNvPr>
          <p:cNvSpPr/>
          <p:nvPr/>
        </p:nvSpPr>
        <p:spPr>
          <a:xfrm>
            <a:off x="10322400" y="1764047"/>
            <a:ext cx="91440" cy="91440"/>
          </a:xfrm>
          <a:prstGeom prst="ellips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ADA07604-6F94-E441-7B3C-6D430A860E5C}"/>
              </a:ext>
            </a:extLst>
          </p:cNvPr>
          <p:cNvSpPr txBox="1"/>
          <p:nvPr/>
        </p:nvSpPr>
        <p:spPr>
          <a:xfrm>
            <a:off x="10413840" y="1668616"/>
            <a:ext cx="12618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/>
              <a:t>雪球的敲出观察</a:t>
            </a:r>
          </a:p>
        </p:txBody>
      </p:sp>
      <p:cxnSp>
        <p:nvCxnSpPr>
          <p:cNvPr id="78" name="直接连接符 77">
            <a:extLst>
              <a:ext uri="{FF2B5EF4-FFF2-40B4-BE49-F238E27FC236}">
                <a16:creationId xmlns:a16="http://schemas.microsoft.com/office/drawing/2014/main" id="{C8862D74-A728-DDCD-ED73-A87CF8662FE7}"/>
              </a:ext>
            </a:extLst>
          </p:cNvPr>
          <p:cNvCxnSpPr/>
          <p:nvPr/>
        </p:nvCxnSpPr>
        <p:spPr>
          <a:xfrm>
            <a:off x="10334406" y="2372032"/>
            <a:ext cx="127792" cy="0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文本框 80">
            <a:extLst>
              <a:ext uri="{FF2B5EF4-FFF2-40B4-BE49-F238E27FC236}">
                <a16:creationId xmlns:a16="http://schemas.microsoft.com/office/drawing/2014/main" id="{463A0D71-8B78-5609-CD67-6D0FE1B822CE}"/>
              </a:ext>
            </a:extLst>
          </p:cNvPr>
          <p:cNvSpPr txBox="1"/>
          <p:nvPr/>
        </p:nvSpPr>
        <p:spPr>
          <a:xfrm>
            <a:off x="10439621" y="2232216"/>
            <a:ext cx="11079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/>
              <a:t>雪球敲入观察</a:t>
            </a:r>
          </a:p>
        </p:txBody>
      </p:sp>
      <p:sp>
        <p:nvSpPr>
          <p:cNvPr id="90" name="文本框 89">
            <a:extLst>
              <a:ext uri="{FF2B5EF4-FFF2-40B4-BE49-F238E27FC236}">
                <a16:creationId xmlns:a16="http://schemas.microsoft.com/office/drawing/2014/main" id="{15C153D1-E761-0C84-2216-0DAD70D9C7F4}"/>
              </a:ext>
            </a:extLst>
          </p:cNvPr>
          <p:cNvSpPr txBox="1"/>
          <p:nvPr/>
        </p:nvSpPr>
        <p:spPr>
          <a:xfrm>
            <a:off x="280035" y="4570730"/>
            <a:ext cx="7990840" cy="175895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zh-CN" altLang="en-US" sz="1200" dirty="0"/>
              <a:t>起息后，指数下挫并发生敲入，数月后又发弹，在降敲后敲出，那么：</a:t>
            </a:r>
            <a:endParaRPr lang="en-US" altLang="zh-CN" sz="1200" dirty="0"/>
          </a:p>
          <a:p>
            <a:endParaRPr lang="en-US" altLang="zh-CN" sz="1200" dirty="0"/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200" dirty="0"/>
              <a:t>早利雪球在首年敲出，获得早利票息，收益为  </a:t>
            </a:r>
            <a:r>
              <a:rPr lang="en-US" altLang="zh-CN" sz="1200" dirty="0"/>
              <a:t>37.2.%【</a:t>
            </a:r>
            <a:r>
              <a:rPr lang="zh-CN" altLang="en-US" sz="1200" dirty="0"/>
              <a:t>早利票息</a:t>
            </a:r>
            <a:r>
              <a:rPr lang="en-US" altLang="zh-CN" sz="1200" dirty="0"/>
              <a:t>】 * 6 / 12【</a:t>
            </a:r>
            <a:r>
              <a:rPr lang="zh-CN" altLang="en-US" sz="1200" dirty="0"/>
              <a:t>存续期限</a:t>
            </a:r>
            <a:r>
              <a:rPr lang="en-US" altLang="zh-CN" sz="1200" dirty="0"/>
              <a:t>】 = </a:t>
            </a:r>
            <a:r>
              <a:rPr lang="en-US" altLang="zh-CN" sz="1200" b="1" dirty="0"/>
              <a:t>18.6%</a:t>
            </a:r>
            <a:r>
              <a:rPr lang="zh-CN" altLang="en-US" sz="1200" dirty="0"/>
              <a:t>；</a:t>
            </a:r>
            <a:endParaRPr lang="en-US" altLang="zh-CN" sz="1200" dirty="0"/>
          </a:p>
          <a:p>
            <a:endParaRPr lang="en-US" altLang="zh-CN" sz="1200" dirty="0"/>
          </a:p>
          <a:p>
            <a:endParaRPr lang="en-US" altLang="zh-CN" sz="1200" dirty="0"/>
          </a:p>
          <a:p>
            <a:endParaRPr lang="en-US" altLang="zh-CN" sz="1200" dirty="0"/>
          </a:p>
          <a:p>
            <a:endParaRPr lang="en-US" altLang="zh-CN" sz="1200" dirty="0">
              <a:solidFill>
                <a:srgbClr val="C00000"/>
              </a:solidFill>
            </a:endParaRPr>
          </a:p>
          <a:p>
            <a:r>
              <a:rPr lang="en-US" altLang="zh-CN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*</a:t>
            </a:r>
            <a:r>
              <a:rPr lang="zh-CN" altLang="en-US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收益测算基于情景分析，预估了销售费管理费，</a:t>
            </a:r>
            <a:r>
              <a:rPr lang="zh-CN" altLang="en-US" sz="9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未计入业绩计提</a:t>
            </a:r>
            <a:r>
              <a:rPr lang="zh-CN" altLang="en-US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以及可能产生的税费的影响，仅作为参考不作为收益承诺。</a:t>
            </a:r>
            <a:endParaRPr lang="en-US" altLang="zh-CN" sz="1200" dirty="0">
              <a:solidFill>
                <a:srgbClr val="C00000"/>
              </a:solidFill>
            </a:endParaRPr>
          </a:p>
        </p:txBody>
      </p: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1B041135-CE51-6F04-8EF7-9D986C4FD250}"/>
              </a:ext>
            </a:extLst>
          </p:cNvPr>
          <p:cNvGrpSpPr/>
          <p:nvPr/>
        </p:nvGrpSpPr>
        <p:grpSpPr>
          <a:xfrm>
            <a:off x="764245" y="1264242"/>
            <a:ext cx="9490280" cy="3226777"/>
            <a:chOff x="352708" y="1314450"/>
            <a:chExt cx="9490280" cy="3226777"/>
          </a:xfrm>
        </p:grpSpPr>
        <p:cxnSp>
          <p:nvCxnSpPr>
            <p:cNvPr id="6" name="直接箭头连接符 5">
              <a:extLst>
                <a:ext uri="{FF2B5EF4-FFF2-40B4-BE49-F238E27FC236}">
                  <a16:creationId xmlns:a16="http://schemas.microsoft.com/office/drawing/2014/main" id="{2E32EC6C-9515-A95A-C318-A285E25DAE74}"/>
                </a:ext>
              </a:extLst>
            </p:cNvPr>
            <p:cNvCxnSpPr/>
            <p:nvPr/>
          </p:nvCxnSpPr>
          <p:spPr>
            <a:xfrm flipV="1">
              <a:off x="366471" y="1358315"/>
              <a:ext cx="6594" cy="302465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FFD2C377-4B11-A382-3735-6A0668856664}"/>
                </a:ext>
              </a:extLst>
            </p:cNvPr>
            <p:cNvCxnSpPr/>
            <p:nvPr/>
          </p:nvCxnSpPr>
          <p:spPr>
            <a:xfrm>
              <a:off x="9771191" y="1314450"/>
              <a:ext cx="28051" cy="322677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0" name="组合 49">
              <a:extLst>
                <a:ext uri="{FF2B5EF4-FFF2-40B4-BE49-F238E27FC236}">
                  <a16:creationId xmlns:a16="http://schemas.microsoft.com/office/drawing/2014/main" id="{F522AA03-5BA3-E2F1-FEEF-39FB5F3697D7}"/>
                </a:ext>
              </a:extLst>
            </p:cNvPr>
            <p:cNvGrpSpPr/>
            <p:nvPr/>
          </p:nvGrpSpPr>
          <p:grpSpPr>
            <a:xfrm>
              <a:off x="352708" y="1636550"/>
              <a:ext cx="9490280" cy="2080503"/>
              <a:chOff x="352708" y="1636550"/>
              <a:chExt cx="9490280" cy="2080503"/>
            </a:xfrm>
          </p:grpSpPr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7C0A3CF5-9EB1-496C-E045-426F737965C2}"/>
                  </a:ext>
                </a:extLst>
              </p:cNvPr>
              <p:cNvSpPr/>
              <p:nvPr/>
            </p:nvSpPr>
            <p:spPr>
              <a:xfrm>
                <a:off x="352708" y="1636550"/>
                <a:ext cx="5550970" cy="2045689"/>
              </a:xfrm>
              <a:prstGeom prst="rect">
                <a:avLst/>
              </a:prstGeom>
              <a:solidFill>
                <a:srgbClr val="0F9ED5">
                  <a:alpha val="20000"/>
                </a:srgb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cxnSp>
            <p:nvCxnSpPr>
              <p:cNvPr id="17" name="直接连接符 16">
                <a:extLst>
                  <a:ext uri="{FF2B5EF4-FFF2-40B4-BE49-F238E27FC236}">
                    <a16:creationId xmlns:a16="http://schemas.microsoft.com/office/drawing/2014/main" id="{AD116B8D-2D67-1717-8F42-852EA9BDBD3A}"/>
                  </a:ext>
                </a:extLst>
              </p:cNvPr>
              <p:cNvCxnSpPr/>
              <p:nvPr/>
            </p:nvCxnSpPr>
            <p:spPr>
              <a:xfrm>
                <a:off x="373066" y="3697166"/>
                <a:ext cx="9420099" cy="0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接连接符 17">
                <a:extLst>
                  <a:ext uri="{FF2B5EF4-FFF2-40B4-BE49-F238E27FC236}">
                    <a16:creationId xmlns:a16="http://schemas.microsoft.com/office/drawing/2014/main" id="{A6A93BA5-BE00-FB4F-0761-71C5FE0EB2D1}"/>
                  </a:ext>
                </a:extLst>
              </p:cNvPr>
              <p:cNvCxnSpPr/>
              <p:nvPr/>
            </p:nvCxnSpPr>
            <p:spPr>
              <a:xfrm flipV="1">
                <a:off x="373066" y="1976805"/>
                <a:ext cx="9469922" cy="0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直接连接符 18">
                <a:extLst>
                  <a:ext uri="{FF2B5EF4-FFF2-40B4-BE49-F238E27FC236}">
                    <a16:creationId xmlns:a16="http://schemas.microsoft.com/office/drawing/2014/main" id="{4A06BE8A-3277-C84F-77C8-C8B2DBB4282A}"/>
                  </a:ext>
                </a:extLst>
              </p:cNvPr>
              <p:cNvCxnSpPr/>
              <p:nvPr/>
            </p:nvCxnSpPr>
            <p:spPr>
              <a:xfrm>
                <a:off x="1639158" y="1976805"/>
                <a:ext cx="8142284" cy="729026"/>
              </a:xfrm>
              <a:prstGeom prst="line">
                <a:avLst/>
              </a:prstGeom>
              <a:ln>
                <a:solidFill>
                  <a:schemeClr val="accent2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直接连接符 25">
                <a:extLst>
                  <a:ext uri="{FF2B5EF4-FFF2-40B4-BE49-F238E27FC236}">
                    <a16:creationId xmlns:a16="http://schemas.microsoft.com/office/drawing/2014/main" id="{E357ECD2-2C81-9407-DD30-1B6790A4726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51133" y="1966363"/>
                <a:ext cx="22859" cy="1715876"/>
              </a:xfrm>
              <a:prstGeom prst="line">
                <a:avLst/>
              </a:prstGeom>
              <a:ln>
                <a:solidFill>
                  <a:schemeClr val="bg2">
                    <a:lumMod val="90000"/>
                  </a:schemeClr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直接连接符 27">
                <a:extLst>
                  <a:ext uri="{FF2B5EF4-FFF2-40B4-BE49-F238E27FC236}">
                    <a16:creationId xmlns:a16="http://schemas.microsoft.com/office/drawing/2014/main" id="{5E9B66A6-C03D-49C6-DE8B-E488F40FE6A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42646" y="1976805"/>
                <a:ext cx="0" cy="1694529"/>
              </a:xfrm>
              <a:prstGeom prst="line">
                <a:avLst/>
              </a:prstGeom>
              <a:ln>
                <a:solidFill>
                  <a:schemeClr val="bg2">
                    <a:lumMod val="90000"/>
                  </a:schemeClr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接连接符 28">
                <a:extLst>
                  <a:ext uri="{FF2B5EF4-FFF2-40B4-BE49-F238E27FC236}">
                    <a16:creationId xmlns:a16="http://schemas.microsoft.com/office/drawing/2014/main" id="{E073649A-E63A-F572-4E0A-EA0229D2526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98381" y="1976805"/>
                <a:ext cx="0" cy="1720361"/>
              </a:xfrm>
              <a:prstGeom prst="line">
                <a:avLst/>
              </a:prstGeom>
              <a:ln>
                <a:solidFill>
                  <a:schemeClr val="bg2">
                    <a:lumMod val="90000"/>
                  </a:schemeClr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接连接符 29">
                <a:extLst>
                  <a:ext uri="{FF2B5EF4-FFF2-40B4-BE49-F238E27FC236}">
                    <a16:creationId xmlns:a16="http://schemas.microsoft.com/office/drawing/2014/main" id="{A9DA98C9-07BD-BC52-5F4C-AD31206A1F2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20107" y="2035419"/>
                <a:ext cx="0" cy="1681634"/>
              </a:xfrm>
              <a:prstGeom prst="line">
                <a:avLst/>
              </a:prstGeom>
              <a:ln>
                <a:solidFill>
                  <a:schemeClr val="bg2">
                    <a:lumMod val="90000"/>
                  </a:schemeClr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接连接符 31">
                <a:extLst>
                  <a:ext uri="{FF2B5EF4-FFF2-40B4-BE49-F238E27FC236}">
                    <a16:creationId xmlns:a16="http://schemas.microsoft.com/office/drawing/2014/main" id="{D8BDDB48-3BE9-0408-9200-E7EAF2CA4E4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80240" y="2094035"/>
                <a:ext cx="0" cy="1603131"/>
              </a:xfrm>
              <a:prstGeom prst="line">
                <a:avLst/>
              </a:prstGeom>
              <a:ln>
                <a:solidFill>
                  <a:schemeClr val="bg2">
                    <a:lumMod val="90000"/>
                  </a:schemeClr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接连接符 32">
                <a:extLst>
                  <a:ext uri="{FF2B5EF4-FFF2-40B4-BE49-F238E27FC236}">
                    <a16:creationId xmlns:a16="http://schemas.microsoft.com/office/drawing/2014/main" id="{36176F89-C9D9-F902-2E1C-1BF2789EA40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49215" y="2104293"/>
                <a:ext cx="0" cy="1592873"/>
              </a:xfrm>
              <a:prstGeom prst="line">
                <a:avLst/>
              </a:prstGeom>
              <a:ln>
                <a:solidFill>
                  <a:schemeClr val="bg2">
                    <a:lumMod val="90000"/>
                  </a:schemeClr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接连接符 38">
                <a:extLst>
                  <a:ext uri="{FF2B5EF4-FFF2-40B4-BE49-F238E27FC236}">
                    <a16:creationId xmlns:a16="http://schemas.microsoft.com/office/drawing/2014/main" id="{F3645D6E-F602-9416-1EA8-74ECADDCAADA}"/>
                  </a:ext>
                </a:extLst>
              </p:cNvPr>
              <p:cNvCxnSpPr/>
              <p:nvPr/>
            </p:nvCxnSpPr>
            <p:spPr>
              <a:xfrm>
                <a:off x="9781442" y="2705831"/>
                <a:ext cx="0" cy="483210"/>
              </a:xfrm>
              <a:prstGeom prst="line">
                <a:avLst/>
              </a:prstGeom>
              <a:ln>
                <a:solidFill>
                  <a:schemeClr val="bg2">
                    <a:lumMod val="90000"/>
                  </a:schemeClr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9" name="椭圆 58">
                <a:extLst>
                  <a:ext uri="{FF2B5EF4-FFF2-40B4-BE49-F238E27FC236}">
                    <a16:creationId xmlns:a16="http://schemas.microsoft.com/office/drawing/2014/main" id="{C9D6F28F-F7F8-8434-CB54-DF48E15297B5}"/>
                  </a:ext>
                </a:extLst>
              </p:cNvPr>
              <p:cNvSpPr/>
              <p:nvPr/>
            </p:nvSpPr>
            <p:spPr>
              <a:xfrm>
                <a:off x="1628273" y="1941359"/>
                <a:ext cx="45719" cy="45719"/>
              </a:xfrm>
              <a:prstGeom prst="ellipse">
                <a:avLst/>
              </a:prstGeom>
              <a:ln>
                <a:solidFill>
                  <a:schemeClr val="accent2"/>
                </a:solidFill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" name="椭圆 59">
                <a:extLst>
                  <a:ext uri="{FF2B5EF4-FFF2-40B4-BE49-F238E27FC236}">
                    <a16:creationId xmlns:a16="http://schemas.microsoft.com/office/drawing/2014/main" id="{D3B7377C-31E8-AED6-3279-B1817D0B65DB}"/>
                  </a:ext>
                </a:extLst>
              </p:cNvPr>
              <p:cNvSpPr/>
              <p:nvPr/>
            </p:nvSpPr>
            <p:spPr>
              <a:xfrm>
                <a:off x="2103885" y="2027230"/>
                <a:ext cx="45719" cy="45719"/>
              </a:xfrm>
              <a:prstGeom prst="ellipse">
                <a:avLst/>
              </a:prstGeom>
              <a:ln>
                <a:solidFill>
                  <a:schemeClr val="accent2"/>
                </a:solidFill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" name="椭圆 60">
                <a:extLst>
                  <a:ext uri="{FF2B5EF4-FFF2-40B4-BE49-F238E27FC236}">
                    <a16:creationId xmlns:a16="http://schemas.microsoft.com/office/drawing/2014/main" id="{CD19E47C-8A36-9C0C-B602-7C0D735C9260}"/>
                  </a:ext>
                </a:extLst>
              </p:cNvPr>
              <p:cNvSpPr/>
              <p:nvPr/>
            </p:nvSpPr>
            <p:spPr>
              <a:xfrm>
                <a:off x="2572859" y="2050089"/>
                <a:ext cx="45719" cy="45719"/>
              </a:xfrm>
              <a:prstGeom prst="ellipse">
                <a:avLst/>
              </a:prstGeom>
              <a:ln>
                <a:solidFill>
                  <a:schemeClr val="accent2"/>
                </a:solidFill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2" name="椭圆 61">
                <a:extLst>
                  <a:ext uri="{FF2B5EF4-FFF2-40B4-BE49-F238E27FC236}">
                    <a16:creationId xmlns:a16="http://schemas.microsoft.com/office/drawing/2014/main" id="{30FA9A1A-9CF0-E103-940C-D5B7E5F026AA}"/>
                  </a:ext>
                </a:extLst>
              </p:cNvPr>
              <p:cNvSpPr/>
              <p:nvPr/>
            </p:nvSpPr>
            <p:spPr>
              <a:xfrm>
                <a:off x="3003496" y="2094035"/>
                <a:ext cx="45719" cy="45719"/>
              </a:xfrm>
              <a:prstGeom prst="ellipse">
                <a:avLst/>
              </a:prstGeom>
              <a:ln>
                <a:solidFill>
                  <a:schemeClr val="accent2"/>
                </a:solidFill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3" name="椭圆 62">
                <a:extLst>
                  <a:ext uri="{FF2B5EF4-FFF2-40B4-BE49-F238E27FC236}">
                    <a16:creationId xmlns:a16="http://schemas.microsoft.com/office/drawing/2014/main" id="{6ABA5575-F180-DAD5-7160-989F3002BE03}"/>
                  </a:ext>
                </a:extLst>
              </p:cNvPr>
              <p:cNvSpPr/>
              <p:nvPr/>
            </p:nvSpPr>
            <p:spPr>
              <a:xfrm>
                <a:off x="9302217" y="2645729"/>
                <a:ext cx="45719" cy="45719"/>
              </a:xfrm>
              <a:prstGeom prst="ellipse">
                <a:avLst/>
              </a:prstGeom>
              <a:ln>
                <a:solidFill>
                  <a:schemeClr val="accent2"/>
                </a:solidFill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4" name="椭圆 63">
                <a:extLst>
                  <a:ext uri="{FF2B5EF4-FFF2-40B4-BE49-F238E27FC236}">
                    <a16:creationId xmlns:a16="http://schemas.microsoft.com/office/drawing/2014/main" id="{7A1FC38F-8329-EF92-F291-ACDAF1C30415}"/>
                  </a:ext>
                </a:extLst>
              </p:cNvPr>
              <p:cNvSpPr/>
              <p:nvPr/>
            </p:nvSpPr>
            <p:spPr>
              <a:xfrm>
                <a:off x="9764206" y="2693413"/>
                <a:ext cx="45719" cy="45719"/>
              </a:xfrm>
              <a:prstGeom prst="ellipse">
                <a:avLst/>
              </a:prstGeom>
              <a:ln>
                <a:solidFill>
                  <a:schemeClr val="accent2"/>
                </a:solidFill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8" name="椭圆 87">
                <a:extLst>
                  <a:ext uri="{FF2B5EF4-FFF2-40B4-BE49-F238E27FC236}">
                    <a16:creationId xmlns:a16="http://schemas.microsoft.com/office/drawing/2014/main" id="{EB589547-0514-45F3-8FD6-36D406EC091B}"/>
                  </a:ext>
                </a:extLst>
              </p:cNvPr>
              <p:cNvSpPr/>
              <p:nvPr/>
            </p:nvSpPr>
            <p:spPr>
              <a:xfrm>
                <a:off x="352708" y="1953945"/>
                <a:ext cx="45719" cy="45719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" name="椭圆 2">
                <a:extLst>
                  <a:ext uri="{FF2B5EF4-FFF2-40B4-BE49-F238E27FC236}">
                    <a16:creationId xmlns:a16="http://schemas.microsoft.com/office/drawing/2014/main" id="{B821EF8A-E4B3-29FF-12EE-56B7FC22E49D}"/>
                  </a:ext>
                </a:extLst>
              </p:cNvPr>
              <p:cNvSpPr/>
              <p:nvPr/>
            </p:nvSpPr>
            <p:spPr>
              <a:xfrm>
                <a:off x="9771801" y="3671334"/>
                <a:ext cx="45719" cy="45719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13" name="矩形 12">
            <a:extLst>
              <a:ext uri="{FF2B5EF4-FFF2-40B4-BE49-F238E27FC236}">
                <a16:creationId xmlns:a16="http://schemas.microsoft.com/office/drawing/2014/main" id="{262D487D-D88A-18E6-AB59-DD57B1196800}"/>
              </a:ext>
            </a:extLst>
          </p:cNvPr>
          <p:cNvSpPr/>
          <p:nvPr/>
        </p:nvSpPr>
        <p:spPr>
          <a:xfrm>
            <a:off x="10334352" y="2795817"/>
            <a:ext cx="159654" cy="164592"/>
          </a:xfrm>
          <a:prstGeom prst="rect">
            <a:avLst/>
          </a:prstGeom>
          <a:solidFill>
            <a:srgbClr val="0F9ED5">
              <a:alpha val="2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33FBF00-28A7-C95B-E345-8DC18D660D0F}"/>
              </a:ext>
            </a:extLst>
          </p:cNvPr>
          <p:cNvSpPr txBox="1"/>
          <p:nvPr/>
        </p:nvSpPr>
        <p:spPr>
          <a:xfrm>
            <a:off x="10494006" y="2739132"/>
            <a:ext cx="6463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/>
              <a:t>早利期</a:t>
            </a: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16C1925E-5FA3-BCB9-9B7D-81FA9CE41123}"/>
              </a:ext>
            </a:extLst>
          </p:cNvPr>
          <p:cNvSpPr/>
          <p:nvPr/>
        </p:nvSpPr>
        <p:spPr>
          <a:xfrm rot="392547">
            <a:off x="695654" y="1842885"/>
            <a:ext cx="2639798" cy="2029422"/>
          </a:xfrm>
          <a:custGeom>
            <a:avLst/>
            <a:gdLst>
              <a:gd name="csX0" fmla="*/ 0 w 2633850"/>
              <a:gd name="csY0" fmla="*/ 269491 h 2172824"/>
              <a:gd name="csX1" fmla="*/ 212436 w 2633850"/>
              <a:gd name="csY1" fmla="*/ 685128 h 2172824"/>
              <a:gd name="csX2" fmla="*/ 729673 w 2633850"/>
              <a:gd name="csY2" fmla="*/ 1211600 h 2172824"/>
              <a:gd name="csX3" fmla="*/ 1173018 w 2633850"/>
              <a:gd name="csY3" fmla="*/ 1645710 h 2172824"/>
              <a:gd name="csX4" fmla="*/ 1745673 w 2633850"/>
              <a:gd name="csY4" fmla="*/ 2172182 h 2172824"/>
              <a:gd name="csX5" fmla="*/ 2207491 w 2633850"/>
              <a:gd name="csY5" fmla="*/ 1534873 h 2172824"/>
              <a:gd name="csX6" fmla="*/ 2438400 w 2633850"/>
              <a:gd name="csY6" fmla="*/ 1017637 h 2172824"/>
              <a:gd name="csX7" fmla="*/ 2623127 w 2633850"/>
              <a:gd name="csY7" fmla="*/ 103237 h 2172824"/>
              <a:gd name="csX8" fmla="*/ 2613891 w 2633850"/>
              <a:gd name="csY8" fmla="*/ 57055 h 2172824"/>
              <a:gd name="csX9" fmla="*/ 2632364 w 2633850"/>
              <a:gd name="csY9" fmla="*/ 1637 h 2172824"/>
              <a:gd name="csX10" fmla="*/ 2613891 w 2633850"/>
              <a:gd name="csY10" fmla="*/ 20110 h 21728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2633850" h="2172824">
                <a:moveTo>
                  <a:pt x="0" y="269491"/>
                </a:moveTo>
                <a:cubicBezTo>
                  <a:pt x="45412" y="398800"/>
                  <a:pt x="90824" y="528110"/>
                  <a:pt x="212436" y="685128"/>
                </a:cubicBezTo>
                <a:cubicBezTo>
                  <a:pt x="334048" y="842146"/>
                  <a:pt x="569576" y="1051503"/>
                  <a:pt x="729673" y="1211600"/>
                </a:cubicBezTo>
                <a:cubicBezTo>
                  <a:pt x="889770" y="1371697"/>
                  <a:pt x="1003685" y="1485613"/>
                  <a:pt x="1173018" y="1645710"/>
                </a:cubicBezTo>
                <a:cubicBezTo>
                  <a:pt x="1342351" y="1805807"/>
                  <a:pt x="1573261" y="2190655"/>
                  <a:pt x="1745673" y="2172182"/>
                </a:cubicBezTo>
                <a:cubicBezTo>
                  <a:pt x="1918085" y="2153709"/>
                  <a:pt x="2092037" y="1727297"/>
                  <a:pt x="2207491" y="1534873"/>
                </a:cubicBezTo>
                <a:cubicBezTo>
                  <a:pt x="2322945" y="1342449"/>
                  <a:pt x="2369127" y="1256243"/>
                  <a:pt x="2438400" y="1017637"/>
                </a:cubicBezTo>
                <a:cubicBezTo>
                  <a:pt x="2507673" y="779031"/>
                  <a:pt x="2593879" y="263334"/>
                  <a:pt x="2623127" y="103237"/>
                </a:cubicBezTo>
                <a:cubicBezTo>
                  <a:pt x="2652376" y="-56860"/>
                  <a:pt x="2612351" y="73988"/>
                  <a:pt x="2613891" y="57055"/>
                </a:cubicBezTo>
                <a:cubicBezTo>
                  <a:pt x="2615431" y="40122"/>
                  <a:pt x="2632364" y="7794"/>
                  <a:pt x="2632364" y="1637"/>
                </a:cubicBezTo>
                <a:cubicBezTo>
                  <a:pt x="2632364" y="-4520"/>
                  <a:pt x="2623127" y="7795"/>
                  <a:pt x="2613891" y="2011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634832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153A68-2480-F346-1836-E4561B86D6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79FA491-D5EA-36B4-07F5-2F1A606AAE44}"/>
              </a:ext>
            </a:extLst>
          </p:cNvPr>
          <p:cNvSpPr txBox="1"/>
          <p:nvPr/>
        </p:nvSpPr>
        <p:spPr>
          <a:xfrm>
            <a:off x="267779" y="524251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情景三</a:t>
            </a:r>
          </a:p>
        </p:txBody>
      </p:sp>
      <p:sp>
        <p:nvSpPr>
          <p:cNvPr id="74" name="椭圆 73">
            <a:extLst>
              <a:ext uri="{FF2B5EF4-FFF2-40B4-BE49-F238E27FC236}">
                <a16:creationId xmlns:a16="http://schemas.microsoft.com/office/drawing/2014/main" id="{BC088734-04F0-A13E-4333-2AA67D98E08D}"/>
              </a:ext>
            </a:extLst>
          </p:cNvPr>
          <p:cNvSpPr/>
          <p:nvPr/>
        </p:nvSpPr>
        <p:spPr>
          <a:xfrm>
            <a:off x="10322400" y="1764047"/>
            <a:ext cx="91440" cy="91440"/>
          </a:xfrm>
          <a:prstGeom prst="ellips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0E847EAE-A456-9779-8AA6-CAAF5C472DDD}"/>
              </a:ext>
            </a:extLst>
          </p:cNvPr>
          <p:cNvSpPr txBox="1"/>
          <p:nvPr/>
        </p:nvSpPr>
        <p:spPr>
          <a:xfrm>
            <a:off x="10413840" y="1668616"/>
            <a:ext cx="12618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/>
              <a:t>雪球的敲出观察</a:t>
            </a:r>
          </a:p>
        </p:txBody>
      </p:sp>
      <p:cxnSp>
        <p:nvCxnSpPr>
          <p:cNvPr id="78" name="直接连接符 77">
            <a:extLst>
              <a:ext uri="{FF2B5EF4-FFF2-40B4-BE49-F238E27FC236}">
                <a16:creationId xmlns:a16="http://schemas.microsoft.com/office/drawing/2014/main" id="{3B15656B-00DD-3165-208F-C0DFFFA4F5A2}"/>
              </a:ext>
            </a:extLst>
          </p:cNvPr>
          <p:cNvCxnSpPr/>
          <p:nvPr/>
        </p:nvCxnSpPr>
        <p:spPr>
          <a:xfrm>
            <a:off x="10334406" y="2372032"/>
            <a:ext cx="127792" cy="0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文本框 80">
            <a:extLst>
              <a:ext uri="{FF2B5EF4-FFF2-40B4-BE49-F238E27FC236}">
                <a16:creationId xmlns:a16="http://schemas.microsoft.com/office/drawing/2014/main" id="{F715AF03-B20E-92B8-3E79-F8B8AFAE4E43}"/>
              </a:ext>
            </a:extLst>
          </p:cNvPr>
          <p:cNvSpPr txBox="1"/>
          <p:nvPr/>
        </p:nvSpPr>
        <p:spPr>
          <a:xfrm>
            <a:off x="10439621" y="2232216"/>
            <a:ext cx="11079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/>
              <a:t>雪球敲入观察</a:t>
            </a:r>
          </a:p>
        </p:txBody>
      </p:sp>
      <p:sp>
        <p:nvSpPr>
          <p:cNvPr id="90" name="文本框 89">
            <a:extLst>
              <a:ext uri="{FF2B5EF4-FFF2-40B4-BE49-F238E27FC236}">
                <a16:creationId xmlns:a16="http://schemas.microsoft.com/office/drawing/2014/main" id="{AA597B78-16E6-C304-C52F-649464EB1050}"/>
              </a:ext>
            </a:extLst>
          </p:cNvPr>
          <p:cNvSpPr txBox="1"/>
          <p:nvPr/>
        </p:nvSpPr>
        <p:spPr>
          <a:xfrm>
            <a:off x="280035" y="4570730"/>
            <a:ext cx="7990840" cy="175895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zh-CN" altLang="en-US" sz="1200" dirty="0"/>
              <a:t>起息后，指数下挫并发生敲入，数月后又发弹，在第</a:t>
            </a:r>
            <a:r>
              <a:rPr lang="en-US" altLang="zh-CN" sz="1200" dirty="0"/>
              <a:t>11</a:t>
            </a:r>
            <a:r>
              <a:rPr lang="zh-CN" altLang="en-US" sz="1200" dirty="0"/>
              <a:t>个敲出观察日（存续</a:t>
            </a:r>
            <a:r>
              <a:rPr lang="en-US" altLang="zh-CN" sz="1200" dirty="0"/>
              <a:t>13</a:t>
            </a:r>
            <a:r>
              <a:rPr lang="zh-CN" altLang="en-US" sz="1200" dirty="0"/>
              <a:t>个月）发生敲出，那么：</a:t>
            </a:r>
            <a:endParaRPr lang="en-US" altLang="zh-CN" sz="1200" dirty="0"/>
          </a:p>
          <a:p>
            <a:endParaRPr lang="en-US" altLang="zh-CN" sz="1200" dirty="0"/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200" dirty="0"/>
              <a:t>早利雪球在首年未敲出，不能获得早利票息，</a:t>
            </a:r>
            <a:endParaRPr lang="en-US" altLang="zh-CN" sz="1200" dirty="0"/>
          </a:p>
          <a:p>
            <a:pPr marL="171450" indent="-171450">
              <a:buFont typeface="Wingdings" panose="05000000000000000000" pitchFamily="2" charset="2"/>
              <a:buChar char="Ø"/>
            </a:pPr>
            <a:endParaRPr lang="en-US" altLang="zh-CN" sz="1200" dirty="0"/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200" dirty="0"/>
              <a:t>即便期间发生敲入，但是在第二年敲出，则收益为  </a:t>
            </a:r>
            <a:r>
              <a:rPr lang="en-US" altLang="zh-CN" sz="1200" dirty="0"/>
              <a:t>5%【</a:t>
            </a:r>
            <a:r>
              <a:rPr lang="zh-CN" altLang="en-US" sz="1200" dirty="0"/>
              <a:t>次级敲出票息</a:t>
            </a:r>
            <a:r>
              <a:rPr lang="en-US" altLang="zh-CN" sz="1200" dirty="0"/>
              <a:t>】 * 13 / 12【</a:t>
            </a:r>
            <a:r>
              <a:rPr lang="zh-CN" altLang="en-US" sz="1200" dirty="0"/>
              <a:t>存续期限</a:t>
            </a:r>
            <a:r>
              <a:rPr lang="en-US" altLang="zh-CN" sz="1200" dirty="0"/>
              <a:t>】 = </a:t>
            </a:r>
            <a:r>
              <a:rPr lang="en-US" altLang="zh-CN" sz="1200" b="1" dirty="0"/>
              <a:t>5.42%</a:t>
            </a:r>
            <a:r>
              <a:rPr lang="zh-CN" altLang="en-US" sz="1200" dirty="0"/>
              <a:t>；</a:t>
            </a:r>
            <a:endParaRPr lang="en-US" altLang="zh-CN" sz="1200" dirty="0"/>
          </a:p>
          <a:p>
            <a:endParaRPr lang="en-US" altLang="zh-CN" sz="1200" dirty="0"/>
          </a:p>
          <a:p>
            <a:endParaRPr lang="en-US" altLang="zh-CN" sz="1200" dirty="0"/>
          </a:p>
          <a:p>
            <a:endParaRPr lang="en-US" altLang="zh-CN" sz="1200" dirty="0"/>
          </a:p>
          <a:p>
            <a:endParaRPr lang="en-US" altLang="zh-CN" sz="1200" dirty="0">
              <a:solidFill>
                <a:srgbClr val="C00000"/>
              </a:solidFill>
            </a:endParaRPr>
          </a:p>
          <a:p>
            <a:r>
              <a:rPr lang="en-US" altLang="zh-CN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*</a:t>
            </a:r>
            <a:r>
              <a:rPr lang="zh-CN" altLang="en-US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收益测算基于情景分析，预估了销售费管理费，</a:t>
            </a:r>
            <a:r>
              <a:rPr lang="zh-CN" altLang="en-US" sz="9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未计入业绩计提</a:t>
            </a:r>
            <a:r>
              <a:rPr lang="zh-CN" altLang="en-US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以及可能产生的税费的影响，仅作为参考不作为收益承诺。</a:t>
            </a:r>
            <a:endParaRPr lang="en-US" altLang="zh-CN" sz="1200" dirty="0">
              <a:solidFill>
                <a:srgbClr val="C00000"/>
              </a:solidFill>
            </a:endParaRPr>
          </a:p>
        </p:txBody>
      </p: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F680F105-F512-658F-6F7A-A3533C9A2E65}"/>
              </a:ext>
            </a:extLst>
          </p:cNvPr>
          <p:cNvGrpSpPr/>
          <p:nvPr/>
        </p:nvGrpSpPr>
        <p:grpSpPr>
          <a:xfrm>
            <a:off x="764245" y="1264242"/>
            <a:ext cx="9490280" cy="3226777"/>
            <a:chOff x="352708" y="1314450"/>
            <a:chExt cx="9490280" cy="3226777"/>
          </a:xfrm>
        </p:grpSpPr>
        <p:cxnSp>
          <p:nvCxnSpPr>
            <p:cNvPr id="6" name="直接箭头连接符 5">
              <a:extLst>
                <a:ext uri="{FF2B5EF4-FFF2-40B4-BE49-F238E27FC236}">
                  <a16:creationId xmlns:a16="http://schemas.microsoft.com/office/drawing/2014/main" id="{A5C5602D-DC36-B6DA-DFB7-F5FCF3F0F0CA}"/>
                </a:ext>
              </a:extLst>
            </p:cNvPr>
            <p:cNvCxnSpPr/>
            <p:nvPr/>
          </p:nvCxnSpPr>
          <p:spPr>
            <a:xfrm flipV="1">
              <a:off x="366471" y="1358315"/>
              <a:ext cx="6594" cy="302465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5C09B95A-9324-4EF9-C781-064C7C417755}"/>
                </a:ext>
              </a:extLst>
            </p:cNvPr>
            <p:cNvCxnSpPr/>
            <p:nvPr/>
          </p:nvCxnSpPr>
          <p:spPr>
            <a:xfrm>
              <a:off x="9771191" y="1314450"/>
              <a:ext cx="28051" cy="322677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0" name="组合 49">
              <a:extLst>
                <a:ext uri="{FF2B5EF4-FFF2-40B4-BE49-F238E27FC236}">
                  <a16:creationId xmlns:a16="http://schemas.microsoft.com/office/drawing/2014/main" id="{B182F568-065C-2104-0578-CA2242B30819}"/>
                </a:ext>
              </a:extLst>
            </p:cNvPr>
            <p:cNvGrpSpPr/>
            <p:nvPr/>
          </p:nvGrpSpPr>
          <p:grpSpPr>
            <a:xfrm>
              <a:off x="352708" y="1636550"/>
              <a:ext cx="9490280" cy="2080503"/>
              <a:chOff x="352708" y="1636550"/>
              <a:chExt cx="9490280" cy="2080503"/>
            </a:xfrm>
          </p:grpSpPr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993FFC72-3DB7-3198-3BD4-DAD3F6741108}"/>
                  </a:ext>
                </a:extLst>
              </p:cNvPr>
              <p:cNvSpPr/>
              <p:nvPr/>
            </p:nvSpPr>
            <p:spPr>
              <a:xfrm>
                <a:off x="352708" y="1636550"/>
                <a:ext cx="5550970" cy="2045689"/>
              </a:xfrm>
              <a:prstGeom prst="rect">
                <a:avLst/>
              </a:prstGeom>
              <a:solidFill>
                <a:srgbClr val="0F9ED5">
                  <a:alpha val="20000"/>
                </a:srgb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cxnSp>
            <p:nvCxnSpPr>
              <p:cNvPr id="17" name="直接连接符 16">
                <a:extLst>
                  <a:ext uri="{FF2B5EF4-FFF2-40B4-BE49-F238E27FC236}">
                    <a16:creationId xmlns:a16="http://schemas.microsoft.com/office/drawing/2014/main" id="{6B8425EB-2D03-D969-760C-4336B0075FD8}"/>
                  </a:ext>
                </a:extLst>
              </p:cNvPr>
              <p:cNvCxnSpPr/>
              <p:nvPr/>
            </p:nvCxnSpPr>
            <p:spPr>
              <a:xfrm>
                <a:off x="373066" y="3697166"/>
                <a:ext cx="9420099" cy="0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接连接符 17">
                <a:extLst>
                  <a:ext uri="{FF2B5EF4-FFF2-40B4-BE49-F238E27FC236}">
                    <a16:creationId xmlns:a16="http://schemas.microsoft.com/office/drawing/2014/main" id="{AEBB2E2C-AE0D-029E-4379-5B441E8D518F}"/>
                  </a:ext>
                </a:extLst>
              </p:cNvPr>
              <p:cNvCxnSpPr/>
              <p:nvPr/>
            </p:nvCxnSpPr>
            <p:spPr>
              <a:xfrm flipV="1">
                <a:off x="373066" y="1976805"/>
                <a:ext cx="9469922" cy="0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直接连接符 18">
                <a:extLst>
                  <a:ext uri="{FF2B5EF4-FFF2-40B4-BE49-F238E27FC236}">
                    <a16:creationId xmlns:a16="http://schemas.microsoft.com/office/drawing/2014/main" id="{C505022F-099C-5678-D6EC-44CED59AB9E4}"/>
                  </a:ext>
                </a:extLst>
              </p:cNvPr>
              <p:cNvCxnSpPr/>
              <p:nvPr/>
            </p:nvCxnSpPr>
            <p:spPr>
              <a:xfrm>
                <a:off x="1639158" y="1976805"/>
                <a:ext cx="8142284" cy="729026"/>
              </a:xfrm>
              <a:prstGeom prst="line">
                <a:avLst/>
              </a:prstGeom>
              <a:ln>
                <a:solidFill>
                  <a:schemeClr val="accent2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直接连接符 25">
                <a:extLst>
                  <a:ext uri="{FF2B5EF4-FFF2-40B4-BE49-F238E27FC236}">
                    <a16:creationId xmlns:a16="http://schemas.microsoft.com/office/drawing/2014/main" id="{6C5414A0-A568-A7B7-169B-8FEDEFFEF51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51133" y="1966363"/>
                <a:ext cx="22859" cy="1715876"/>
              </a:xfrm>
              <a:prstGeom prst="line">
                <a:avLst/>
              </a:prstGeom>
              <a:ln>
                <a:solidFill>
                  <a:schemeClr val="bg2">
                    <a:lumMod val="90000"/>
                  </a:schemeClr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直接连接符 27">
                <a:extLst>
                  <a:ext uri="{FF2B5EF4-FFF2-40B4-BE49-F238E27FC236}">
                    <a16:creationId xmlns:a16="http://schemas.microsoft.com/office/drawing/2014/main" id="{16F89A99-132A-790A-AE35-E9BE619672F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42646" y="1976805"/>
                <a:ext cx="0" cy="1694529"/>
              </a:xfrm>
              <a:prstGeom prst="line">
                <a:avLst/>
              </a:prstGeom>
              <a:ln>
                <a:solidFill>
                  <a:schemeClr val="bg2">
                    <a:lumMod val="90000"/>
                  </a:schemeClr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接连接符 28">
                <a:extLst>
                  <a:ext uri="{FF2B5EF4-FFF2-40B4-BE49-F238E27FC236}">
                    <a16:creationId xmlns:a16="http://schemas.microsoft.com/office/drawing/2014/main" id="{79EE5539-36BD-032C-F9A0-64DAC6A16A6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98381" y="1976805"/>
                <a:ext cx="0" cy="1720361"/>
              </a:xfrm>
              <a:prstGeom prst="line">
                <a:avLst/>
              </a:prstGeom>
              <a:ln>
                <a:solidFill>
                  <a:schemeClr val="bg2">
                    <a:lumMod val="90000"/>
                  </a:schemeClr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接连接符 29">
                <a:extLst>
                  <a:ext uri="{FF2B5EF4-FFF2-40B4-BE49-F238E27FC236}">
                    <a16:creationId xmlns:a16="http://schemas.microsoft.com/office/drawing/2014/main" id="{962DC141-E466-77C5-1ABF-58F6352475E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20107" y="2035419"/>
                <a:ext cx="0" cy="1681634"/>
              </a:xfrm>
              <a:prstGeom prst="line">
                <a:avLst/>
              </a:prstGeom>
              <a:ln>
                <a:solidFill>
                  <a:schemeClr val="bg2">
                    <a:lumMod val="90000"/>
                  </a:schemeClr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接连接符 31">
                <a:extLst>
                  <a:ext uri="{FF2B5EF4-FFF2-40B4-BE49-F238E27FC236}">
                    <a16:creationId xmlns:a16="http://schemas.microsoft.com/office/drawing/2014/main" id="{3B7C95D7-E4D3-A758-452C-6E30B819F85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80240" y="2094035"/>
                <a:ext cx="0" cy="1603131"/>
              </a:xfrm>
              <a:prstGeom prst="line">
                <a:avLst/>
              </a:prstGeom>
              <a:ln>
                <a:solidFill>
                  <a:schemeClr val="bg2">
                    <a:lumMod val="90000"/>
                  </a:schemeClr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接连接符 32">
                <a:extLst>
                  <a:ext uri="{FF2B5EF4-FFF2-40B4-BE49-F238E27FC236}">
                    <a16:creationId xmlns:a16="http://schemas.microsoft.com/office/drawing/2014/main" id="{E6C75966-314A-F605-4B11-418C79B15BD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49215" y="2104293"/>
                <a:ext cx="0" cy="1592873"/>
              </a:xfrm>
              <a:prstGeom prst="line">
                <a:avLst/>
              </a:prstGeom>
              <a:ln>
                <a:solidFill>
                  <a:schemeClr val="bg2">
                    <a:lumMod val="90000"/>
                  </a:schemeClr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接连接符 38">
                <a:extLst>
                  <a:ext uri="{FF2B5EF4-FFF2-40B4-BE49-F238E27FC236}">
                    <a16:creationId xmlns:a16="http://schemas.microsoft.com/office/drawing/2014/main" id="{7790C96C-1D56-A24C-220E-C36F1A254D94}"/>
                  </a:ext>
                </a:extLst>
              </p:cNvPr>
              <p:cNvCxnSpPr/>
              <p:nvPr/>
            </p:nvCxnSpPr>
            <p:spPr>
              <a:xfrm>
                <a:off x="9781442" y="2705831"/>
                <a:ext cx="0" cy="483210"/>
              </a:xfrm>
              <a:prstGeom prst="line">
                <a:avLst/>
              </a:prstGeom>
              <a:ln>
                <a:solidFill>
                  <a:schemeClr val="bg2">
                    <a:lumMod val="90000"/>
                  </a:schemeClr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9" name="椭圆 58">
                <a:extLst>
                  <a:ext uri="{FF2B5EF4-FFF2-40B4-BE49-F238E27FC236}">
                    <a16:creationId xmlns:a16="http://schemas.microsoft.com/office/drawing/2014/main" id="{20FEB81A-5823-A6EB-602F-820A8EF833D6}"/>
                  </a:ext>
                </a:extLst>
              </p:cNvPr>
              <p:cNvSpPr/>
              <p:nvPr/>
            </p:nvSpPr>
            <p:spPr>
              <a:xfrm>
                <a:off x="1628273" y="1941359"/>
                <a:ext cx="45719" cy="45719"/>
              </a:xfrm>
              <a:prstGeom prst="ellipse">
                <a:avLst/>
              </a:prstGeom>
              <a:ln>
                <a:solidFill>
                  <a:schemeClr val="accent2"/>
                </a:solidFill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" name="椭圆 59">
                <a:extLst>
                  <a:ext uri="{FF2B5EF4-FFF2-40B4-BE49-F238E27FC236}">
                    <a16:creationId xmlns:a16="http://schemas.microsoft.com/office/drawing/2014/main" id="{62028FF6-BC7F-DCB9-D913-EFC8A6E51E88}"/>
                  </a:ext>
                </a:extLst>
              </p:cNvPr>
              <p:cNvSpPr/>
              <p:nvPr/>
            </p:nvSpPr>
            <p:spPr>
              <a:xfrm>
                <a:off x="2103885" y="2027230"/>
                <a:ext cx="45719" cy="45719"/>
              </a:xfrm>
              <a:prstGeom prst="ellipse">
                <a:avLst/>
              </a:prstGeom>
              <a:ln>
                <a:solidFill>
                  <a:schemeClr val="accent2"/>
                </a:solidFill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" name="椭圆 60">
                <a:extLst>
                  <a:ext uri="{FF2B5EF4-FFF2-40B4-BE49-F238E27FC236}">
                    <a16:creationId xmlns:a16="http://schemas.microsoft.com/office/drawing/2014/main" id="{D9F5E016-5F47-9127-C82E-2772AD478301}"/>
                  </a:ext>
                </a:extLst>
              </p:cNvPr>
              <p:cNvSpPr/>
              <p:nvPr/>
            </p:nvSpPr>
            <p:spPr>
              <a:xfrm>
                <a:off x="2572859" y="2050089"/>
                <a:ext cx="45719" cy="45719"/>
              </a:xfrm>
              <a:prstGeom prst="ellipse">
                <a:avLst/>
              </a:prstGeom>
              <a:ln>
                <a:solidFill>
                  <a:schemeClr val="accent2"/>
                </a:solidFill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2" name="椭圆 61">
                <a:extLst>
                  <a:ext uri="{FF2B5EF4-FFF2-40B4-BE49-F238E27FC236}">
                    <a16:creationId xmlns:a16="http://schemas.microsoft.com/office/drawing/2014/main" id="{FF12397C-3719-4A14-A60E-1EFA9B258EFB}"/>
                  </a:ext>
                </a:extLst>
              </p:cNvPr>
              <p:cNvSpPr/>
              <p:nvPr/>
            </p:nvSpPr>
            <p:spPr>
              <a:xfrm>
                <a:off x="3003496" y="2094035"/>
                <a:ext cx="45719" cy="45719"/>
              </a:xfrm>
              <a:prstGeom prst="ellipse">
                <a:avLst/>
              </a:prstGeom>
              <a:ln>
                <a:solidFill>
                  <a:schemeClr val="accent2"/>
                </a:solidFill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3" name="椭圆 62">
                <a:extLst>
                  <a:ext uri="{FF2B5EF4-FFF2-40B4-BE49-F238E27FC236}">
                    <a16:creationId xmlns:a16="http://schemas.microsoft.com/office/drawing/2014/main" id="{E0E745D8-ECF9-9D37-2A31-4BA91866185E}"/>
                  </a:ext>
                </a:extLst>
              </p:cNvPr>
              <p:cNvSpPr/>
              <p:nvPr/>
            </p:nvSpPr>
            <p:spPr>
              <a:xfrm>
                <a:off x="9302217" y="2645729"/>
                <a:ext cx="45719" cy="45719"/>
              </a:xfrm>
              <a:prstGeom prst="ellipse">
                <a:avLst/>
              </a:prstGeom>
              <a:ln>
                <a:solidFill>
                  <a:schemeClr val="accent2"/>
                </a:solidFill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4" name="椭圆 63">
                <a:extLst>
                  <a:ext uri="{FF2B5EF4-FFF2-40B4-BE49-F238E27FC236}">
                    <a16:creationId xmlns:a16="http://schemas.microsoft.com/office/drawing/2014/main" id="{0E630201-BB69-36CD-C2FC-76C04FA679E7}"/>
                  </a:ext>
                </a:extLst>
              </p:cNvPr>
              <p:cNvSpPr/>
              <p:nvPr/>
            </p:nvSpPr>
            <p:spPr>
              <a:xfrm>
                <a:off x="9764206" y="2693413"/>
                <a:ext cx="45719" cy="45719"/>
              </a:xfrm>
              <a:prstGeom prst="ellipse">
                <a:avLst/>
              </a:prstGeom>
              <a:ln>
                <a:solidFill>
                  <a:schemeClr val="accent2"/>
                </a:solidFill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8" name="椭圆 87">
                <a:extLst>
                  <a:ext uri="{FF2B5EF4-FFF2-40B4-BE49-F238E27FC236}">
                    <a16:creationId xmlns:a16="http://schemas.microsoft.com/office/drawing/2014/main" id="{73B7CBCC-1022-7C37-AFFF-391F026CA866}"/>
                  </a:ext>
                </a:extLst>
              </p:cNvPr>
              <p:cNvSpPr/>
              <p:nvPr/>
            </p:nvSpPr>
            <p:spPr>
              <a:xfrm>
                <a:off x="352708" y="1953945"/>
                <a:ext cx="45719" cy="45719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" name="椭圆 2">
                <a:extLst>
                  <a:ext uri="{FF2B5EF4-FFF2-40B4-BE49-F238E27FC236}">
                    <a16:creationId xmlns:a16="http://schemas.microsoft.com/office/drawing/2014/main" id="{673E134B-119E-209B-B843-EC3CB66BBBD1}"/>
                  </a:ext>
                </a:extLst>
              </p:cNvPr>
              <p:cNvSpPr/>
              <p:nvPr/>
            </p:nvSpPr>
            <p:spPr>
              <a:xfrm>
                <a:off x="9771801" y="3671334"/>
                <a:ext cx="45719" cy="45719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13" name="矩形 12">
            <a:extLst>
              <a:ext uri="{FF2B5EF4-FFF2-40B4-BE49-F238E27FC236}">
                <a16:creationId xmlns:a16="http://schemas.microsoft.com/office/drawing/2014/main" id="{14FAC898-C1DF-9E6D-94E6-A96D95B9FF91}"/>
              </a:ext>
            </a:extLst>
          </p:cNvPr>
          <p:cNvSpPr/>
          <p:nvPr/>
        </p:nvSpPr>
        <p:spPr>
          <a:xfrm>
            <a:off x="10334352" y="2795817"/>
            <a:ext cx="159654" cy="164592"/>
          </a:xfrm>
          <a:prstGeom prst="rect">
            <a:avLst/>
          </a:prstGeom>
          <a:solidFill>
            <a:srgbClr val="0F9ED5">
              <a:alpha val="2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F1EFDC5-A3E0-3BEC-F41F-8CEC45177712}"/>
              </a:ext>
            </a:extLst>
          </p:cNvPr>
          <p:cNvSpPr txBox="1"/>
          <p:nvPr/>
        </p:nvSpPr>
        <p:spPr>
          <a:xfrm>
            <a:off x="10494006" y="2739132"/>
            <a:ext cx="6463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/>
              <a:t>早利期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67C8B8DF-D27D-45FA-E09A-3AB41ECF2CFF}"/>
              </a:ext>
            </a:extLst>
          </p:cNvPr>
          <p:cNvCxnSpPr>
            <a:cxnSpLocks/>
          </p:cNvCxnSpPr>
          <p:nvPr/>
        </p:nvCxnSpPr>
        <p:spPr>
          <a:xfrm>
            <a:off x="6771988" y="2372032"/>
            <a:ext cx="0" cy="1249094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椭圆 7">
            <a:extLst>
              <a:ext uri="{FF2B5EF4-FFF2-40B4-BE49-F238E27FC236}">
                <a16:creationId xmlns:a16="http://schemas.microsoft.com/office/drawing/2014/main" id="{B84F7D71-F4D0-B1B9-9DD8-653B6029EFDB}"/>
              </a:ext>
            </a:extLst>
          </p:cNvPr>
          <p:cNvSpPr/>
          <p:nvPr/>
        </p:nvSpPr>
        <p:spPr>
          <a:xfrm>
            <a:off x="6753981" y="2307059"/>
            <a:ext cx="45719" cy="45719"/>
          </a:xfrm>
          <a:prstGeom prst="ellips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8E3200AF-1AF3-D07A-DC8C-DE9137A7C00F}"/>
              </a:ext>
            </a:extLst>
          </p:cNvPr>
          <p:cNvSpPr/>
          <p:nvPr/>
        </p:nvSpPr>
        <p:spPr>
          <a:xfrm>
            <a:off x="794327" y="1921164"/>
            <a:ext cx="6011596" cy="1838043"/>
          </a:xfrm>
          <a:custGeom>
            <a:avLst/>
            <a:gdLst>
              <a:gd name="csX0" fmla="*/ 0 w 6011596"/>
              <a:gd name="csY0" fmla="*/ 0 h 1838043"/>
              <a:gd name="csX1" fmla="*/ 314037 w 6011596"/>
              <a:gd name="csY1" fmla="*/ 332509 h 1838043"/>
              <a:gd name="csX2" fmla="*/ 738909 w 6011596"/>
              <a:gd name="csY2" fmla="*/ 286327 h 1838043"/>
              <a:gd name="csX3" fmla="*/ 1182255 w 6011596"/>
              <a:gd name="csY3" fmla="*/ 517236 h 1838043"/>
              <a:gd name="csX4" fmla="*/ 2068946 w 6011596"/>
              <a:gd name="csY4" fmla="*/ 415636 h 1838043"/>
              <a:gd name="csX5" fmla="*/ 2872509 w 6011596"/>
              <a:gd name="csY5" fmla="*/ 1173018 h 1838043"/>
              <a:gd name="csX6" fmla="*/ 3315855 w 6011596"/>
              <a:gd name="csY6" fmla="*/ 1477818 h 1838043"/>
              <a:gd name="csX7" fmla="*/ 4184073 w 6011596"/>
              <a:gd name="csY7" fmla="*/ 1838036 h 1838043"/>
              <a:gd name="csX8" fmla="*/ 4876800 w 6011596"/>
              <a:gd name="csY8" fmla="*/ 1487054 h 1838043"/>
              <a:gd name="csX9" fmla="*/ 5116946 w 6011596"/>
              <a:gd name="csY9" fmla="*/ 1219200 h 1838043"/>
              <a:gd name="csX10" fmla="*/ 5532582 w 6011596"/>
              <a:gd name="csY10" fmla="*/ 960581 h 1838043"/>
              <a:gd name="csX11" fmla="*/ 5966691 w 6011596"/>
              <a:gd name="csY11" fmla="*/ 249381 h 1838043"/>
              <a:gd name="csX12" fmla="*/ 5975928 w 6011596"/>
              <a:gd name="csY12" fmla="*/ 203200 h 18380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6011596" h="1838043">
                <a:moveTo>
                  <a:pt x="0" y="0"/>
                </a:moveTo>
                <a:cubicBezTo>
                  <a:pt x="95443" y="142394"/>
                  <a:pt x="190886" y="284788"/>
                  <a:pt x="314037" y="332509"/>
                </a:cubicBezTo>
                <a:cubicBezTo>
                  <a:pt x="437189" y="380230"/>
                  <a:pt x="594206" y="255539"/>
                  <a:pt x="738909" y="286327"/>
                </a:cubicBezTo>
                <a:cubicBezTo>
                  <a:pt x="883612" y="317115"/>
                  <a:pt x="960582" y="495684"/>
                  <a:pt x="1182255" y="517236"/>
                </a:cubicBezTo>
                <a:cubicBezTo>
                  <a:pt x="1403928" y="538788"/>
                  <a:pt x="1787237" y="306339"/>
                  <a:pt x="2068946" y="415636"/>
                </a:cubicBezTo>
                <a:cubicBezTo>
                  <a:pt x="2350655" y="524933"/>
                  <a:pt x="2664691" y="995988"/>
                  <a:pt x="2872509" y="1173018"/>
                </a:cubicBezTo>
                <a:cubicBezTo>
                  <a:pt x="3080327" y="1350048"/>
                  <a:pt x="3097261" y="1366982"/>
                  <a:pt x="3315855" y="1477818"/>
                </a:cubicBezTo>
                <a:cubicBezTo>
                  <a:pt x="3534449" y="1588654"/>
                  <a:pt x="3923916" y="1836497"/>
                  <a:pt x="4184073" y="1838036"/>
                </a:cubicBezTo>
                <a:cubicBezTo>
                  <a:pt x="4444230" y="1839575"/>
                  <a:pt x="4721321" y="1590193"/>
                  <a:pt x="4876800" y="1487054"/>
                </a:cubicBezTo>
                <a:cubicBezTo>
                  <a:pt x="5032279" y="1383915"/>
                  <a:pt x="5007649" y="1306945"/>
                  <a:pt x="5116946" y="1219200"/>
                </a:cubicBezTo>
                <a:cubicBezTo>
                  <a:pt x="5226243" y="1131455"/>
                  <a:pt x="5390958" y="1122218"/>
                  <a:pt x="5532582" y="960581"/>
                </a:cubicBezTo>
                <a:cubicBezTo>
                  <a:pt x="5674206" y="798945"/>
                  <a:pt x="5892800" y="375611"/>
                  <a:pt x="5966691" y="249381"/>
                </a:cubicBezTo>
                <a:cubicBezTo>
                  <a:pt x="6040582" y="123151"/>
                  <a:pt x="6008255" y="163175"/>
                  <a:pt x="5975928" y="20320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41123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30B340-75E4-8D2C-93B5-C89AB522E3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87D731F-2E69-0D48-6D54-8F6C88D793A0}"/>
              </a:ext>
            </a:extLst>
          </p:cNvPr>
          <p:cNvSpPr txBox="1"/>
          <p:nvPr/>
        </p:nvSpPr>
        <p:spPr>
          <a:xfrm>
            <a:off x="267779" y="524251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情景四</a:t>
            </a:r>
          </a:p>
        </p:txBody>
      </p:sp>
      <p:sp>
        <p:nvSpPr>
          <p:cNvPr id="74" name="椭圆 73">
            <a:extLst>
              <a:ext uri="{FF2B5EF4-FFF2-40B4-BE49-F238E27FC236}">
                <a16:creationId xmlns:a16="http://schemas.microsoft.com/office/drawing/2014/main" id="{595671DD-1B5D-81FE-6481-625D0713C3F1}"/>
              </a:ext>
            </a:extLst>
          </p:cNvPr>
          <p:cNvSpPr/>
          <p:nvPr/>
        </p:nvSpPr>
        <p:spPr>
          <a:xfrm>
            <a:off x="10322400" y="1764047"/>
            <a:ext cx="91440" cy="91440"/>
          </a:xfrm>
          <a:prstGeom prst="ellips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48E3DED7-03ED-1330-BF59-F1D72CEC5E61}"/>
              </a:ext>
            </a:extLst>
          </p:cNvPr>
          <p:cNvSpPr txBox="1"/>
          <p:nvPr/>
        </p:nvSpPr>
        <p:spPr>
          <a:xfrm>
            <a:off x="10413840" y="1668616"/>
            <a:ext cx="12618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/>
              <a:t>雪球的敲出观察</a:t>
            </a:r>
          </a:p>
        </p:txBody>
      </p:sp>
      <p:cxnSp>
        <p:nvCxnSpPr>
          <p:cNvPr id="78" name="直接连接符 77">
            <a:extLst>
              <a:ext uri="{FF2B5EF4-FFF2-40B4-BE49-F238E27FC236}">
                <a16:creationId xmlns:a16="http://schemas.microsoft.com/office/drawing/2014/main" id="{0178BBFC-A8E3-1796-079F-3BDEE8B7208E}"/>
              </a:ext>
            </a:extLst>
          </p:cNvPr>
          <p:cNvCxnSpPr/>
          <p:nvPr/>
        </p:nvCxnSpPr>
        <p:spPr>
          <a:xfrm>
            <a:off x="10334406" y="2372032"/>
            <a:ext cx="127792" cy="0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文本框 80">
            <a:extLst>
              <a:ext uri="{FF2B5EF4-FFF2-40B4-BE49-F238E27FC236}">
                <a16:creationId xmlns:a16="http://schemas.microsoft.com/office/drawing/2014/main" id="{329682C6-8301-5F7D-1185-CB157DCE2530}"/>
              </a:ext>
            </a:extLst>
          </p:cNvPr>
          <p:cNvSpPr txBox="1"/>
          <p:nvPr/>
        </p:nvSpPr>
        <p:spPr>
          <a:xfrm>
            <a:off x="10439621" y="2232216"/>
            <a:ext cx="11079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/>
              <a:t>雪球敲入观察</a:t>
            </a:r>
          </a:p>
        </p:txBody>
      </p:sp>
      <p:sp>
        <p:nvSpPr>
          <p:cNvPr id="90" name="文本框 89">
            <a:extLst>
              <a:ext uri="{FF2B5EF4-FFF2-40B4-BE49-F238E27FC236}">
                <a16:creationId xmlns:a16="http://schemas.microsoft.com/office/drawing/2014/main" id="{0EC60866-FB3B-5CDA-C598-61A58CA1D56D}"/>
              </a:ext>
            </a:extLst>
          </p:cNvPr>
          <p:cNvSpPr txBox="1"/>
          <p:nvPr/>
        </p:nvSpPr>
        <p:spPr>
          <a:xfrm>
            <a:off x="280035" y="4570730"/>
            <a:ext cx="7990840" cy="175895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zh-CN" altLang="en-US" sz="1200" dirty="0"/>
              <a:t>起息后，指数下挫并发生敲入，到期仍未发生敲出，</a:t>
            </a:r>
            <a:r>
              <a:rPr lang="zh-CN" altLang="en-US" sz="1200" dirty="0">
                <a:sym typeface="+mn-ea"/>
              </a:rPr>
              <a:t>指数期末价格为期初价格的</a:t>
            </a:r>
            <a:r>
              <a:rPr lang="en-US" altLang="zh-CN" sz="1200" b="1" dirty="0">
                <a:sym typeface="+mn-ea"/>
              </a:rPr>
              <a:t>80%</a:t>
            </a:r>
            <a:r>
              <a:rPr lang="zh-CN" altLang="en-US" sz="1200" b="1" dirty="0">
                <a:sym typeface="+mn-ea"/>
              </a:rPr>
              <a:t>，</a:t>
            </a:r>
            <a:r>
              <a:rPr lang="zh-CN" altLang="en-US" sz="1200" dirty="0"/>
              <a:t>那么：</a:t>
            </a:r>
            <a:endParaRPr lang="en-US" altLang="zh-CN" sz="1200" dirty="0"/>
          </a:p>
          <a:p>
            <a:endParaRPr lang="en-US" altLang="zh-CN" sz="1200" dirty="0"/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200" dirty="0"/>
              <a:t>早利雪球在首年未敲出，不能获得早利票息</a:t>
            </a:r>
            <a:endParaRPr lang="en-US" altLang="zh-CN" sz="1200" dirty="0"/>
          </a:p>
          <a:p>
            <a:pPr marL="171450" indent="-171450">
              <a:buFont typeface="Wingdings" panose="05000000000000000000" pitchFamily="2" charset="2"/>
              <a:buChar char="Ø"/>
            </a:pPr>
            <a:endParaRPr lang="en-US" altLang="zh-CN" sz="1200" dirty="0"/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200" dirty="0"/>
              <a:t>因为发生过敲入但未敲出，无法获得红利票息，需承担损失为</a:t>
            </a:r>
            <a:r>
              <a:rPr lang="en-US" altLang="zh-CN" sz="1200" dirty="0">
                <a:sym typeface="+mn-ea"/>
              </a:rPr>
              <a:t>80%【</a:t>
            </a:r>
            <a:r>
              <a:rPr lang="zh-CN" altLang="en-US" sz="1200" dirty="0">
                <a:sym typeface="+mn-ea"/>
              </a:rPr>
              <a:t>期末价格</a:t>
            </a:r>
            <a:r>
              <a:rPr lang="en-US" altLang="zh-CN" sz="1200" dirty="0">
                <a:sym typeface="+mn-ea"/>
              </a:rPr>
              <a:t>】- 100%【</a:t>
            </a:r>
            <a:r>
              <a:rPr lang="zh-CN" altLang="en-US" sz="1200" dirty="0">
                <a:sym typeface="+mn-ea"/>
              </a:rPr>
              <a:t>期初价格</a:t>
            </a:r>
            <a:r>
              <a:rPr lang="en-US" altLang="zh-CN" sz="1200" dirty="0">
                <a:sym typeface="+mn-ea"/>
              </a:rPr>
              <a:t>】= -</a:t>
            </a:r>
            <a:r>
              <a:rPr lang="en-US" altLang="zh-CN" sz="1200" b="1" dirty="0">
                <a:sym typeface="+mn-ea"/>
              </a:rPr>
              <a:t>20% </a:t>
            </a:r>
            <a:r>
              <a:rPr lang="zh-CN" altLang="en-US" sz="1200" dirty="0"/>
              <a:t>；</a:t>
            </a:r>
            <a:endParaRPr lang="en-US" altLang="zh-CN" sz="1200" dirty="0"/>
          </a:p>
          <a:p>
            <a:endParaRPr lang="en-US" altLang="zh-CN" sz="1200" dirty="0"/>
          </a:p>
          <a:p>
            <a:endParaRPr lang="en-US" altLang="zh-CN" sz="1200" dirty="0"/>
          </a:p>
          <a:p>
            <a:endParaRPr lang="en-US" altLang="zh-CN" sz="1200" dirty="0"/>
          </a:p>
          <a:p>
            <a:endParaRPr lang="en-US" altLang="zh-CN" sz="1200" dirty="0">
              <a:solidFill>
                <a:srgbClr val="C00000"/>
              </a:solidFill>
            </a:endParaRPr>
          </a:p>
          <a:p>
            <a:r>
              <a:rPr lang="en-US" altLang="zh-CN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*</a:t>
            </a:r>
            <a:r>
              <a:rPr lang="zh-CN" altLang="en-US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收益测算基于情景分析，预估了销售费管理费，</a:t>
            </a:r>
            <a:r>
              <a:rPr lang="zh-CN" altLang="en-US" sz="9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未计入业绩计提</a:t>
            </a:r>
            <a:r>
              <a:rPr lang="zh-CN" altLang="en-US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以及可能产生的税费的影响，仅作为参考不作为收益承诺。</a:t>
            </a:r>
            <a:endParaRPr lang="en-US" altLang="zh-CN" sz="1200" dirty="0">
              <a:solidFill>
                <a:srgbClr val="C00000"/>
              </a:solidFill>
            </a:endParaRPr>
          </a:p>
        </p:txBody>
      </p: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35CAE60B-622A-3682-02FF-A1EAC91DB284}"/>
              </a:ext>
            </a:extLst>
          </p:cNvPr>
          <p:cNvGrpSpPr/>
          <p:nvPr/>
        </p:nvGrpSpPr>
        <p:grpSpPr>
          <a:xfrm>
            <a:off x="764245" y="1264242"/>
            <a:ext cx="9490280" cy="3226777"/>
            <a:chOff x="352708" y="1314450"/>
            <a:chExt cx="9490280" cy="3226777"/>
          </a:xfrm>
        </p:grpSpPr>
        <p:cxnSp>
          <p:nvCxnSpPr>
            <p:cNvPr id="6" name="直接箭头连接符 5">
              <a:extLst>
                <a:ext uri="{FF2B5EF4-FFF2-40B4-BE49-F238E27FC236}">
                  <a16:creationId xmlns:a16="http://schemas.microsoft.com/office/drawing/2014/main" id="{C1D37E5C-02F4-86D6-09CE-CB4AFC093A10}"/>
                </a:ext>
              </a:extLst>
            </p:cNvPr>
            <p:cNvCxnSpPr/>
            <p:nvPr/>
          </p:nvCxnSpPr>
          <p:spPr>
            <a:xfrm flipV="1">
              <a:off x="366471" y="1358315"/>
              <a:ext cx="6594" cy="302465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79AF544E-50AA-1E6A-068B-F0947C1BA64A}"/>
                </a:ext>
              </a:extLst>
            </p:cNvPr>
            <p:cNvCxnSpPr/>
            <p:nvPr/>
          </p:nvCxnSpPr>
          <p:spPr>
            <a:xfrm>
              <a:off x="9771191" y="1314450"/>
              <a:ext cx="28051" cy="322677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0" name="组合 49">
              <a:extLst>
                <a:ext uri="{FF2B5EF4-FFF2-40B4-BE49-F238E27FC236}">
                  <a16:creationId xmlns:a16="http://schemas.microsoft.com/office/drawing/2014/main" id="{0700E9A8-26D4-E6F3-CB54-D44B7F83893E}"/>
                </a:ext>
              </a:extLst>
            </p:cNvPr>
            <p:cNvGrpSpPr/>
            <p:nvPr/>
          </p:nvGrpSpPr>
          <p:grpSpPr>
            <a:xfrm>
              <a:off x="352708" y="1636550"/>
              <a:ext cx="9490280" cy="2080503"/>
              <a:chOff x="352708" y="1636550"/>
              <a:chExt cx="9490280" cy="2080503"/>
            </a:xfrm>
          </p:grpSpPr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67A1366E-B305-144F-585E-DB458C4A4961}"/>
                  </a:ext>
                </a:extLst>
              </p:cNvPr>
              <p:cNvSpPr/>
              <p:nvPr/>
            </p:nvSpPr>
            <p:spPr>
              <a:xfrm>
                <a:off x="352708" y="1636550"/>
                <a:ext cx="5550970" cy="2045689"/>
              </a:xfrm>
              <a:prstGeom prst="rect">
                <a:avLst/>
              </a:prstGeom>
              <a:solidFill>
                <a:srgbClr val="0F9ED5">
                  <a:alpha val="20000"/>
                </a:srgb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cxnSp>
            <p:nvCxnSpPr>
              <p:cNvPr id="17" name="直接连接符 16">
                <a:extLst>
                  <a:ext uri="{FF2B5EF4-FFF2-40B4-BE49-F238E27FC236}">
                    <a16:creationId xmlns:a16="http://schemas.microsoft.com/office/drawing/2014/main" id="{5C8F98CA-010F-AA45-7FA5-7E9ABD696A92}"/>
                  </a:ext>
                </a:extLst>
              </p:cNvPr>
              <p:cNvCxnSpPr/>
              <p:nvPr/>
            </p:nvCxnSpPr>
            <p:spPr>
              <a:xfrm>
                <a:off x="373066" y="3697166"/>
                <a:ext cx="9420099" cy="0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接连接符 17">
                <a:extLst>
                  <a:ext uri="{FF2B5EF4-FFF2-40B4-BE49-F238E27FC236}">
                    <a16:creationId xmlns:a16="http://schemas.microsoft.com/office/drawing/2014/main" id="{210AC1AB-8012-812F-EAF7-58FED5D92797}"/>
                  </a:ext>
                </a:extLst>
              </p:cNvPr>
              <p:cNvCxnSpPr/>
              <p:nvPr/>
            </p:nvCxnSpPr>
            <p:spPr>
              <a:xfrm flipV="1">
                <a:off x="373066" y="1976805"/>
                <a:ext cx="9469922" cy="0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直接连接符 18">
                <a:extLst>
                  <a:ext uri="{FF2B5EF4-FFF2-40B4-BE49-F238E27FC236}">
                    <a16:creationId xmlns:a16="http://schemas.microsoft.com/office/drawing/2014/main" id="{0A693529-259D-83DE-CA65-4FEF0F3851A8}"/>
                  </a:ext>
                </a:extLst>
              </p:cNvPr>
              <p:cNvCxnSpPr/>
              <p:nvPr/>
            </p:nvCxnSpPr>
            <p:spPr>
              <a:xfrm>
                <a:off x="1639158" y="1976805"/>
                <a:ext cx="8142284" cy="729026"/>
              </a:xfrm>
              <a:prstGeom prst="line">
                <a:avLst/>
              </a:prstGeom>
              <a:ln>
                <a:solidFill>
                  <a:schemeClr val="accent2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直接连接符 25">
                <a:extLst>
                  <a:ext uri="{FF2B5EF4-FFF2-40B4-BE49-F238E27FC236}">
                    <a16:creationId xmlns:a16="http://schemas.microsoft.com/office/drawing/2014/main" id="{7C34B439-065E-C048-D1F5-C0246390EB4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51133" y="1966363"/>
                <a:ext cx="22859" cy="1715876"/>
              </a:xfrm>
              <a:prstGeom prst="line">
                <a:avLst/>
              </a:prstGeom>
              <a:ln>
                <a:solidFill>
                  <a:schemeClr val="bg2">
                    <a:lumMod val="90000"/>
                  </a:schemeClr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直接连接符 27">
                <a:extLst>
                  <a:ext uri="{FF2B5EF4-FFF2-40B4-BE49-F238E27FC236}">
                    <a16:creationId xmlns:a16="http://schemas.microsoft.com/office/drawing/2014/main" id="{71DC42F1-7F14-2B31-6B37-6574A3A8372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42646" y="1976805"/>
                <a:ext cx="0" cy="1694529"/>
              </a:xfrm>
              <a:prstGeom prst="line">
                <a:avLst/>
              </a:prstGeom>
              <a:ln>
                <a:solidFill>
                  <a:schemeClr val="bg2">
                    <a:lumMod val="90000"/>
                  </a:schemeClr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接连接符 28">
                <a:extLst>
                  <a:ext uri="{FF2B5EF4-FFF2-40B4-BE49-F238E27FC236}">
                    <a16:creationId xmlns:a16="http://schemas.microsoft.com/office/drawing/2014/main" id="{204F2142-B9AA-A8CC-06A7-268CDF62015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98381" y="1976805"/>
                <a:ext cx="0" cy="1720361"/>
              </a:xfrm>
              <a:prstGeom prst="line">
                <a:avLst/>
              </a:prstGeom>
              <a:ln>
                <a:solidFill>
                  <a:schemeClr val="bg2">
                    <a:lumMod val="90000"/>
                  </a:schemeClr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接连接符 29">
                <a:extLst>
                  <a:ext uri="{FF2B5EF4-FFF2-40B4-BE49-F238E27FC236}">
                    <a16:creationId xmlns:a16="http://schemas.microsoft.com/office/drawing/2014/main" id="{B134BE77-7E1B-5B11-5E96-814DDA66935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20107" y="2035419"/>
                <a:ext cx="0" cy="1681634"/>
              </a:xfrm>
              <a:prstGeom prst="line">
                <a:avLst/>
              </a:prstGeom>
              <a:ln>
                <a:solidFill>
                  <a:schemeClr val="bg2">
                    <a:lumMod val="90000"/>
                  </a:schemeClr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接连接符 31">
                <a:extLst>
                  <a:ext uri="{FF2B5EF4-FFF2-40B4-BE49-F238E27FC236}">
                    <a16:creationId xmlns:a16="http://schemas.microsoft.com/office/drawing/2014/main" id="{4A91353F-7641-209B-A95B-58AA9F52670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80240" y="2094035"/>
                <a:ext cx="0" cy="1603131"/>
              </a:xfrm>
              <a:prstGeom prst="line">
                <a:avLst/>
              </a:prstGeom>
              <a:ln>
                <a:solidFill>
                  <a:schemeClr val="bg2">
                    <a:lumMod val="90000"/>
                  </a:schemeClr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接连接符 32">
                <a:extLst>
                  <a:ext uri="{FF2B5EF4-FFF2-40B4-BE49-F238E27FC236}">
                    <a16:creationId xmlns:a16="http://schemas.microsoft.com/office/drawing/2014/main" id="{583825AA-4755-CAA3-648C-C1DFAB1E034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49215" y="2104293"/>
                <a:ext cx="0" cy="1592873"/>
              </a:xfrm>
              <a:prstGeom prst="line">
                <a:avLst/>
              </a:prstGeom>
              <a:ln>
                <a:solidFill>
                  <a:schemeClr val="bg2">
                    <a:lumMod val="90000"/>
                  </a:schemeClr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接连接符 38">
                <a:extLst>
                  <a:ext uri="{FF2B5EF4-FFF2-40B4-BE49-F238E27FC236}">
                    <a16:creationId xmlns:a16="http://schemas.microsoft.com/office/drawing/2014/main" id="{3B15B164-F83D-5F7A-3D35-630D9161505B}"/>
                  </a:ext>
                </a:extLst>
              </p:cNvPr>
              <p:cNvCxnSpPr/>
              <p:nvPr/>
            </p:nvCxnSpPr>
            <p:spPr>
              <a:xfrm>
                <a:off x="9781442" y="2705831"/>
                <a:ext cx="0" cy="483210"/>
              </a:xfrm>
              <a:prstGeom prst="line">
                <a:avLst/>
              </a:prstGeom>
              <a:ln>
                <a:solidFill>
                  <a:schemeClr val="bg2">
                    <a:lumMod val="90000"/>
                  </a:schemeClr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9" name="椭圆 58">
                <a:extLst>
                  <a:ext uri="{FF2B5EF4-FFF2-40B4-BE49-F238E27FC236}">
                    <a16:creationId xmlns:a16="http://schemas.microsoft.com/office/drawing/2014/main" id="{DDB8024B-B8F8-159E-3592-806A2594177D}"/>
                  </a:ext>
                </a:extLst>
              </p:cNvPr>
              <p:cNvSpPr/>
              <p:nvPr/>
            </p:nvSpPr>
            <p:spPr>
              <a:xfrm>
                <a:off x="1628273" y="1941359"/>
                <a:ext cx="45719" cy="45719"/>
              </a:xfrm>
              <a:prstGeom prst="ellipse">
                <a:avLst/>
              </a:prstGeom>
              <a:ln>
                <a:solidFill>
                  <a:schemeClr val="accent2"/>
                </a:solidFill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" name="椭圆 59">
                <a:extLst>
                  <a:ext uri="{FF2B5EF4-FFF2-40B4-BE49-F238E27FC236}">
                    <a16:creationId xmlns:a16="http://schemas.microsoft.com/office/drawing/2014/main" id="{ADB296AA-8020-04A8-3F45-2190EF296DEB}"/>
                  </a:ext>
                </a:extLst>
              </p:cNvPr>
              <p:cNvSpPr/>
              <p:nvPr/>
            </p:nvSpPr>
            <p:spPr>
              <a:xfrm>
                <a:off x="2103885" y="2027230"/>
                <a:ext cx="45719" cy="45719"/>
              </a:xfrm>
              <a:prstGeom prst="ellipse">
                <a:avLst/>
              </a:prstGeom>
              <a:ln>
                <a:solidFill>
                  <a:schemeClr val="accent2"/>
                </a:solidFill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" name="椭圆 60">
                <a:extLst>
                  <a:ext uri="{FF2B5EF4-FFF2-40B4-BE49-F238E27FC236}">
                    <a16:creationId xmlns:a16="http://schemas.microsoft.com/office/drawing/2014/main" id="{B3F1722D-4A5E-877D-5ECC-5021DE7077C5}"/>
                  </a:ext>
                </a:extLst>
              </p:cNvPr>
              <p:cNvSpPr/>
              <p:nvPr/>
            </p:nvSpPr>
            <p:spPr>
              <a:xfrm>
                <a:off x="2572859" y="2050089"/>
                <a:ext cx="45719" cy="45719"/>
              </a:xfrm>
              <a:prstGeom prst="ellipse">
                <a:avLst/>
              </a:prstGeom>
              <a:ln>
                <a:solidFill>
                  <a:schemeClr val="accent2"/>
                </a:solidFill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2" name="椭圆 61">
                <a:extLst>
                  <a:ext uri="{FF2B5EF4-FFF2-40B4-BE49-F238E27FC236}">
                    <a16:creationId xmlns:a16="http://schemas.microsoft.com/office/drawing/2014/main" id="{B4EC3A08-9180-6871-5B26-ED653CDDC4AC}"/>
                  </a:ext>
                </a:extLst>
              </p:cNvPr>
              <p:cNvSpPr/>
              <p:nvPr/>
            </p:nvSpPr>
            <p:spPr>
              <a:xfrm>
                <a:off x="3003496" y="2094035"/>
                <a:ext cx="45719" cy="45719"/>
              </a:xfrm>
              <a:prstGeom prst="ellipse">
                <a:avLst/>
              </a:prstGeom>
              <a:ln>
                <a:solidFill>
                  <a:schemeClr val="accent2"/>
                </a:solidFill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3" name="椭圆 62">
                <a:extLst>
                  <a:ext uri="{FF2B5EF4-FFF2-40B4-BE49-F238E27FC236}">
                    <a16:creationId xmlns:a16="http://schemas.microsoft.com/office/drawing/2014/main" id="{F08840B1-DC2B-4612-1AD0-D7DC6FE52D0A}"/>
                  </a:ext>
                </a:extLst>
              </p:cNvPr>
              <p:cNvSpPr/>
              <p:nvPr/>
            </p:nvSpPr>
            <p:spPr>
              <a:xfrm>
                <a:off x="9302217" y="2645729"/>
                <a:ext cx="45719" cy="45719"/>
              </a:xfrm>
              <a:prstGeom prst="ellipse">
                <a:avLst/>
              </a:prstGeom>
              <a:ln>
                <a:solidFill>
                  <a:schemeClr val="accent2"/>
                </a:solidFill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4" name="椭圆 63">
                <a:extLst>
                  <a:ext uri="{FF2B5EF4-FFF2-40B4-BE49-F238E27FC236}">
                    <a16:creationId xmlns:a16="http://schemas.microsoft.com/office/drawing/2014/main" id="{B9DDAB96-3BAC-54AD-625D-72B44C2646E1}"/>
                  </a:ext>
                </a:extLst>
              </p:cNvPr>
              <p:cNvSpPr/>
              <p:nvPr/>
            </p:nvSpPr>
            <p:spPr>
              <a:xfrm>
                <a:off x="9764206" y="2693413"/>
                <a:ext cx="45719" cy="45719"/>
              </a:xfrm>
              <a:prstGeom prst="ellipse">
                <a:avLst/>
              </a:prstGeom>
              <a:ln>
                <a:solidFill>
                  <a:schemeClr val="accent2"/>
                </a:solidFill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8" name="椭圆 87">
                <a:extLst>
                  <a:ext uri="{FF2B5EF4-FFF2-40B4-BE49-F238E27FC236}">
                    <a16:creationId xmlns:a16="http://schemas.microsoft.com/office/drawing/2014/main" id="{D2121D9C-35B1-EC51-6432-4B52A61FDD23}"/>
                  </a:ext>
                </a:extLst>
              </p:cNvPr>
              <p:cNvSpPr/>
              <p:nvPr/>
            </p:nvSpPr>
            <p:spPr>
              <a:xfrm>
                <a:off x="352708" y="1953945"/>
                <a:ext cx="45719" cy="45719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" name="椭圆 2">
                <a:extLst>
                  <a:ext uri="{FF2B5EF4-FFF2-40B4-BE49-F238E27FC236}">
                    <a16:creationId xmlns:a16="http://schemas.microsoft.com/office/drawing/2014/main" id="{99D609B6-0ED4-1DF1-3F15-E392D5547A17}"/>
                  </a:ext>
                </a:extLst>
              </p:cNvPr>
              <p:cNvSpPr/>
              <p:nvPr/>
            </p:nvSpPr>
            <p:spPr>
              <a:xfrm>
                <a:off x="9771801" y="3671334"/>
                <a:ext cx="45719" cy="45719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13" name="矩形 12">
            <a:extLst>
              <a:ext uri="{FF2B5EF4-FFF2-40B4-BE49-F238E27FC236}">
                <a16:creationId xmlns:a16="http://schemas.microsoft.com/office/drawing/2014/main" id="{63E645BC-88A8-469C-BDC8-8B8817EBF08C}"/>
              </a:ext>
            </a:extLst>
          </p:cNvPr>
          <p:cNvSpPr/>
          <p:nvPr/>
        </p:nvSpPr>
        <p:spPr>
          <a:xfrm>
            <a:off x="10334352" y="2795817"/>
            <a:ext cx="159654" cy="164592"/>
          </a:xfrm>
          <a:prstGeom prst="rect">
            <a:avLst/>
          </a:prstGeom>
          <a:solidFill>
            <a:srgbClr val="0F9ED5">
              <a:alpha val="2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D7A3D1C-CB5A-D167-FF41-CFA6DDC241EA}"/>
              </a:ext>
            </a:extLst>
          </p:cNvPr>
          <p:cNvSpPr txBox="1"/>
          <p:nvPr/>
        </p:nvSpPr>
        <p:spPr>
          <a:xfrm>
            <a:off x="10494006" y="2739132"/>
            <a:ext cx="6463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/>
              <a:t>早利期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D71673F7-4F20-BBC7-B730-3B48A3FE64A8}"/>
              </a:ext>
            </a:extLst>
          </p:cNvPr>
          <p:cNvCxnSpPr>
            <a:cxnSpLocks/>
          </p:cNvCxnSpPr>
          <p:nvPr/>
        </p:nvCxnSpPr>
        <p:spPr>
          <a:xfrm>
            <a:off x="6771988" y="2372032"/>
            <a:ext cx="0" cy="1249094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椭圆 7">
            <a:extLst>
              <a:ext uri="{FF2B5EF4-FFF2-40B4-BE49-F238E27FC236}">
                <a16:creationId xmlns:a16="http://schemas.microsoft.com/office/drawing/2014/main" id="{DE7D8AAD-FD89-DEBF-E980-36BF08B07D99}"/>
              </a:ext>
            </a:extLst>
          </p:cNvPr>
          <p:cNvSpPr/>
          <p:nvPr/>
        </p:nvSpPr>
        <p:spPr>
          <a:xfrm>
            <a:off x="6753981" y="2307059"/>
            <a:ext cx="45719" cy="45719"/>
          </a:xfrm>
          <a:prstGeom prst="ellips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任意多边形: 形状 9">
            <a:extLst>
              <a:ext uri="{FF2B5EF4-FFF2-40B4-BE49-F238E27FC236}">
                <a16:creationId xmlns:a16="http://schemas.microsoft.com/office/drawing/2014/main" id="{460EA669-8D54-3CC4-5FB7-3ACAC49F8135}"/>
              </a:ext>
            </a:extLst>
          </p:cNvPr>
          <p:cNvSpPr/>
          <p:nvPr/>
        </p:nvSpPr>
        <p:spPr>
          <a:xfrm>
            <a:off x="794327" y="1930400"/>
            <a:ext cx="9421091" cy="2032076"/>
          </a:xfrm>
          <a:custGeom>
            <a:avLst/>
            <a:gdLst>
              <a:gd name="csX0" fmla="*/ 0 w 9421091"/>
              <a:gd name="csY0" fmla="*/ 0 h 2032076"/>
              <a:gd name="csX1" fmla="*/ 277091 w 9421091"/>
              <a:gd name="csY1" fmla="*/ 249382 h 2032076"/>
              <a:gd name="csX2" fmla="*/ 812800 w 9421091"/>
              <a:gd name="csY2" fmla="*/ 267855 h 2032076"/>
              <a:gd name="csX3" fmla="*/ 1182255 w 9421091"/>
              <a:gd name="csY3" fmla="*/ 563418 h 2032076"/>
              <a:gd name="csX4" fmla="*/ 1662546 w 9421091"/>
              <a:gd name="csY4" fmla="*/ 637309 h 2032076"/>
              <a:gd name="csX5" fmla="*/ 1948873 w 9421091"/>
              <a:gd name="csY5" fmla="*/ 1126836 h 2032076"/>
              <a:gd name="csX6" fmla="*/ 2466109 w 9421091"/>
              <a:gd name="csY6" fmla="*/ 1293091 h 2032076"/>
              <a:gd name="csX7" fmla="*/ 3251200 w 9421091"/>
              <a:gd name="csY7" fmla="*/ 1477818 h 2032076"/>
              <a:gd name="csX8" fmla="*/ 3768437 w 9421091"/>
              <a:gd name="csY8" fmla="*/ 1985818 h 2032076"/>
              <a:gd name="csX9" fmla="*/ 4516582 w 9421091"/>
              <a:gd name="csY9" fmla="*/ 1995055 h 2032076"/>
              <a:gd name="csX10" fmla="*/ 5273964 w 9421091"/>
              <a:gd name="csY10" fmla="*/ 1865745 h 2032076"/>
              <a:gd name="csX11" fmla="*/ 6197600 w 9421091"/>
              <a:gd name="csY11" fmla="*/ 1560945 h 2032076"/>
              <a:gd name="csX12" fmla="*/ 6982691 w 9421091"/>
              <a:gd name="csY12" fmla="*/ 1450109 h 2032076"/>
              <a:gd name="csX13" fmla="*/ 7989455 w 9421091"/>
              <a:gd name="csY13" fmla="*/ 1560945 h 2032076"/>
              <a:gd name="csX14" fmla="*/ 9116291 w 9421091"/>
              <a:gd name="csY14" fmla="*/ 1311564 h 2032076"/>
              <a:gd name="csX15" fmla="*/ 9421091 w 9421091"/>
              <a:gd name="csY15" fmla="*/ 1274618 h 203207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9421091" h="2032076">
                <a:moveTo>
                  <a:pt x="0" y="0"/>
                </a:moveTo>
                <a:cubicBezTo>
                  <a:pt x="70812" y="102370"/>
                  <a:pt x="141624" y="204740"/>
                  <a:pt x="277091" y="249382"/>
                </a:cubicBezTo>
                <a:cubicBezTo>
                  <a:pt x="412558" y="294024"/>
                  <a:pt x="661939" y="215516"/>
                  <a:pt x="812800" y="267855"/>
                </a:cubicBezTo>
                <a:cubicBezTo>
                  <a:pt x="963661" y="320194"/>
                  <a:pt x="1040631" y="501842"/>
                  <a:pt x="1182255" y="563418"/>
                </a:cubicBezTo>
                <a:cubicBezTo>
                  <a:pt x="1323879" y="624994"/>
                  <a:pt x="1534776" y="543406"/>
                  <a:pt x="1662546" y="637309"/>
                </a:cubicBezTo>
                <a:cubicBezTo>
                  <a:pt x="1790316" y="731212"/>
                  <a:pt x="1814946" y="1017539"/>
                  <a:pt x="1948873" y="1126836"/>
                </a:cubicBezTo>
                <a:cubicBezTo>
                  <a:pt x="2082800" y="1236133"/>
                  <a:pt x="2249055" y="1234594"/>
                  <a:pt x="2466109" y="1293091"/>
                </a:cubicBezTo>
                <a:cubicBezTo>
                  <a:pt x="2683163" y="1351588"/>
                  <a:pt x="3034145" y="1362364"/>
                  <a:pt x="3251200" y="1477818"/>
                </a:cubicBezTo>
                <a:cubicBezTo>
                  <a:pt x="3468255" y="1593272"/>
                  <a:pt x="3557540" y="1899612"/>
                  <a:pt x="3768437" y="1985818"/>
                </a:cubicBezTo>
                <a:cubicBezTo>
                  <a:pt x="3979334" y="2072024"/>
                  <a:pt x="4265661" y="2015067"/>
                  <a:pt x="4516582" y="1995055"/>
                </a:cubicBezTo>
                <a:cubicBezTo>
                  <a:pt x="4767503" y="1975043"/>
                  <a:pt x="4993794" y="1938097"/>
                  <a:pt x="5273964" y="1865745"/>
                </a:cubicBezTo>
                <a:cubicBezTo>
                  <a:pt x="5554134" y="1793393"/>
                  <a:pt x="5912812" y="1630218"/>
                  <a:pt x="6197600" y="1560945"/>
                </a:cubicBezTo>
                <a:cubicBezTo>
                  <a:pt x="6482388" y="1491672"/>
                  <a:pt x="6684049" y="1450109"/>
                  <a:pt x="6982691" y="1450109"/>
                </a:cubicBezTo>
                <a:cubicBezTo>
                  <a:pt x="7281333" y="1450109"/>
                  <a:pt x="7633855" y="1584036"/>
                  <a:pt x="7989455" y="1560945"/>
                </a:cubicBezTo>
                <a:cubicBezTo>
                  <a:pt x="8345055" y="1537854"/>
                  <a:pt x="8877685" y="1359285"/>
                  <a:pt x="9116291" y="1311564"/>
                </a:cubicBezTo>
                <a:cubicBezTo>
                  <a:pt x="9354897" y="1263843"/>
                  <a:pt x="9387994" y="1269230"/>
                  <a:pt x="9421091" y="1274618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3258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A117B9-23FC-5060-D4EF-7DB91D8E98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449B06E-A8DF-CC83-B9EF-0705323C4620}"/>
              </a:ext>
            </a:extLst>
          </p:cNvPr>
          <p:cNvSpPr txBox="1"/>
          <p:nvPr/>
        </p:nvSpPr>
        <p:spPr>
          <a:xfrm>
            <a:off x="267779" y="524251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情景五</a:t>
            </a:r>
          </a:p>
        </p:txBody>
      </p:sp>
      <p:sp>
        <p:nvSpPr>
          <p:cNvPr id="74" name="椭圆 73">
            <a:extLst>
              <a:ext uri="{FF2B5EF4-FFF2-40B4-BE49-F238E27FC236}">
                <a16:creationId xmlns:a16="http://schemas.microsoft.com/office/drawing/2014/main" id="{CAB82187-A2A4-1B28-5153-721DF9B203B1}"/>
              </a:ext>
            </a:extLst>
          </p:cNvPr>
          <p:cNvSpPr/>
          <p:nvPr/>
        </p:nvSpPr>
        <p:spPr>
          <a:xfrm>
            <a:off x="10322400" y="1764047"/>
            <a:ext cx="91440" cy="91440"/>
          </a:xfrm>
          <a:prstGeom prst="ellips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F52A2BDF-69BA-A234-E511-7788E263ADD9}"/>
              </a:ext>
            </a:extLst>
          </p:cNvPr>
          <p:cNvSpPr txBox="1"/>
          <p:nvPr/>
        </p:nvSpPr>
        <p:spPr>
          <a:xfrm>
            <a:off x="10413840" y="1668616"/>
            <a:ext cx="12618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/>
              <a:t>雪球的敲出观察</a:t>
            </a:r>
          </a:p>
        </p:txBody>
      </p:sp>
      <p:cxnSp>
        <p:nvCxnSpPr>
          <p:cNvPr id="78" name="直接连接符 77">
            <a:extLst>
              <a:ext uri="{FF2B5EF4-FFF2-40B4-BE49-F238E27FC236}">
                <a16:creationId xmlns:a16="http://schemas.microsoft.com/office/drawing/2014/main" id="{7E311030-D256-98D1-FF14-B565555F04D0}"/>
              </a:ext>
            </a:extLst>
          </p:cNvPr>
          <p:cNvCxnSpPr/>
          <p:nvPr/>
        </p:nvCxnSpPr>
        <p:spPr>
          <a:xfrm>
            <a:off x="10334406" y="2372032"/>
            <a:ext cx="127792" cy="0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文本框 80">
            <a:extLst>
              <a:ext uri="{FF2B5EF4-FFF2-40B4-BE49-F238E27FC236}">
                <a16:creationId xmlns:a16="http://schemas.microsoft.com/office/drawing/2014/main" id="{382AD1F4-E74E-F6B8-7642-52E2E7184C78}"/>
              </a:ext>
            </a:extLst>
          </p:cNvPr>
          <p:cNvSpPr txBox="1"/>
          <p:nvPr/>
        </p:nvSpPr>
        <p:spPr>
          <a:xfrm>
            <a:off x="10439621" y="2232216"/>
            <a:ext cx="11079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/>
              <a:t>雪球敲入观察</a:t>
            </a:r>
          </a:p>
        </p:txBody>
      </p:sp>
      <p:sp>
        <p:nvSpPr>
          <p:cNvPr id="90" name="文本框 89">
            <a:extLst>
              <a:ext uri="{FF2B5EF4-FFF2-40B4-BE49-F238E27FC236}">
                <a16:creationId xmlns:a16="http://schemas.microsoft.com/office/drawing/2014/main" id="{56D4FDE7-2AE3-1989-63DD-31BD63A0B453}"/>
              </a:ext>
            </a:extLst>
          </p:cNvPr>
          <p:cNvSpPr txBox="1"/>
          <p:nvPr/>
        </p:nvSpPr>
        <p:spPr>
          <a:xfrm>
            <a:off x="280035" y="4570730"/>
            <a:ext cx="7990840" cy="175895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zh-CN" altLang="en-US" sz="1200" dirty="0"/>
              <a:t>起息后，指数下挫并持续阴跌，到期未发生敲出，且</a:t>
            </a:r>
            <a:r>
              <a:rPr lang="zh-CN" altLang="en-US" sz="1200" dirty="0">
                <a:sym typeface="+mn-ea"/>
              </a:rPr>
              <a:t>指数期末价格为期初价格的</a:t>
            </a:r>
            <a:r>
              <a:rPr lang="en-US" altLang="zh-CN" sz="1200" b="1" dirty="0">
                <a:sym typeface="+mn-ea"/>
              </a:rPr>
              <a:t>65%</a:t>
            </a:r>
            <a:r>
              <a:rPr lang="zh-CN" altLang="en-US" sz="1200" b="1" dirty="0">
                <a:sym typeface="+mn-ea"/>
              </a:rPr>
              <a:t>，</a:t>
            </a:r>
            <a:r>
              <a:rPr lang="zh-CN" altLang="en-US" sz="1200" dirty="0"/>
              <a:t>那么：</a:t>
            </a:r>
            <a:endParaRPr lang="en-US" altLang="zh-CN" sz="1200" dirty="0"/>
          </a:p>
          <a:p>
            <a:endParaRPr lang="en-US" altLang="zh-CN" sz="1200" dirty="0"/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200" dirty="0"/>
              <a:t>早利雪球在首年未敲出，不能获得早利票息</a:t>
            </a:r>
            <a:endParaRPr lang="en-US" altLang="zh-CN" sz="1200" dirty="0"/>
          </a:p>
          <a:p>
            <a:pPr marL="171450" indent="-171450">
              <a:buFont typeface="Wingdings" panose="05000000000000000000" pitchFamily="2" charset="2"/>
              <a:buChar char="Ø"/>
            </a:pPr>
            <a:endParaRPr lang="en-US" altLang="zh-CN" sz="1200" dirty="0"/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200" dirty="0"/>
              <a:t>因为发生过敲入但未敲出，无法获得红利票息，需承担损失为</a:t>
            </a:r>
            <a:r>
              <a:rPr lang="en-US" altLang="zh-CN" sz="1200" dirty="0">
                <a:sym typeface="+mn-ea"/>
              </a:rPr>
              <a:t>65%【</a:t>
            </a:r>
            <a:r>
              <a:rPr lang="zh-CN" altLang="en-US" sz="1200" dirty="0">
                <a:sym typeface="+mn-ea"/>
              </a:rPr>
              <a:t>期末价格</a:t>
            </a:r>
            <a:r>
              <a:rPr lang="en-US" altLang="zh-CN" sz="1200" dirty="0">
                <a:sym typeface="+mn-ea"/>
              </a:rPr>
              <a:t>】- 100%【</a:t>
            </a:r>
            <a:r>
              <a:rPr lang="zh-CN" altLang="en-US" sz="1200" dirty="0">
                <a:sym typeface="+mn-ea"/>
              </a:rPr>
              <a:t>期初价格</a:t>
            </a:r>
            <a:r>
              <a:rPr lang="en-US" altLang="zh-CN" sz="1200" dirty="0">
                <a:sym typeface="+mn-ea"/>
              </a:rPr>
              <a:t>】= -</a:t>
            </a:r>
            <a:r>
              <a:rPr lang="en-US" altLang="zh-CN" sz="1200" b="1" dirty="0">
                <a:sym typeface="+mn-ea"/>
              </a:rPr>
              <a:t>35% </a:t>
            </a:r>
            <a:r>
              <a:rPr lang="zh-CN" altLang="en-US" sz="1200" dirty="0"/>
              <a:t>；</a:t>
            </a:r>
            <a:endParaRPr lang="en-US" altLang="zh-CN" sz="1200" dirty="0"/>
          </a:p>
          <a:p>
            <a:endParaRPr lang="en-US" altLang="zh-CN" sz="1200" dirty="0"/>
          </a:p>
          <a:p>
            <a:endParaRPr lang="en-US" altLang="zh-CN" sz="1200" dirty="0"/>
          </a:p>
          <a:p>
            <a:endParaRPr lang="en-US" altLang="zh-CN" sz="1200" dirty="0"/>
          </a:p>
          <a:p>
            <a:endParaRPr lang="en-US" altLang="zh-CN" sz="1200" dirty="0">
              <a:solidFill>
                <a:srgbClr val="C00000"/>
              </a:solidFill>
            </a:endParaRPr>
          </a:p>
          <a:p>
            <a:r>
              <a:rPr lang="en-US" altLang="zh-CN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*</a:t>
            </a:r>
            <a:r>
              <a:rPr lang="zh-CN" altLang="en-US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收益测算基于情景分析，预估了销售费管理费，</a:t>
            </a:r>
            <a:r>
              <a:rPr lang="zh-CN" altLang="en-US" sz="9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未计入业绩计提</a:t>
            </a:r>
            <a:r>
              <a:rPr lang="zh-CN" altLang="en-US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以及可能产生的税费的影响，仅作为参考不作为收益承诺。</a:t>
            </a:r>
            <a:endParaRPr lang="en-US" altLang="zh-CN" sz="1200" dirty="0">
              <a:solidFill>
                <a:srgbClr val="C00000"/>
              </a:solidFill>
            </a:endParaRPr>
          </a:p>
        </p:txBody>
      </p: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1D59C16E-B9F7-6C60-3B85-7AE0901DFA7B}"/>
              </a:ext>
            </a:extLst>
          </p:cNvPr>
          <p:cNvGrpSpPr/>
          <p:nvPr/>
        </p:nvGrpSpPr>
        <p:grpSpPr>
          <a:xfrm>
            <a:off x="764245" y="1264242"/>
            <a:ext cx="9490280" cy="3226777"/>
            <a:chOff x="352708" y="1314450"/>
            <a:chExt cx="9490280" cy="3226777"/>
          </a:xfrm>
        </p:grpSpPr>
        <p:cxnSp>
          <p:nvCxnSpPr>
            <p:cNvPr id="6" name="直接箭头连接符 5">
              <a:extLst>
                <a:ext uri="{FF2B5EF4-FFF2-40B4-BE49-F238E27FC236}">
                  <a16:creationId xmlns:a16="http://schemas.microsoft.com/office/drawing/2014/main" id="{8B33711A-32D9-9FA8-E52F-81CCCEF0EE01}"/>
                </a:ext>
              </a:extLst>
            </p:cNvPr>
            <p:cNvCxnSpPr/>
            <p:nvPr/>
          </p:nvCxnSpPr>
          <p:spPr>
            <a:xfrm flipV="1">
              <a:off x="366471" y="1358315"/>
              <a:ext cx="6594" cy="302465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FCC38D25-7673-3D7D-784F-F81444CB65D9}"/>
                </a:ext>
              </a:extLst>
            </p:cNvPr>
            <p:cNvCxnSpPr/>
            <p:nvPr/>
          </p:nvCxnSpPr>
          <p:spPr>
            <a:xfrm>
              <a:off x="9771191" y="1314450"/>
              <a:ext cx="28051" cy="322677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0" name="组合 49">
              <a:extLst>
                <a:ext uri="{FF2B5EF4-FFF2-40B4-BE49-F238E27FC236}">
                  <a16:creationId xmlns:a16="http://schemas.microsoft.com/office/drawing/2014/main" id="{8C37CFCB-265F-990B-A0D5-02D10B2470A1}"/>
                </a:ext>
              </a:extLst>
            </p:cNvPr>
            <p:cNvGrpSpPr/>
            <p:nvPr/>
          </p:nvGrpSpPr>
          <p:grpSpPr>
            <a:xfrm>
              <a:off x="352708" y="1636550"/>
              <a:ext cx="9490280" cy="2080503"/>
              <a:chOff x="352708" y="1636550"/>
              <a:chExt cx="9490280" cy="2080503"/>
            </a:xfrm>
          </p:grpSpPr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B4F9134E-FD7F-1478-4E77-FF22B5996084}"/>
                  </a:ext>
                </a:extLst>
              </p:cNvPr>
              <p:cNvSpPr/>
              <p:nvPr/>
            </p:nvSpPr>
            <p:spPr>
              <a:xfrm>
                <a:off x="352708" y="1636550"/>
                <a:ext cx="5550970" cy="2045689"/>
              </a:xfrm>
              <a:prstGeom prst="rect">
                <a:avLst/>
              </a:prstGeom>
              <a:solidFill>
                <a:srgbClr val="0F9ED5">
                  <a:alpha val="20000"/>
                </a:srgb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cxnSp>
            <p:nvCxnSpPr>
              <p:cNvPr id="17" name="直接连接符 16">
                <a:extLst>
                  <a:ext uri="{FF2B5EF4-FFF2-40B4-BE49-F238E27FC236}">
                    <a16:creationId xmlns:a16="http://schemas.microsoft.com/office/drawing/2014/main" id="{A0836A2A-519D-BB04-528C-49615D04BD5D}"/>
                  </a:ext>
                </a:extLst>
              </p:cNvPr>
              <p:cNvCxnSpPr/>
              <p:nvPr/>
            </p:nvCxnSpPr>
            <p:spPr>
              <a:xfrm>
                <a:off x="373066" y="3697166"/>
                <a:ext cx="9420099" cy="0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接连接符 17">
                <a:extLst>
                  <a:ext uri="{FF2B5EF4-FFF2-40B4-BE49-F238E27FC236}">
                    <a16:creationId xmlns:a16="http://schemas.microsoft.com/office/drawing/2014/main" id="{163EA659-FC7B-F934-420A-A68B8B1AC66B}"/>
                  </a:ext>
                </a:extLst>
              </p:cNvPr>
              <p:cNvCxnSpPr/>
              <p:nvPr/>
            </p:nvCxnSpPr>
            <p:spPr>
              <a:xfrm flipV="1">
                <a:off x="373066" y="1976805"/>
                <a:ext cx="9469922" cy="0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直接连接符 18">
                <a:extLst>
                  <a:ext uri="{FF2B5EF4-FFF2-40B4-BE49-F238E27FC236}">
                    <a16:creationId xmlns:a16="http://schemas.microsoft.com/office/drawing/2014/main" id="{FF553C1A-10C9-B013-331C-99540EFF6747}"/>
                  </a:ext>
                </a:extLst>
              </p:cNvPr>
              <p:cNvCxnSpPr/>
              <p:nvPr/>
            </p:nvCxnSpPr>
            <p:spPr>
              <a:xfrm>
                <a:off x="1639158" y="1976805"/>
                <a:ext cx="8142284" cy="729026"/>
              </a:xfrm>
              <a:prstGeom prst="line">
                <a:avLst/>
              </a:prstGeom>
              <a:ln>
                <a:solidFill>
                  <a:schemeClr val="accent2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直接连接符 25">
                <a:extLst>
                  <a:ext uri="{FF2B5EF4-FFF2-40B4-BE49-F238E27FC236}">
                    <a16:creationId xmlns:a16="http://schemas.microsoft.com/office/drawing/2014/main" id="{2BE60400-D369-52E8-364E-DC1E5007B30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51133" y="1966363"/>
                <a:ext cx="22859" cy="1715876"/>
              </a:xfrm>
              <a:prstGeom prst="line">
                <a:avLst/>
              </a:prstGeom>
              <a:ln>
                <a:solidFill>
                  <a:schemeClr val="bg2">
                    <a:lumMod val="90000"/>
                  </a:schemeClr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直接连接符 27">
                <a:extLst>
                  <a:ext uri="{FF2B5EF4-FFF2-40B4-BE49-F238E27FC236}">
                    <a16:creationId xmlns:a16="http://schemas.microsoft.com/office/drawing/2014/main" id="{EB5EFC23-92E0-D10F-AE46-57A6379CE32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42646" y="1976805"/>
                <a:ext cx="0" cy="1694529"/>
              </a:xfrm>
              <a:prstGeom prst="line">
                <a:avLst/>
              </a:prstGeom>
              <a:ln>
                <a:solidFill>
                  <a:schemeClr val="bg2">
                    <a:lumMod val="90000"/>
                  </a:schemeClr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接连接符 28">
                <a:extLst>
                  <a:ext uri="{FF2B5EF4-FFF2-40B4-BE49-F238E27FC236}">
                    <a16:creationId xmlns:a16="http://schemas.microsoft.com/office/drawing/2014/main" id="{8A25A407-FCC1-785F-0804-2697A419A6E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98381" y="1976805"/>
                <a:ext cx="0" cy="1720361"/>
              </a:xfrm>
              <a:prstGeom prst="line">
                <a:avLst/>
              </a:prstGeom>
              <a:ln>
                <a:solidFill>
                  <a:schemeClr val="bg2">
                    <a:lumMod val="90000"/>
                  </a:schemeClr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接连接符 29">
                <a:extLst>
                  <a:ext uri="{FF2B5EF4-FFF2-40B4-BE49-F238E27FC236}">
                    <a16:creationId xmlns:a16="http://schemas.microsoft.com/office/drawing/2014/main" id="{605987B0-EF7D-BF7D-CD86-1638F07237D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20107" y="2035419"/>
                <a:ext cx="0" cy="1681634"/>
              </a:xfrm>
              <a:prstGeom prst="line">
                <a:avLst/>
              </a:prstGeom>
              <a:ln>
                <a:solidFill>
                  <a:schemeClr val="bg2">
                    <a:lumMod val="90000"/>
                  </a:schemeClr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接连接符 31">
                <a:extLst>
                  <a:ext uri="{FF2B5EF4-FFF2-40B4-BE49-F238E27FC236}">
                    <a16:creationId xmlns:a16="http://schemas.microsoft.com/office/drawing/2014/main" id="{704BAA53-7F96-440D-3893-11C5F6F41F5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80240" y="2094035"/>
                <a:ext cx="0" cy="1603131"/>
              </a:xfrm>
              <a:prstGeom prst="line">
                <a:avLst/>
              </a:prstGeom>
              <a:ln>
                <a:solidFill>
                  <a:schemeClr val="bg2">
                    <a:lumMod val="90000"/>
                  </a:schemeClr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接连接符 32">
                <a:extLst>
                  <a:ext uri="{FF2B5EF4-FFF2-40B4-BE49-F238E27FC236}">
                    <a16:creationId xmlns:a16="http://schemas.microsoft.com/office/drawing/2014/main" id="{ED024F85-4DEF-22A8-658A-09D2DEE274A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49215" y="2104293"/>
                <a:ext cx="0" cy="1592873"/>
              </a:xfrm>
              <a:prstGeom prst="line">
                <a:avLst/>
              </a:prstGeom>
              <a:ln>
                <a:solidFill>
                  <a:schemeClr val="bg2">
                    <a:lumMod val="90000"/>
                  </a:schemeClr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接连接符 38">
                <a:extLst>
                  <a:ext uri="{FF2B5EF4-FFF2-40B4-BE49-F238E27FC236}">
                    <a16:creationId xmlns:a16="http://schemas.microsoft.com/office/drawing/2014/main" id="{9E40FE2B-64DC-AB2E-9B41-064D08BD87F2}"/>
                  </a:ext>
                </a:extLst>
              </p:cNvPr>
              <p:cNvCxnSpPr/>
              <p:nvPr/>
            </p:nvCxnSpPr>
            <p:spPr>
              <a:xfrm>
                <a:off x="9781442" y="2705831"/>
                <a:ext cx="0" cy="483210"/>
              </a:xfrm>
              <a:prstGeom prst="line">
                <a:avLst/>
              </a:prstGeom>
              <a:ln>
                <a:solidFill>
                  <a:schemeClr val="bg2">
                    <a:lumMod val="90000"/>
                  </a:schemeClr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9" name="椭圆 58">
                <a:extLst>
                  <a:ext uri="{FF2B5EF4-FFF2-40B4-BE49-F238E27FC236}">
                    <a16:creationId xmlns:a16="http://schemas.microsoft.com/office/drawing/2014/main" id="{1EA0A8CC-EB29-E15D-3917-D7D8FE30B5DF}"/>
                  </a:ext>
                </a:extLst>
              </p:cNvPr>
              <p:cNvSpPr/>
              <p:nvPr/>
            </p:nvSpPr>
            <p:spPr>
              <a:xfrm>
                <a:off x="1628273" y="1941359"/>
                <a:ext cx="45719" cy="45719"/>
              </a:xfrm>
              <a:prstGeom prst="ellipse">
                <a:avLst/>
              </a:prstGeom>
              <a:ln>
                <a:solidFill>
                  <a:schemeClr val="accent2"/>
                </a:solidFill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" name="椭圆 59">
                <a:extLst>
                  <a:ext uri="{FF2B5EF4-FFF2-40B4-BE49-F238E27FC236}">
                    <a16:creationId xmlns:a16="http://schemas.microsoft.com/office/drawing/2014/main" id="{CC153901-C6B9-6D55-6A17-DAF2F3CF223D}"/>
                  </a:ext>
                </a:extLst>
              </p:cNvPr>
              <p:cNvSpPr/>
              <p:nvPr/>
            </p:nvSpPr>
            <p:spPr>
              <a:xfrm>
                <a:off x="2103885" y="2027230"/>
                <a:ext cx="45719" cy="45719"/>
              </a:xfrm>
              <a:prstGeom prst="ellipse">
                <a:avLst/>
              </a:prstGeom>
              <a:ln>
                <a:solidFill>
                  <a:schemeClr val="accent2"/>
                </a:solidFill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" name="椭圆 60">
                <a:extLst>
                  <a:ext uri="{FF2B5EF4-FFF2-40B4-BE49-F238E27FC236}">
                    <a16:creationId xmlns:a16="http://schemas.microsoft.com/office/drawing/2014/main" id="{C6C8BA43-7B40-5915-28BC-58116E12B934}"/>
                  </a:ext>
                </a:extLst>
              </p:cNvPr>
              <p:cNvSpPr/>
              <p:nvPr/>
            </p:nvSpPr>
            <p:spPr>
              <a:xfrm>
                <a:off x="2572859" y="2050089"/>
                <a:ext cx="45719" cy="45719"/>
              </a:xfrm>
              <a:prstGeom prst="ellipse">
                <a:avLst/>
              </a:prstGeom>
              <a:ln>
                <a:solidFill>
                  <a:schemeClr val="accent2"/>
                </a:solidFill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2" name="椭圆 61">
                <a:extLst>
                  <a:ext uri="{FF2B5EF4-FFF2-40B4-BE49-F238E27FC236}">
                    <a16:creationId xmlns:a16="http://schemas.microsoft.com/office/drawing/2014/main" id="{3A32D029-F8CA-10B1-9B05-6AA417C10246}"/>
                  </a:ext>
                </a:extLst>
              </p:cNvPr>
              <p:cNvSpPr/>
              <p:nvPr/>
            </p:nvSpPr>
            <p:spPr>
              <a:xfrm>
                <a:off x="3003496" y="2094035"/>
                <a:ext cx="45719" cy="45719"/>
              </a:xfrm>
              <a:prstGeom prst="ellipse">
                <a:avLst/>
              </a:prstGeom>
              <a:ln>
                <a:solidFill>
                  <a:schemeClr val="accent2"/>
                </a:solidFill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3" name="椭圆 62">
                <a:extLst>
                  <a:ext uri="{FF2B5EF4-FFF2-40B4-BE49-F238E27FC236}">
                    <a16:creationId xmlns:a16="http://schemas.microsoft.com/office/drawing/2014/main" id="{61C9BD78-4684-F18C-1BD2-10BC4804A86F}"/>
                  </a:ext>
                </a:extLst>
              </p:cNvPr>
              <p:cNvSpPr/>
              <p:nvPr/>
            </p:nvSpPr>
            <p:spPr>
              <a:xfrm>
                <a:off x="9302217" y="2645729"/>
                <a:ext cx="45719" cy="45719"/>
              </a:xfrm>
              <a:prstGeom prst="ellipse">
                <a:avLst/>
              </a:prstGeom>
              <a:ln>
                <a:solidFill>
                  <a:schemeClr val="accent2"/>
                </a:solidFill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4" name="椭圆 63">
                <a:extLst>
                  <a:ext uri="{FF2B5EF4-FFF2-40B4-BE49-F238E27FC236}">
                    <a16:creationId xmlns:a16="http://schemas.microsoft.com/office/drawing/2014/main" id="{A0BFE7D8-034F-0B16-31AA-7F2C073BAB29}"/>
                  </a:ext>
                </a:extLst>
              </p:cNvPr>
              <p:cNvSpPr/>
              <p:nvPr/>
            </p:nvSpPr>
            <p:spPr>
              <a:xfrm>
                <a:off x="9764206" y="2693413"/>
                <a:ext cx="45719" cy="45719"/>
              </a:xfrm>
              <a:prstGeom prst="ellipse">
                <a:avLst/>
              </a:prstGeom>
              <a:ln>
                <a:solidFill>
                  <a:schemeClr val="accent2"/>
                </a:solidFill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8" name="椭圆 87">
                <a:extLst>
                  <a:ext uri="{FF2B5EF4-FFF2-40B4-BE49-F238E27FC236}">
                    <a16:creationId xmlns:a16="http://schemas.microsoft.com/office/drawing/2014/main" id="{C7D621F5-A28B-F171-7729-47F794A6F48C}"/>
                  </a:ext>
                </a:extLst>
              </p:cNvPr>
              <p:cNvSpPr/>
              <p:nvPr/>
            </p:nvSpPr>
            <p:spPr>
              <a:xfrm>
                <a:off x="352708" y="1953945"/>
                <a:ext cx="45719" cy="45719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" name="椭圆 2">
                <a:extLst>
                  <a:ext uri="{FF2B5EF4-FFF2-40B4-BE49-F238E27FC236}">
                    <a16:creationId xmlns:a16="http://schemas.microsoft.com/office/drawing/2014/main" id="{E24C637C-FBBA-EAFF-128A-16F2E98F749F}"/>
                  </a:ext>
                </a:extLst>
              </p:cNvPr>
              <p:cNvSpPr/>
              <p:nvPr/>
            </p:nvSpPr>
            <p:spPr>
              <a:xfrm>
                <a:off x="9771801" y="3671334"/>
                <a:ext cx="45719" cy="45719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13" name="矩形 12">
            <a:extLst>
              <a:ext uri="{FF2B5EF4-FFF2-40B4-BE49-F238E27FC236}">
                <a16:creationId xmlns:a16="http://schemas.microsoft.com/office/drawing/2014/main" id="{5FA455FD-30D2-B962-FB8B-458CA23D90DB}"/>
              </a:ext>
            </a:extLst>
          </p:cNvPr>
          <p:cNvSpPr/>
          <p:nvPr/>
        </p:nvSpPr>
        <p:spPr>
          <a:xfrm>
            <a:off x="10334352" y="2795817"/>
            <a:ext cx="159654" cy="164592"/>
          </a:xfrm>
          <a:prstGeom prst="rect">
            <a:avLst/>
          </a:prstGeom>
          <a:solidFill>
            <a:srgbClr val="0F9ED5">
              <a:alpha val="2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E0A4B02-5DAB-8466-F9B9-DAA714B68166}"/>
              </a:ext>
            </a:extLst>
          </p:cNvPr>
          <p:cNvSpPr txBox="1"/>
          <p:nvPr/>
        </p:nvSpPr>
        <p:spPr>
          <a:xfrm>
            <a:off x="10494006" y="2739132"/>
            <a:ext cx="6463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/>
              <a:t>早利期</a:t>
            </a: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40163848-5D29-B7C4-A259-1A721DDE1B7B}"/>
              </a:ext>
            </a:extLst>
          </p:cNvPr>
          <p:cNvSpPr/>
          <p:nvPr/>
        </p:nvSpPr>
        <p:spPr>
          <a:xfrm>
            <a:off x="794327" y="1939636"/>
            <a:ext cx="9430328" cy="1976582"/>
          </a:xfrm>
          <a:custGeom>
            <a:avLst/>
            <a:gdLst>
              <a:gd name="csX0" fmla="*/ 0 w 9430328"/>
              <a:gd name="csY0" fmla="*/ 0 h 1976582"/>
              <a:gd name="csX1" fmla="*/ 461818 w 9430328"/>
              <a:gd name="csY1" fmla="*/ 212437 h 1976582"/>
              <a:gd name="csX2" fmla="*/ 1043709 w 9430328"/>
              <a:gd name="csY2" fmla="*/ 286328 h 1976582"/>
              <a:gd name="csX3" fmla="*/ 1450109 w 9430328"/>
              <a:gd name="csY3" fmla="*/ 581891 h 1976582"/>
              <a:gd name="csX4" fmla="*/ 1958109 w 9430328"/>
              <a:gd name="csY4" fmla="*/ 665019 h 1976582"/>
              <a:gd name="csX5" fmla="*/ 2623128 w 9430328"/>
              <a:gd name="csY5" fmla="*/ 1062182 h 1976582"/>
              <a:gd name="csX6" fmla="*/ 4341091 w 9430328"/>
              <a:gd name="csY6" fmla="*/ 877455 h 1976582"/>
              <a:gd name="csX7" fmla="*/ 5578764 w 9430328"/>
              <a:gd name="csY7" fmla="*/ 1487055 h 1976582"/>
              <a:gd name="csX8" fmla="*/ 6890328 w 9430328"/>
              <a:gd name="csY8" fmla="*/ 1874982 h 1976582"/>
              <a:gd name="csX9" fmla="*/ 9430328 w 9430328"/>
              <a:gd name="csY9" fmla="*/ 1976582 h 1976582"/>
              <a:gd name="csX10" fmla="*/ 9430328 w 9430328"/>
              <a:gd name="csY10" fmla="*/ 1976582 h 197658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9430328" h="1976582">
                <a:moveTo>
                  <a:pt x="0" y="0"/>
                </a:moveTo>
                <a:cubicBezTo>
                  <a:pt x="143933" y="82358"/>
                  <a:pt x="287867" y="164716"/>
                  <a:pt x="461818" y="212437"/>
                </a:cubicBezTo>
                <a:cubicBezTo>
                  <a:pt x="635769" y="260158"/>
                  <a:pt x="878994" y="224752"/>
                  <a:pt x="1043709" y="286328"/>
                </a:cubicBezTo>
                <a:cubicBezTo>
                  <a:pt x="1208424" y="347904"/>
                  <a:pt x="1297709" y="518776"/>
                  <a:pt x="1450109" y="581891"/>
                </a:cubicBezTo>
                <a:cubicBezTo>
                  <a:pt x="1602509" y="645006"/>
                  <a:pt x="1762606" y="584971"/>
                  <a:pt x="1958109" y="665019"/>
                </a:cubicBezTo>
                <a:cubicBezTo>
                  <a:pt x="2153612" y="745067"/>
                  <a:pt x="2225964" y="1026776"/>
                  <a:pt x="2623128" y="1062182"/>
                </a:cubicBezTo>
                <a:cubicBezTo>
                  <a:pt x="3020292" y="1097588"/>
                  <a:pt x="3848485" y="806643"/>
                  <a:pt x="4341091" y="877455"/>
                </a:cubicBezTo>
                <a:cubicBezTo>
                  <a:pt x="4833697" y="948267"/>
                  <a:pt x="5153891" y="1320801"/>
                  <a:pt x="5578764" y="1487055"/>
                </a:cubicBezTo>
                <a:cubicBezTo>
                  <a:pt x="6003637" y="1653310"/>
                  <a:pt x="6248401" y="1793394"/>
                  <a:pt x="6890328" y="1874982"/>
                </a:cubicBezTo>
                <a:cubicBezTo>
                  <a:pt x="7532255" y="1956570"/>
                  <a:pt x="9430328" y="1976582"/>
                  <a:pt x="9430328" y="1976582"/>
                </a:cubicBezTo>
                <a:lnTo>
                  <a:pt x="9430328" y="1976582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94310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753</TotalTime>
  <Words>792</Words>
  <Application>Microsoft Office PowerPoint</Application>
  <PresentationFormat>宽屏</PresentationFormat>
  <Paragraphs>100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5" baseType="lpstr">
      <vt:lpstr>等线</vt:lpstr>
      <vt:lpstr>等线 Light</vt:lpstr>
      <vt:lpstr>楷体</vt:lpstr>
      <vt:lpstr>Arial</vt:lpstr>
      <vt:lpstr>Wingdings</vt:lpstr>
      <vt:lpstr>Office 主题​​</vt:lpstr>
      <vt:lpstr>波动生息与雪球期权投资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Liao Song</dc:creator>
  <cp:lastModifiedBy>Zhi Shen</cp:lastModifiedBy>
  <cp:revision>26</cp:revision>
  <dcterms:created xsi:type="dcterms:W3CDTF">2026-02-27T06:35:00Z</dcterms:created>
  <dcterms:modified xsi:type="dcterms:W3CDTF">2026-05-12T08:31:07Z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2052-12.1.0.24657</vt:lpwstr>
  </property>
  <property fmtid="{D5CDD505-2E9C-101B-9397-08002B2CF9AE}" pid="3" name="ICV">
    <vt:lpwstr>F3CBE62844D9431495AAB9DF49EB70C0_12</vt:lpwstr>
  </property>
</Properties>
</file>