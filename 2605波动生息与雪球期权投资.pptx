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70" r:id="rId4"/>
    <p:sldId id="272" r:id="rId5"/>
    <p:sldId id="271" r:id="rId6"/>
    <p:sldId id="267" r:id="rId7"/>
    <p:sldId id="260" r:id="rId8"/>
    <p:sldId id="274" r:id="rId9"/>
    <p:sldId id="276" r:id="rId10"/>
    <p:sldId id="275" r:id="rId11"/>
    <p:sldId id="27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00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87951512650244"/>
          <c:y val="0.10537689340364417"/>
          <c:w val="0.8061578114148199"/>
          <c:h val="0.588870600512285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历史行情!$C$4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cat>
          <c:val>
            <c:numRef>
              <c:f>历史行情!$C$5:$C$100</c:f>
              <c:numCache>
                <c:formatCode>General</c:formatCode>
                <c:ptCount val="96"/>
                <c:pt idx="0">
                  <c:v>0.31043106834556611</c:v>
                </c:pt>
                <c:pt idx="1">
                  <c:v>0.33744503410529281</c:v>
                </c:pt>
                <c:pt idx="2">
                  <c:v>0.41780550076205769</c:v>
                </c:pt>
                <c:pt idx="3">
                  <c:v>0.51191010042791862</c:v>
                </c:pt>
                <c:pt idx="4">
                  <c:v>0.50801115233279726</c:v>
                </c:pt>
                <c:pt idx="5">
                  <c:v>0.45892763533257908</c:v>
                </c:pt>
                <c:pt idx="6">
                  <c:v>0.48178535482707741</c:v>
                </c:pt>
                <c:pt idx="7">
                  <c:v>0.41334852432939961</c:v>
                </c:pt>
                <c:pt idx="8">
                  <c:v>0.41314246072492133</c:v>
                </c:pt>
                <c:pt idx="9">
                  <c:v>0.38805304306612975</c:v>
                </c:pt>
                <c:pt idx="10">
                  <c:v>0.40559073710229659</c:v>
                </c:pt>
                <c:pt idx="11">
                  <c:v>0.42235502375950901</c:v>
                </c:pt>
                <c:pt idx="12">
                  <c:v>0.38436229427200369</c:v>
                </c:pt>
                <c:pt idx="13">
                  <c:v>0.34952032669194982</c:v>
                </c:pt>
                <c:pt idx="14">
                  <c:v>0.36672814615732485</c:v>
                </c:pt>
                <c:pt idx="15">
                  <c:v>0.39477597270720238</c:v>
                </c:pt>
                <c:pt idx="16">
                  <c:v>0.41523786304040111</c:v>
                </c:pt>
                <c:pt idx="17">
                  <c:v>0.42202080226749855</c:v>
                </c:pt>
                <c:pt idx="18">
                  <c:v>0.49826453003810622</c:v>
                </c:pt>
                <c:pt idx="19">
                  <c:v>0.46655270529754528</c:v>
                </c:pt>
                <c:pt idx="20">
                  <c:v>0.49713229339876458</c:v>
                </c:pt>
                <c:pt idx="21">
                  <c:v>0.56044065274943822</c:v>
                </c:pt>
                <c:pt idx="22">
                  <c:v>0.52591906030706725</c:v>
                </c:pt>
                <c:pt idx="23">
                  <c:v>0.49458080954905081</c:v>
                </c:pt>
                <c:pt idx="24">
                  <c:v>0.48996533089059663</c:v>
                </c:pt>
                <c:pt idx="25">
                  <c:v>0.54736028724781005</c:v>
                </c:pt>
                <c:pt idx="26">
                  <c:v>0.53417282407336064</c:v>
                </c:pt>
                <c:pt idx="27">
                  <c:v>0.54436347898893866</c:v>
                </c:pt>
                <c:pt idx="28">
                  <c:v>0.55124602635088626</c:v>
                </c:pt>
                <c:pt idx="29">
                  <c:v>0.51427786162935696</c:v>
                </c:pt>
                <c:pt idx="30">
                  <c:v>0.51650686356520237</c:v>
                </c:pt>
                <c:pt idx="31">
                  <c:v>0.53585352127139763</c:v>
                </c:pt>
                <c:pt idx="32">
                  <c:v>0.48007484046876736</c:v>
                </c:pt>
                <c:pt idx="33">
                  <c:v>0.44336323558284985</c:v>
                </c:pt>
                <c:pt idx="34">
                  <c:v>0.45964451172923138</c:v>
                </c:pt>
                <c:pt idx="35">
                  <c:v>0.46429984078501546</c:v>
                </c:pt>
                <c:pt idx="36">
                  <c:v>0.43703907921181939</c:v>
                </c:pt>
                <c:pt idx="37">
                  <c:v>0.45765422826835633</c:v>
                </c:pt>
                <c:pt idx="38">
                  <c:v>0.51951540406470775</c:v>
                </c:pt>
                <c:pt idx="39">
                  <c:v>0.56375814605035013</c:v>
                </c:pt>
                <c:pt idx="40">
                  <c:v>0.61043407640235448</c:v>
                </c:pt>
                <c:pt idx="41">
                  <c:v>0.59058209844274534</c:v>
                </c:pt>
                <c:pt idx="42">
                  <c:v>0.60710038131398747</c:v>
                </c:pt>
                <c:pt idx="43">
                  <c:v>0.58551087611534247</c:v>
                </c:pt>
                <c:pt idx="44">
                  <c:v>0.59053474363667924</c:v>
                </c:pt>
                <c:pt idx="45">
                  <c:v>0.57652640070968719</c:v>
                </c:pt>
                <c:pt idx="46">
                  <c:v>0.57569346237192309</c:v>
                </c:pt>
                <c:pt idx="47">
                  <c:v>0.61024305738378126</c:v>
                </c:pt>
                <c:pt idx="48">
                  <c:v>0.59407319784614221</c:v>
                </c:pt>
                <c:pt idx="49">
                  <c:v>0.55755471211263008</c:v>
                </c:pt>
                <c:pt idx="50">
                  <c:v>0.55805158153805601</c:v>
                </c:pt>
                <c:pt idx="51">
                  <c:v>0.59802599892726216</c:v>
                </c:pt>
                <c:pt idx="52">
                  <c:v>0.56701425439927433</c:v>
                </c:pt>
                <c:pt idx="53">
                  <c:v>0.59248245358450546</c:v>
                </c:pt>
                <c:pt idx="54">
                  <c:v>0.58905747099879902</c:v>
                </c:pt>
                <c:pt idx="55">
                  <c:v>0.63654518072009947</c:v>
                </c:pt>
                <c:pt idx="56">
                  <c:v>0.61966933243904498</c:v>
                </c:pt>
                <c:pt idx="57">
                  <c:v>0.64207134844910174</c:v>
                </c:pt>
                <c:pt idx="58">
                  <c:v>0.65014288167374457</c:v>
                </c:pt>
                <c:pt idx="59">
                  <c:v>0.65464795483716176</c:v>
                </c:pt>
                <c:pt idx="60">
                  <c:v>0.56285502960645706</c:v>
                </c:pt>
                <c:pt idx="61">
                  <c:v>0.57449902736444214</c:v>
                </c:pt>
                <c:pt idx="62">
                  <c:v>0.61610283002053257</c:v>
                </c:pt>
                <c:pt idx="63">
                  <c:v>0.63978538115045591</c:v>
                </c:pt>
                <c:pt idx="64">
                  <c:v>0.61538795455309347</c:v>
                </c:pt>
                <c:pt idx="65">
                  <c:v>0.63003556755854728</c:v>
                </c:pt>
                <c:pt idx="66">
                  <c:v>0.66579940027950524</c:v>
                </c:pt>
                <c:pt idx="67">
                  <c:v>0.68192903530481574</c:v>
                </c:pt>
                <c:pt idx="68">
                  <c:v>0.65654032527558059</c:v>
                </c:pt>
                <c:pt idx="69">
                  <c:v>0.67864756314660424</c:v>
                </c:pt>
                <c:pt idx="70">
                  <c:v>0.68069810420385191</c:v>
                </c:pt>
                <c:pt idx="71">
                  <c:v>0.68803005583421217</c:v>
                </c:pt>
                <c:pt idx="72">
                  <c:v>0.7112362492994927</c:v>
                </c:pt>
                <c:pt idx="73">
                  <c:v>0.66969586958873439</c:v>
                </c:pt>
                <c:pt idx="74">
                  <c:v>0.68583898900145746</c:v>
                </c:pt>
                <c:pt idx="75">
                  <c:v>0.70039263453828227</c:v>
                </c:pt>
                <c:pt idx="76">
                  <c:v>0.71201373676876412</c:v>
                </c:pt>
                <c:pt idx="77">
                  <c:v>0.72428181543991998</c:v>
                </c:pt>
                <c:pt idx="78">
                  <c:v>0.75505758774527876</c:v>
                </c:pt>
                <c:pt idx="79">
                  <c:v>0.74580839083191885</c:v>
                </c:pt>
                <c:pt idx="80">
                  <c:v>0.72885207193521673</c:v>
                </c:pt>
                <c:pt idx="81">
                  <c:v>0.65612797515543309</c:v>
                </c:pt>
                <c:pt idx="82">
                  <c:v>0.65671570682631275</c:v>
                </c:pt>
                <c:pt idx="83">
                  <c:v>0.67250017742148771</c:v>
                </c:pt>
                <c:pt idx="84">
                  <c:v>0.6991091671107742</c:v>
                </c:pt>
                <c:pt idx="85">
                  <c:v>0.70849868951210138</c:v>
                </c:pt>
                <c:pt idx="86">
                  <c:v>0.72523017061863326</c:v>
                </c:pt>
                <c:pt idx="87">
                  <c:v>0.72203152547125793</c:v>
                </c:pt>
                <c:pt idx="88">
                  <c:v>0.7186999057739526</c:v>
                </c:pt>
                <c:pt idx="89">
                  <c:v>0.69344524028909615</c:v>
                </c:pt>
                <c:pt idx="90">
                  <c:v>0.70464281522823391</c:v>
                </c:pt>
                <c:pt idx="91">
                  <c:v>0.69002319989534977</c:v>
                </c:pt>
                <c:pt idx="92">
                  <c:v>0.6425783041808939</c:v>
                </c:pt>
                <c:pt idx="93">
                  <c:v>0.58493867181255632</c:v>
                </c:pt>
                <c:pt idx="94">
                  <c:v>0.61038484467453136</c:v>
                </c:pt>
                <c:pt idx="95">
                  <c:v>0.59474515087463076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89-4D6D-8FDE-85883D3B5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703808"/>
        <c:axId val="155682208"/>
      </c:barChart>
      <c:dateAx>
        <c:axId val="155703808"/>
        <c:scaling>
          <c:orientation val="minMax"/>
        </c:scaling>
        <c:delete val="1"/>
        <c:axPos val="b"/>
        <c:numFmt formatCode="yyyy\-mm\-dd" sourceLinked="1"/>
        <c:majorTickMark val="none"/>
        <c:minorTickMark val="none"/>
        <c:tickLblPos val="nextTo"/>
        <c:crossAx val="155682208"/>
        <c:crosses val="autoZero"/>
        <c:auto val="1"/>
        <c:lblOffset val="100"/>
        <c:baseTimeUnit val="days"/>
      </c:dateAx>
      <c:valAx>
        <c:axId val="155682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70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952964367250633E-2"/>
          <c:y val="2.4751248767680381E-2"/>
          <c:w val="0.9132166851391742"/>
          <c:h val="0.92388564032732012"/>
        </c:manualLayout>
      </c:layout>
      <c:scatterChart>
        <c:scatterStyle val="smoothMarker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Pt>
            <c:idx val="58"/>
            <c:marker>
              <c:symbol val="circle"/>
              <c:size val="5"/>
              <c:spPr>
                <a:noFill/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1EC-4C18-9350-977BDF637D39}"/>
              </c:ext>
            </c:extLst>
          </c:dPt>
          <c:xVal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xVal>
          <c:yVal>
            <c:numRef>
              <c:f>历史行情!$B$5:$B$100</c:f>
              <c:numCache>
                <c:formatCode>General</c:formatCode>
                <c:ptCount val="96"/>
                <c:pt idx="0">
                  <c:v>5151.7516999999998</c:v>
                </c:pt>
                <c:pt idx="1">
                  <c:v>5089.2281999999996</c:v>
                </c:pt>
                <c:pt idx="2">
                  <c:v>4925.299</c:v>
                </c:pt>
                <c:pt idx="3">
                  <c:v>4751.3130000000001</c:v>
                </c:pt>
                <c:pt idx="4">
                  <c:v>4760.4826000000003</c:v>
                </c:pt>
                <c:pt idx="5">
                  <c:v>4850.2745999999997</c:v>
                </c:pt>
                <c:pt idx="6">
                  <c:v>4811.1695</c:v>
                </c:pt>
                <c:pt idx="7">
                  <c:v>4933.7359999999999</c:v>
                </c:pt>
                <c:pt idx="8">
                  <c:v>4934.4583000000002</c:v>
                </c:pt>
                <c:pt idx="9">
                  <c:v>4978.8478999999998</c:v>
                </c:pt>
                <c:pt idx="10">
                  <c:v>4948.6702999999998</c:v>
                </c:pt>
                <c:pt idx="11">
                  <c:v>4921.5646999999999</c:v>
                </c:pt>
                <c:pt idx="12">
                  <c:v>4985.5627000000004</c:v>
                </c:pt>
                <c:pt idx="13">
                  <c:v>5043.1480000000001</c:v>
                </c:pt>
                <c:pt idx="14">
                  <c:v>5015.3406000000004</c:v>
                </c:pt>
                <c:pt idx="15">
                  <c:v>4973.3509000000004</c:v>
                </c:pt>
                <c:pt idx="16">
                  <c:v>4945.9829</c:v>
                </c:pt>
                <c:pt idx="17">
                  <c:v>4941.0676000000003</c:v>
                </c:pt>
                <c:pt idx="18">
                  <c:v>4837.4034000000001</c:v>
                </c:pt>
                <c:pt idx="19">
                  <c:v>4894.2384000000002</c:v>
                </c:pt>
                <c:pt idx="20">
                  <c:v>4862.1394</c:v>
                </c:pt>
                <c:pt idx="21">
                  <c:v>4769.2677999999996</c:v>
                </c:pt>
                <c:pt idx="22">
                  <c:v>4835.8782000000001</c:v>
                </c:pt>
                <c:pt idx="23">
                  <c:v>4888.3901999999998</c:v>
                </c:pt>
                <c:pt idx="24">
                  <c:v>4898.1571999999996</c:v>
                </c:pt>
                <c:pt idx="25">
                  <c:v>4801.6094000000003</c:v>
                </c:pt>
                <c:pt idx="26">
                  <c:v>4827.0433000000003</c:v>
                </c:pt>
                <c:pt idx="27">
                  <c:v>4813.2703000000001</c:v>
                </c:pt>
                <c:pt idx="28">
                  <c:v>4805.6099000000004</c:v>
                </c:pt>
                <c:pt idx="29">
                  <c:v>4869.4587000000001</c:v>
                </c:pt>
                <c:pt idx="30">
                  <c:v>4869.4112999999998</c:v>
                </c:pt>
                <c:pt idx="31">
                  <c:v>4843.0623999999998</c:v>
                </c:pt>
                <c:pt idx="32">
                  <c:v>4933.7262000000001</c:v>
                </c:pt>
                <c:pt idx="33">
                  <c:v>4992.8293999999996</c:v>
                </c:pt>
                <c:pt idx="34">
                  <c:v>4972.1324000000004</c:v>
                </c:pt>
                <c:pt idx="35">
                  <c:v>4970.0132999999996</c:v>
                </c:pt>
                <c:pt idx="36">
                  <c:v>5013.5218999999997</c:v>
                </c:pt>
                <c:pt idx="37">
                  <c:v>4991.6598000000004</c:v>
                </c:pt>
                <c:pt idx="38">
                  <c:v>4917.1616999999997</c:v>
                </c:pt>
                <c:pt idx="39">
                  <c:v>4867.3186999999998</c:v>
                </c:pt>
                <c:pt idx="40">
                  <c:v>4807.6977999999999</c:v>
                </c:pt>
                <c:pt idx="41">
                  <c:v>4855.9402</c:v>
                </c:pt>
                <c:pt idx="42">
                  <c:v>4821.7674999999999</c:v>
                </c:pt>
                <c:pt idx="43">
                  <c:v>4853.1957000000002</c:v>
                </c:pt>
                <c:pt idx="44">
                  <c:v>4849.4277000000002</c:v>
                </c:pt>
                <c:pt idx="45">
                  <c:v>4877.3698000000004</c:v>
                </c:pt>
                <c:pt idx="46">
                  <c:v>4883.8280000000004</c:v>
                </c:pt>
                <c:pt idx="47">
                  <c:v>4833.9281000000001</c:v>
                </c:pt>
                <c:pt idx="48">
                  <c:v>4866.3825999999999</c:v>
                </c:pt>
                <c:pt idx="49">
                  <c:v>4929.9408999999996</c:v>
                </c:pt>
                <c:pt idx="50">
                  <c:v>4936.1917999999996</c:v>
                </c:pt>
                <c:pt idx="51">
                  <c:v>4883.8369000000002</c:v>
                </c:pt>
                <c:pt idx="52">
                  <c:v>4940.1089000000002</c:v>
                </c:pt>
                <c:pt idx="53">
                  <c:v>4913.6122999999998</c:v>
                </c:pt>
                <c:pt idx="54">
                  <c:v>4932.1084000000001</c:v>
                </c:pt>
                <c:pt idx="55">
                  <c:v>4874.7753000000002</c:v>
                </c:pt>
                <c:pt idx="56">
                  <c:v>4922.7232000000004</c:v>
                </c:pt>
                <c:pt idx="57">
                  <c:v>4910.1845999999996</c:v>
                </c:pt>
                <c:pt idx="58">
                  <c:v>4928.0155999999997</c:v>
                </c:pt>
                <c:pt idx="59">
                  <c:v>4959.7254000000003</c:v>
                </c:pt>
                <c:pt idx="60">
                  <c:v>4979.5235000000002</c:v>
                </c:pt>
                <c:pt idx="61">
                  <c:v>4963.0983999999999</c:v>
                </c:pt>
                <c:pt idx="62">
                  <c:v>4898.1643999999997</c:v>
                </c:pt>
                <c:pt idx="63">
                  <c:v>4864.1379999999999</c:v>
                </c:pt>
                <c:pt idx="64">
                  <c:v>4908.7700999999997</c:v>
                </c:pt>
                <c:pt idx="65">
                  <c:v>4890.6850999999997</c:v>
                </c:pt>
                <c:pt idx="66">
                  <c:v>4839.8456999999999</c:v>
                </c:pt>
                <c:pt idx="67">
                  <c:v>4821.1118999999999</c:v>
                </c:pt>
                <c:pt idx="68">
                  <c:v>4868.7419</c:v>
                </c:pt>
                <c:pt idx="69">
                  <c:v>4842.3458000000001</c:v>
                </c:pt>
                <c:pt idx="70">
                  <c:v>4848.1795000000002</c:v>
                </c:pt>
                <c:pt idx="71">
                  <c:v>4846.7443999999996</c:v>
                </c:pt>
                <c:pt idx="72">
                  <c:v>4821.1925000000001</c:v>
                </c:pt>
                <c:pt idx="73">
                  <c:v>4898.6529</c:v>
                </c:pt>
                <c:pt idx="74">
                  <c:v>4888.3748999999998</c:v>
                </c:pt>
                <c:pt idx="75">
                  <c:v>4882.3777</c:v>
                </c:pt>
                <c:pt idx="76">
                  <c:v>4883.3206</c:v>
                </c:pt>
                <c:pt idx="77">
                  <c:v>4885.7543999999998</c:v>
                </c:pt>
                <c:pt idx="78">
                  <c:v>4837.6184999999996</c:v>
                </c:pt>
                <c:pt idx="79">
                  <c:v>4890.0574999999999</c:v>
                </c:pt>
                <c:pt idx="80">
                  <c:v>4912.3990000000003</c:v>
                </c:pt>
                <c:pt idx="81">
                  <c:v>4913.3456999999999</c:v>
                </c:pt>
                <c:pt idx="82">
                  <c:v>4916.6579000000002</c:v>
                </c:pt>
                <c:pt idx="83">
                  <c:v>4896.4416000000001</c:v>
                </c:pt>
                <c:pt idx="84">
                  <c:v>4860.1265000000003</c:v>
                </c:pt>
                <c:pt idx="85">
                  <c:v>4851.4229999999998</c:v>
                </c:pt>
                <c:pt idx="86">
                  <c:v>4832.0259999999998</c:v>
                </c:pt>
                <c:pt idx="87">
                  <c:v>4843.8509999999997</c:v>
                </c:pt>
                <c:pt idx="88">
                  <c:v>4856.1629999999996</c:v>
                </c:pt>
                <c:pt idx="89">
                  <c:v>4901.0174999999999</c:v>
                </c:pt>
                <c:pt idx="90">
                  <c:v>4892.6208999999999</c:v>
                </c:pt>
                <c:pt idx="91">
                  <c:v>4922.1014999999998</c:v>
                </c:pt>
                <c:pt idx="92">
                  <c:v>4995.9297999999999</c:v>
                </c:pt>
                <c:pt idx="93">
                  <c:v>5078.6900999999998</c:v>
                </c:pt>
                <c:pt idx="94">
                  <c:v>5055.1171999999997</c:v>
                </c:pt>
                <c:pt idx="95">
                  <c:v>5083.8006999999998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1EC-4C18-9350-977BDF637D39}"/>
            </c:ext>
          </c:extLst>
        </c:ser>
        <c:ser>
          <c:idx val="1"/>
          <c:order val="1"/>
          <c:tx>
            <c:strRef>
              <c:f>历史行情!$G$4</c:f>
              <c:strCache>
                <c:ptCount val="1"/>
                <c:pt idx="0">
                  <c:v>含名义本金</c:v>
                </c:pt>
              </c:strCache>
            </c:strRef>
          </c:tx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历史行情!$A$5:$A$100</c:f>
              <c:numCache>
                <c:formatCode>yyyy\-mm\-dd</c:formatCode>
                <c:ptCount val="96"/>
                <c:pt idx="0">
                  <c:v>44399</c:v>
                </c:pt>
                <c:pt idx="1">
                  <c:v>44400</c:v>
                </c:pt>
                <c:pt idx="2">
                  <c:v>44403</c:v>
                </c:pt>
                <c:pt idx="3">
                  <c:v>44404</c:v>
                </c:pt>
                <c:pt idx="4">
                  <c:v>44405</c:v>
                </c:pt>
                <c:pt idx="5">
                  <c:v>44406</c:v>
                </c:pt>
                <c:pt idx="6">
                  <c:v>44407</c:v>
                </c:pt>
                <c:pt idx="7">
                  <c:v>44410</c:v>
                </c:pt>
                <c:pt idx="8">
                  <c:v>44411</c:v>
                </c:pt>
                <c:pt idx="9">
                  <c:v>44412</c:v>
                </c:pt>
                <c:pt idx="10">
                  <c:v>44413</c:v>
                </c:pt>
                <c:pt idx="11">
                  <c:v>44414</c:v>
                </c:pt>
                <c:pt idx="12">
                  <c:v>44417</c:v>
                </c:pt>
                <c:pt idx="13">
                  <c:v>44418</c:v>
                </c:pt>
                <c:pt idx="14">
                  <c:v>44419</c:v>
                </c:pt>
                <c:pt idx="15">
                  <c:v>44420</c:v>
                </c:pt>
                <c:pt idx="16">
                  <c:v>44421</c:v>
                </c:pt>
                <c:pt idx="17">
                  <c:v>44424</c:v>
                </c:pt>
                <c:pt idx="18">
                  <c:v>44425</c:v>
                </c:pt>
                <c:pt idx="19">
                  <c:v>44426</c:v>
                </c:pt>
                <c:pt idx="20">
                  <c:v>44427</c:v>
                </c:pt>
                <c:pt idx="21">
                  <c:v>44428</c:v>
                </c:pt>
                <c:pt idx="22">
                  <c:v>44431</c:v>
                </c:pt>
                <c:pt idx="23">
                  <c:v>44432</c:v>
                </c:pt>
                <c:pt idx="24">
                  <c:v>44433</c:v>
                </c:pt>
                <c:pt idx="25">
                  <c:v>44434</c:v>
                </c:pt>
                <c:pt idx="26">
                  <c:v>44435</c:v>
                </c:pt>
                <c:pt idx="27">
                  <c:v>44438</c:v>
                </c:pt>
                <c:pt idx="28">
                  <c:v>44439</c:v>
                </c:pt>
                <c:pt idx="29">
                  <c:v>44440</c:v>
                </c:pt>
                <c:pt idx="30">
                  <c:v>44441</c:v>
                </c:pt>
                <c:pt idx="31">
                  <c:v>44442</c:v>
                </c:pt>
                <c:pt idx="32">
                  <c:v>44445</c:v>
                </c:pt>
                <c:pt idx="33">
                  <c:v>44446</c:v>
                </c:pt>
                <c:pt idx="34">
                  <c:v>44447</c:v>
                </c:pt>
                <c:pt idx="35">
                  <c:v>44448</c:v>
                </c:pt>
                <c:pt idx="36">
                  <c:v>44449</c:v>
                </c:pt>
                <c:pt idx="37">
                  <c:v>44452</c:v>
                </c:pt>
                <c:pt idx="38">
                  <c:v>44453</c:v>
                </c:pt>
                <c:pt idx="39">
                  <c:v>44454</c:v>
                </c:pt>
                <c:pt idx="40">
                  <c:v>44455</c:v>
                </c:pt>
                <c:pt idx="41">
                  <c:v>44456</c:v>
                </c:pt>
                <c:pt idx="42">
                  <c:v>44461</c:v>
                </c:pt>
                <c:pt idx="43">
                  <c:v>44462</c:v>
                </c:pt>
                <c:pt idx="44">
                  <c:v>44463</c:v>
                </c:pt>
                <c:pt idx="45">
                  <c:v>44466</c:v>
                </c:pt>
                <c:pt idx="46">
                  <c:v>44467</c:v>
                </c:pt>
                <c:pt idx="47">
                  <c:v>44468</c:v>
                </c:pt>
                <c:pt idx="48">
                  <c:v>44469</c:v>
                </c:pt>
                <c:pt idx="49">
                  <c:v>44477</c:v>
                </c:pt>
                <c:pt idx="50">
                  <c:v>44480</c:v>
                </c:pt>
                <c:pt idx="51">
                  <c:v>44481</c:v>
                </c:pt>
                <c:pt idx="52">
                  <c:v>44482</c:v>
                </c:pt>
                <c:pt idx="53">
                  <c:v>44483</c:v>
                </c:pt>
                <c:pt idx="54">
                  <c:v>44484</c:v>
                </c:pt>
                <c:pt idx="55">
                  <c:v>44487</c:v>
                </c:pt>
                <c:pt idx="56">
                  <c:v>44488</c:v>
                </c:pt>
                <c:pt idx="57">
                  <c:v>44489</c:v>
                </c:pt>
                <c:pt idx="58">
                  <c:v>44490</c:v>
                </c:pt>
                <c:pt idx="59">
                  <c:v>44491</c:v>
                </c:pt>
                <c:pt idx="60">
                  <c:v>44494</c:v>
                </c:pt>
                <c:pt idx="61">
                  <c:v>44495</c:v>
                </c:pt>
                <c:pt idx="62">
                  <c:v>44496</c:v>
                </c:pt>
                <c:pt idx="63">
                  <c:v>44497</c:v>
                </c:pt>
                <c:pt idx="64">
                  <c:v>44498</c:v>
                </c:pt>
                <c:pt idx="65">
                  <c:v>44501</c:v>
                </c:pt>
                <c:pt idx="66">
                  <c:v>44502</c:v>
                </c:pt>
                <c:pt idx="67">
                  <c:v>44503</c:v>
                </c:pt>
                <c:pt idx="68">
                  <c:v>44504</c:v>
                </c:pt>
                <c:pt idx="69">
                  <c:v>44505</c:v>
                </c:pt>
                <c:pt idx="70">
                  <c:v>44508</c:v>
                </c:pt>
                <c:pt idx="71">
                  <c:v>44509</c:v>
                </c:pt>
                <c:pt idx="72">
                  <c:v>44510</c:v>
                </c:pt>
                <c:pt idx="73">
                  <c:v>44511</c:v>
                </c:pt>
                <c:pt idx="74">
                  <c:v>44512</c:v>
                </c:pt>
                <c:pt idx="75">
                  <c:v>44515</c:v>
                </c:pt>
                <c:pt idx="76">
                  <c:v>44516</c:v>
                </c:pt>
                <c:pt idx="77">
                  <c:v>44517</c:v>
                </c:pt>
                <c:pt idx="78">
                  <c:v>44518</c:v>
                </c:pt>
                <c:pt idx="79">
                  <c:v>44519</c:v>
                </c:pt>
                <c:pt idx="80">
                  <c:v>44522</c:v>
                </c:pt>
                <c:pt idx="81">
                  <c:v>44523</c:v>
                </c:pt>
                <c:pt idx="82">
                  <c:v>44524</c:v>
                </c:pt>
                <c:pt idx="83">
                  <c:v>44525</c:v>
                </c:pt>
                <c:pt idx="84">
                  <c:v>44526</c:v>
                </c:pt>
                <c:pt idx="85">
                  <c:v>44529</c:v>
                </c:pt>
                <c:pt idx="86">
                  <c:v>44530</c:v>
                </c:pt>
                <c:pt idx="87">
                  <c:v>44531</c:v>
                </c:pt>
                <c:pt idx="88">
                  <c:v>44532</c:v>
                </c:pt>
                <c:pt idx="89">
                  <c:v>44533</c:v>
                </c:pt>
                <c:pt idx="90">
                  <c:v>44536</c:v>
                </c:pt>
                <c:pt idx="91">
                  <c:v>44537</c:v>
                </c:pt>
                <c:pt idx="92">
                  <c:v>44538</c:v>
                </c:pt>
                <c:pt idx="93">
                  <c:v>44539</c:v>
                </c:pt>
                <c:pt idx="94">
                  <c:v>44540</c:v>
                </c:pt>
                <c:pt idx="95">
                  <c:v>44543</c:v>
                </c:pt>
              </c:numCache>
            </c:numRef>
          </c:xVal>
          <c:yVal>
            <c:numRef>
              <c:f>历史行情!$G$5:$G$100</c:f>
              <c:numCache>
                <c:formatCode>General</c:formatCode>
                <c:ptCount val="96"/>
                <c:pt idx="0">
                  <c:v>5151.7516999999998</c:v>
                </c:pt>
                <c:pt idx="1">
                  <c:v>5132.3424630982954</c:v>
                </c:pt>
                <c:pt idx="2">
                  <c:v>5077.0253686134429</c:v>
                </c:pt>
                <c:pt idx="3">
                  <c:v>5004.3330607578555</c:v>
                </c:pt>
                <c:pt idx="4">
                  <c:v>5009.0270716147397</c:v>
                </c:pt>
                <c:pt idx="5">
                  <c:v>5054.6424090050059</c:v>
                </c:pt>
                <c:pt idx="6">
                  <c:v>5036.695997932562</c:v>
                </c:pt>
                <c:pt idx="7">
                  <c:v>5095.746742624975</c:v>
                </c:pt>
                <c:pt idx="8">
                  <c:v>5096.0453042640975</c:v>
                </c:pt>
                <c:pt idx="9">
                  <c:v>5114.3845328386924</c:v>
                </c:pt>
                <c:pt idx="10">
                  <c:v>5102.6740233262599</c:v>
                </c:pt>
                <c:pt idx="11">
                  <c:v>5091.6802430426605</c:v>
                </c:pt>
                <c:pt idx="12">
                  <c:v>5118.7101198532218</c:v>
                </c:pt>
                <c:pt idx="13">
                  <c:v>5140.8437378775634</c:v>
                </c:pt>
                <c:pt idx="14">
                  <c:v>5131.1244863451093</c:v>
                </c:pt>
                <c:pt idx="15">
                  <c:v>5115.7256815064075</c:v>
                </c:pt>
                <c:pt idx="16">
                  <c:v>5104.9214526853566</c:v>
                </c:pt>
                <c:pt idx="17">
                  <c:v>5102.8804340171537</c:v>
                </c:pt>
                <c:pt idx="18">
                  <c:v>5059.1319851667358</c:v>
                </c:pt>
                <c:pt idx="19">
                  <c:v>5087.4508497314519</c:v>
                </c:pt>
                <c:pt idx="20">
                  <c:v>5072.4749744441051</c:v>
                </c:pt>
                <c:pt idx="21">
                  <c:v>5026.3055029444922</c:v>
                </c:pt>
                <c:pt idx="22">
                  <c:v>5063.636679000394</c:v>
                </c:pt>
                <c:pt idx="23">
                  <c:v>5091.2537406952388</c:v>
                </c:pt>
                <c:pt idx="24">
                  <c:v>5096.0843114621039</c:v>
                </c:pt>
                <c:pt idx="25">
                  <c:v>5048.7792366883459</c:v>
                </c:pt>
                <c:pt idx="26">
                  <c:v>5062.700743498177</c:v>
                </c:pt>
                <c:pt idx="27">
                  <c:v>5055.3435811922145</c:v>
                </c:pt>
                <c:pt idx="28">
                  <c:v>5051.1735391977682</c:v>
                </c:pt>
                <c:pt idx="29">
                  <c:v>5086.3699364850399</c:v>
                </c:pt>
                <c:pt idx="30">
                  <c:v>5086.3455597143984</c:v>
                </c:pt>
                <c:pt idx="31">
                  <c:v>5072.7361720170056</c:v>
                </c:pt>
                <c:pt idx="32">
                  <c:v>5121.3186884988509</c:v>
                </c:pt>
                <c:pt idx="33">
                  <c:v>5149.6926478100449</c:v>
                </c:pt>
                <c:pt idx="34">
                  <c:v>5140.516358923187</c:v>
                </c:pt>
                <c:pt idx="35">
                  <c:v>5139.5423262383811</c:v>
                </c:pt>
                <c:pt idx="36">
                  <c:v>5159.7433622911603</c:v>
                </c:pt>
                <c:pt idx="37">
                  <c:v>5150.1887702375234</c:v>
                </c:pt>
                <c:pt idx="38">
                  <c:v>5116.0943997745644</c:v>
                </c:pt>
                <c:pt idx="39">
                  <c:v>5090.2001934897671</c:v>
                </c:pt>
                <c:pt idx="40">
                  <c:v>5056.5884254399143</c:v>
                </c:pt>
                <c:pt idx="41">
                  <c:v>5086.0372303273471</c:v>
                </c:pt>
                <c:pt idx="42">
                  <c:v>5065.8554454518926</c:v>
                </c:pt>
                <c:pt idx="43">
                  <c:v>5084.9355176559056</c:v>
                </c:pt>
                <c:pt idx="44">
                  <c:v>5082.7293126747027</c:v>
                </c:pt>
                <c:pt idx="45">
                  <c:v>5099.230093534874</c:v>
                </c:pt>
                <c:pt idx="46">
                  <c:v>5102.9534163359367</c:v>
                </c:pt>
                <c:pt idx="47">
                  <c:v>5074.2263701329239</c:v>
                </c:pt>
                <c:pt idx="48">
                  <c:v>5094.0315034387859</c:v>
                </c:pt>
                <c:pt idx="49">
                  <c:v>5131.7897859694494</c:v>
                </c:pt>
                <c:pt idx="50">
                  <c:v>5135.275004719394</c:v>
                </c:pt>
                <c:pt idx="51">
                  <c:v>5106.0582699731276</c:v>
                </c:pt>
                <c:pt idx="52">
                  <c:v>5139.7103889847631</c:v>
                </c:pt>
                <c:pt idx="53">
                  <c:v>5124.6864390916471</c:v>
                </c:pt>
                <c:pt idx="54">
                  <c:v>5135.6450538013914</c:v>
                </c:pt>
                <c:pt idx="55">
                  <c:v>5101.8725629108703</c:v>
                </c:pt>
                <c:pt idx="56">
                  <c:v>5132.3935675815192</c:v>
                </c:pt>
                <c:pt idx="57">
                  <c:v>5124.6237816897983</c:v>
                </c:pt>
                <c:pt idx="58">
                  <c:v>5136.0725559039938</c:v>
                </c:pt>
                <c:pt idx="59">
                  <c:v>5156.6884566532926</c:v>
                </c:pt>
                <c:pt idx="60">
                  <c:v>5169.6492423279542</c:v>
                </c:pt>
                <c:pt idx="61">
                  <c:v>5160.4042921811651</c:v>
                </c:pt>
                <c:pt idx="62">
                  <c:v>5123.0997723382825</c:v>
                </c:pt>
                <c:pt idx="63">
                  <c:v>5102.1360110028718</c:v>
                </c:pt>
                <c:pt idx="64">
                  <c:v>5130.6909761129173</c:v>
                </c:pt>
                <c:pt idx="65">
                  <c:v>5119.5616849548242</c:v>
                </c:pt>
                <c:pt idx="66">
                  <c:v>5087.5310547214885</c:v>
                </c:pt>
                <c:pt idx="67">
                  <c:v>5075.0581019165329</c:v>
                </c:pt>
                <c:pt idx="68">
                  <c:v>5107.5383818681003</c:v>
                </c:pt>
                <c:pt idx="69">
                  <c:v>5090.2082777880942</c:v>
                </c:pt>
                <c:pt idx="70">
                  <c:v>5094.167304077223</c:v>
                </c:pt>
                <c:pt idx="71">
                  <c:v>5093.1904342278795</c:v>
                </c:pt>
                <c:pt idx="72">
                  <c:v>5075.6099590442091</c:v>
                </c:pt>
                <c:pt idx="73">
                  <c:v>5130.7026034094479</c:v>
                </c:pt>
                <c:pt idx="74">
                  <c:v>5123.8194692618144</c:v>
                </c:pt>
                <c:pt idx="75">
                  <c:v>5119.7063556769754</c:v>
                </c:pt>
                <c:pt idx="76">
                  <c:v>5120.3667558920815</c:v>
                </c:pt>
                <c:pt idx="77">
                  <c:v>5122.0996549246292</c:v>
                </c:pt>
                <c:pt idx="78">
                  <c:v>5087.2356978847938</c:v>
                </c:pt>
                <c:pt idx="79">
                  <c:v>5126.8301627285691</c:v>
                </c:pt>
                <c:pt idx="80">
                  <c:v>5143.4926408923411</c:v>
                </c:pt>
                <c:pt idx="81">
                  <c:v>5144.1826451488414</c:v>
                </c:pt>
                <c:pt idx="82">
                  <c:v>5146.3558722281514</c:v>
                </c:pt>
                <c:pt idx="83">
                  <c:v>5133.0795104842391</c:v>
                </c:pt>
                <c:pt idx="84">
                  <c:v>5108.6575992911603</c:v>
                </c:pt>
                <c:pt idx="85">
                  <c:v>5102.5729026552108</c:v>
                </c:pt>
                <c:pt idx="86">
                  <c:v>5088.8301535747451</c:v>
                </c:pt>
                <c:pt idx="87">
                  <c:v>5097.4060003423101</c:v>
                </c:pt>
                <c:pt idx="88">
                  <c:v>5106.2956524839119</c:v>
                </c:pt>
                <c:pt idx="89">
                  <c:v>5138.5325774074499</c:v>
                </c:pt>
                <c:pt idx="90">
                  <c:v>5132.7099951028385</c:v>
                </c:pt>
                <c:pt idx="91">
                  <c:v>5153.4832880814556</c:v>
                </c:pt>
                <c:pt idx="92">
                  <c:v>5204.4265278902894</c:v>
                </c:pt>
                <c:pt idx="93">
                  <c:v>5257.6065011177916</c:v>
                </c:pt>
                <c:pt idx="94">
                  <c:v>5243.8178003010216</c:v>
                </c:pt>
                <c:pt idx="95">
                  <c:v>5261.3257739932433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1EC-4C18-9350-977BDF637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684128"/>
        <c:axId val="155695168"/>
      </c:scatterChart>
      <c:valAx>
        <c:axId val="155684128"/>
        <c:scaling>
          <c:orientation val="minMax"/>
        </c:scaling>
        <c:delete val="1"/>
        <c:axPos val="b"/>
        <c:numFmt formatCode="yyyy\-mm\-dd" sourceLinked="1"/>
        <c:majorTickMark val="none"/>
        <c:minorTickMark val="none"/>
        <c:tickLblPos val="nextTo"/>
        <c:crossAx val="155695168"/>
        <c:crosses val="autoZero"/>
        <c:crossBetween val="midCat"/>
      </c:valAx>
      <c:valAx>
        <c:axId val="155695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56841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DC0A4-AB10-42EE-B4E9-10C3C659D0F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/>
              <a:t>波动生息与雪球期权投资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5260"/>
            <a:ext cx="9144000" cy="554990"/>
          </a:xfrm>
        </p:spPr>
        <p:txBody>
          <a:bodyPr/>
          <a:lstStyle/>
          <a:p>
            <a:r>
              <a:rPr lang="en-US" altLang="zh-CN" b="1" dirty="0"/>
              <a:t>2026</a:t>
            </a:r>
            <a:r>
              <a:rPr lang="zh-CN" altLang="en-US" b="1" dirty="0"/>
              <a:t>年</a:t>
            </a:r>
            <a:r>
              <a:rPr lang="en-US" altLang="zh-CN" b="1" dirty="0"/>
              <a:t>5</a:t>
            </a:r>
            <a:r>
              <a:rPr lang="zh-CN" altLang="en-US" b="1" dirty="0"/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91F595BD-5ADA-8114-83BB-C40E74E3FC8C}"/>
              </a:ext>
            </a:extLst>
          </p:cNvPr>
          <p:cNvGraphicFramePr>
            <a:graphicFrameLocks/>
          </p:cNvGraphicFramePr>
          <p:nvPr/>
        </p:nvGraphicFramePr>
        <p:xfrm>
          <a:off x="5039443" y="5028488"/>
          <a:ext cx="5950913" cy="1421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2A460D0F-C4A7-E126-7E70-B9E6C93EB5CF}"/>
              </a:ext>
            </a:extLst>
          </p:cNvPr>
          <p:cNvGraphicFramePr>
            <a:graphicFrameLocks/>
          </p:cNvGraphicFramePr>
          <p:nvPr/>
        </p:nvGraphicFramePr>
        <p:xfrm>
          <a:off x="4898201" y="2192192"/>
          <a:ext cx="6144937" cy="291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DF6E450-6AF7-13C4-E70E-315557D637C5}"/>
              </a:ext>
            </a:extLst>
          </p:cNvPr>
          <p:cNvCxnSpPr/>
          <p:nvPr/>
        </p:nvCxnSpPr>
        <p:spPr>
          <a:xfrm>
            <a:off x="5275356" y="4945153"/>
            <a:ext cx="5556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534CA87-B6EE-4700-E52D-F3457100D88C}"/>
              </a:ext>
            </a:extLst>
          </p:cNvPr>
          <p:cNvCxnSpPr>
            <a:cxnSpLocks/>
          </p:cNvCxnSpPr>
          <p:nvPr/>
        </p:nvCxnSpPr>
        <p:spPr>
          <a:xfrm flipV="1">
            <a:off x="5273891" y="6018832"/>
            <a:ext cx="5613888" cy="17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B49148E-0A97-9994-45C9-19BAABF4EA11}"/>
              </a:ext>
            </a:extLst>
          </p:cNvPr>
          <p:cNvCxnSpPr>
            <a:cxnSpLocks/>
          </p:cNvCxnSpPr>
          <p:nvPr/>
        </p:nvCxnSpPr>
        <p:spPr>
          <a:xfrm flipH="1" flipV="1">
            <a:off x="5273891" y="1917668"/>
            <a:ext cx="1465" cy="4118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AFC35FC-F784-3943-0B36-0C3D60973C01}"/>
              </a:ext>
            </a:extLst>
          </p:cNvPr>
          <p:cNvSpPr/>
          <p:nvPr/>
        </p:nvSpPr>
        <p:spPr>
          <a:xfrm>
            <a:off x="10681132" y="2554896"/>
            <a:ext cx="134816" cy="4571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50FA64-7322-E9A5-1A62-C53A18D4E297}"/>
              </a:ext>
            </a:extLst>
          </p:cNvPr>
          <p:cNvSpPr txBox="1"/>
          <p:nvPr/>
        </p:nvSpPr>
        <p:spPr>
          <a:xfrm>
            <a:off x="10849624" y="245068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投资净值曲线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A43F80-E5AC-E451-B6C4-BA78C78D9B47}"/>
              </a:ext>
            </a:extLst>
          </p:cNvPr>
          <p:cNvSpPr txBox="1"/>
          <p:nvPr/>
        </p:nvSpPr>
        <p:spPr>
          <a:xfrm>
            <a:off x="10887779" y="2794488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挂钩资产价格曲线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5CB1E7-187F-5855-8241-0929A2EDAE09}"/>
              </a:ext>
            </a:extLst>
          </p:cNvPr>
          <p:cNvSpPr/>
          <p:nvPr/>
        </p:nvSpPr>
        <p:spPr>
          <a:xfrm>
            <a:off x="10701758" y="2917600"/>
            <a:ext cx="134816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38956E-8BB1-95E6-808F-1D27BD51BA83}"/>
              </a:ext>
            </a:extLst>
          </p:cNvPr>
          <p:cNvSpPr/>
          <p:nvPr/>
        </p:nvSpPr>
        <p:spPr>
          <a:xfrm>
            <a:off x="10701758" y="3238480"/>
            <a:ext cx="13481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C1901C-01C8-AFBA-71AA-E070FD7605DE}"/>
              </a:ext>
            </a:extLst>
          </p:cNvPr>
          <p:cNvSpPr txBox="1"/>
          <p:nvPr/>
        </p:nvSpPr>
        <p:spPr>
          <a:xfrm>
            <a:off x="10887779" y="311536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持仓份额</a:t>
            </a: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388EBF15-E48E-D00E-5E35-1C906D0AFB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99761" y="3679312"/>
            <a:ext cx="1258263" cy="376602"/>
          </a:xfrm>
          <a:prstGeom prst="curvedConnector3">
            <a:avLst>
              <a:gd name="adj1" fmla="val 46157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9D3DE23B-7F06-9DAD-CC8E-77D82F60B1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52218" y="5139259"/>
            <a:ext cx="387805" cy="26524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D1646C7E-67AC-8BC0-AD15-4B476043F9FE}"/>
              </a:ext>
            </a:extLst>
          </p:cNvPr>
          <p:cNvCxnSpPr>
            <a:cxnSpLocks/>
          </p:cNvCxnSpPr>
          <p:nvPr/>
        </p:nvCxnSpPr>
        <p:spPr>
          <a:xfrm>
            <a:off x="9790206" y="5089539"/>
            <a:ext cx="781078" cy="18234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894A7DBD-1ED6-190B-7C5E-FB21E17483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78842" y="3552758"/>
            <a:ext cx="1561297" cy="670442"/>
          </a:xfrm>
          <a:prstGeom prst="curvedConnector3">
            <a:avLst>
              <a:gd name="adj1" fmla="val 11706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标注: 弯曲线形 24">
            <a:extLst>
              <a:ext uri="{FF2B5EF4-FFF2-40B4-BE49-F238E27FC236}">
                <a16:creationId xmlns:a16="http://schemas.microsoft.com/office/drawing/2014/main" id="{7C3B0AF8-49A7-8089-9F16-D70493AE48AC}"/>
              </a:ext>
            </a:extLst>
          </p:cNvPr>
          <p:cNvSpPr/>
          <p:nvPr/>
        </p:nvSpPr>
        <p:spPr>
          <a:xfrm>
            <a:off x="5992564" y="2307463"/>
            <a:ext cx="1432512" cy="247433"/>
          </a:xfrm>
          <a:prstGeom prst="borderCallout2">
            <a:avLst>
              <a:gd name="adj1" fmla="val 17555"/>
              <a:gd name="adj2" fmla="val 3"/>
              <a:gd name="adj3" fmla="val 18750"/>
              <a:gd name="adj4" fmla="val -16667"/>
              <a:gd name="adj5" fmla="val 362893"/>
              <a:gd name="adj6" fmla="val -33473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在下跌中逐步加仓</a:t>
            </a:r>
          </a:p>
        </p:txBody>
      </p:sp>
      <p:sp>
        <p:nvSpPr>
          <p:cNvPr id="26" name="标注: 弯曲线形 25">
            <a:extLst>
              <a:ext uri="{FF2B5EF4-FFF2-40B4-BE49-F238E27FC236}">
                <a16:creationId xmlns:a16="http://schemas.microsoft.com/office/drawing/2014/main" id="{5ABE867F-3BDE-F334-5D37-6A7B2079B777}"/>
              </a:ext>
            </a:extLst>
          </p:cNvPr>
          <p:cNvSpPr/>
          <p:nvPr/>
        </p:nvSpPr>
        <p:spPr>
          <a:xfrm>
            <a:off x="10826654" y="4091527"/>
            <a:ext cx="1315494" cy="247433"/>
          </a:xfrm>
          <a:prstGeom prst="borderCallout2">
            <a:avLst>
              <a:gd name="adj1" fmla="val 17555"/>
              <a:gd name="adj2" fmla="val 3"/>
              <a:gd name="adj3" fmla="val 18750"/>
              <a:gd name="adj4" fmla="val -16667"/>
              <a:gd name="adj5" fmla="val -120370"/>
              <a:gd name="adj6" fmla="val -2488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在上涨中减仓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EDF81A-0832-7462-AA3C-810C8FAE3766}"/>
              </a:ext>
            </a:extLst>
          </p:cNvPr>
          <p:cNvSpPr/>
          <p:nvPr/>
        </p:nvSpPr>
        <p:spPr>
          <a:xfrm>
            <a:off x="10613982" y="2422188"/>
            <a:ext cx="1528166" cy="94842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94F8F77-C8ED-58FD-F8E4-DA0AA4D150B3}"/>
              </a:ext>
            </a:extLst>
          </p:cNvPr>
          <p:cNvSpPr txBox="1">
            <a:spLocks/>
          </p:cNvSpPr>
          <p:nvPr/>
        </p:nvSpPr>
        <p:spPr>
          <a:xfrm>
            <a:off x="579120" y="296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ea typeface="楷体" panose="02010609060101010101" pitchFamily="49" charset="-122"/>
              </a:rPr>
              <a:t>波动生息</a:t>
            </a:r>
            <a:endParaRPr lang="en-US" altLang="zh-CN" sz="3200" dirty="0">
              <a:ea typeface="楷体" panose="02010609060101010101" pitchFamily="49" charset="-122"/>
            </a:endParaRPr>
          </a:p>
          <a:p>
            <a:r>
              <a:rPr lang="en-US" altLang="zh-CN" sz="3200" dirty="0">
                <a:ea typeface="楷体" panose="02010609060101010101" pitchFamily="49" charset="-122"/>
              </a:rPr>
              <a:t>-</a:t>
            </a:r>
            <a:r>
              <a:rPr lang="zh-CN" altLang="en-US" sz="3200" dirty="0">
                <a:ea typeface="楷体" panose="02010609060101010101" pitchFamily="49" charset="-122"/>
              </a:rPr>
              <a:t>通过高抛低吸来赚取波动收益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3CBCE4-B9F0-76AF-FCB7-460177D1AF29}"/>
              </a:ext>
            </a:extLst>
          </p:cNvPr>
          <p:cNvSpPr txBox="1"/>
          <p:nvPr/>
        </p:nvSpPr>
        <p:spPr>
          <a:xfrm>
            <a:off x="535603" y="2141387"/>
            <a:ext cx="57820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LONG GAMMA /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高抛低吸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中逐步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加仓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时逐步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减仓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采用既定的投资策略，如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网格交易法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或者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雪球对冲模型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，来计算初始以及需要增减的仓位，以</a:t>
            </a:r>
            <a:r>
              <a:rPr lang="zh-CN" altLang="en-US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投资目标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导向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预期的收益率以及亏损限额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来指导仓位变化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无需预测未来是上涨还是下跌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198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B69499C-B42F-EB54-E34C-D8E99A7BF0DD}"/>
              </a:ext>
            </a:extLst>
          </p:cNvPr>
          <p:cNvSpPr txBox="1">
            <a:spLocks/>
          </p:cNvSpPr>
          <p:nvPr/>
        </p:nvSpPr>
        <p:spPr>
          <a:xfrm>
            <a:off x="579120" y="296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雪球三赚：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C47654-ED26-62DE-077C-B90B9AB6BA9E}"/>
              </a:ext>
            </a:extLst>
          </p:cNvPr>
          <p:cNvSpPr txBox="1"/>
          <p:nvPr/>
        </p:nvSpPr>
        <p:spPr>
          <a:xfrm>
            <a:off x="474708" y="1926212"/>
            <a:ext cx="4692310" cy="1296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，波动生息：通过高抛低吸来赚取波动收益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，股指期货贴水收益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，保证金投资收益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EEA89F6-F9FC-4BDA-CD1D-9217BAD199E2}"/>
              </a:ext>
            </a:extLst>
          </p:cNvPr>
          <p:cNvGrpSpPr/>
          <p:nvPr/>
        </p:nvGrpSpPr>
        <p:grpSpPr>
          <a:xfrm>
            <a:off x="6638658" y="1144046"/>
            <a:ext cx="4875107" cy="2382315"/>
            <a:chOff x="6638658" y="1144046"/>
            <a:chExt cx="4875107" cy="2382315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D9441609-F571-5FB8-FDF7-E9156ED7A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323" y="1191826"/>
              <a:ext cx="0" cy="2031023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D49C901-F414-788E-1A4D-E6DE858853DA}"/>
                </a:ext>
              </a:extLst>
            </p:cNvPr>
            <p:cNvGrpSpPr/>
            <p:nvPr/>
          </p:nvGrpSpPr>
          <p:grpSpPr>
            <a:xfrm>
              <a:off x="6638658" y="1144046"/>
              <a:ext cx="4875107" cy="2382315"/>
              <a:chOff x="6674225" y="1775011"/>
              <a:chExt cx="4875107" cy="2382315"/>
            </a:xfrm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A356ABB6-F022-EA58-BDB7-FB5E24AD4A1D}"/>
                  </a:ext>
                </a:extLst>
              </p:cNvPr>
              <p:cNvSpPr/>
              <p:nvPr/>
            </p:nvSpPr>
            <p:spPr>
              <a:xfrm>
                <a:off x="6911390" y="1887479"/>
                <a:ext cx="4000500" cy="1063869"/>
              </a:xfrm>
              <a:custGeom>
                <a:avLst/>
                <a:gdLst>
                  <a:gd name="connsiteX0" fmla="*/ 0 w 4000500"/>
                  <a:gd name="connsiteY0" fmla="*/ 835269 h 1063869"/>
                  <a:gd name="connsiteX1" fmla="*/ 65942 w 4000500"/>
                  <a:gd name="connsiteY1" fmla="*/ 813288 h 1063869"/>
                  <a:gd name="connsiteX2" fmla="*/ 413239 w 4000500"/>
                  <a:gd name="connsiteY2" fmla="*/ 646234 h 1063869"/>
                  <a:gd name="connsiteX3" fmla="*/ 531935 w 4000500"/>
                  <a:gd name="connsiteY3" fmla="*/ 606669 h 1063869"/>
                  <a:gd name="connsiteX4" fmla="*/ 940777 w 4000500"/>
                  <a:gd name="connsiteY4" fmla="*/ 690196 h 1063869"/>
                  <a:gd name="connsiteX5" fmla="*/ 1090246 w 4000500"/>
                  <a:gd name="connsiteY5" fmla="*/ 852854 h 1063869"/>
                  <a:gd name="connsiteX6" fmla="*/ 1494692 w 4000500"/>
                  <a:gd name="connsiteY6" fmla="*/ 1041888 h 1063869"/>
                  <a:gd name="connsiteX7" fmla="*/ 1696915 w 4000500"/>
                  <a:gd name="connsiteY7" fmla="*/ 1063869 h 1063869"/>
                  <a:gd name="connsiteX8" fmla="*/ 2070589 w 4000500"/>
                  <a:gd name="connsiteY8" fmla="*/ 896815 h 1063869"/>
                  <a:gd name="connsiteX9" fmla="*/ 2343150 w 4000500"/>
                  <a:gd name="connsiteY9" fmla="*/ 593480 h 1063869"/>
                  <a:gd name="connsiteX10" fmla="*/ 2558562 w 4000500"/>
                  <a:gd name="connsiteY10" fmla="*/ 404446 h 1063869"/>
                  <a:gd name="connsiteX11" fmla="*/ 2690446 w 4000500"/>
                  <a:gd name="connsiteY11" fmla="*/ 351692 h 1063869"/>
                  <a:gd name="connsiteX12" fmla="*/ 2976196 w 4000500"/>
                  <a:gd name="connsiteY12" fmla="*/ 320919 h 1063869"/>
                  <a:gd name="connsiteX13" fmla="*/ 3270739 w 4000500"/>
                  <a:gd name="connsiteY13" fmla="*/ 422030 h 1063869"/>
                  <a:gd name="connsiteX14" fmla="*/ 3494942 w 4000500"/>
                  <a:gd name="connsiteY14" fmla="*/ 470388 h 1063869"/>
                  <a:gd name="connsiteX15" fmla="*/ 3749919 w 4000500"/>
                  <a:gd name="connsiteY15" fmla="*/ 241788 h 1063869"/>
                  <a:gd name="connsiteX16" fmla="*/ 3930162 w 4000500"/>
                  <a:gd name="connsiteY16" fmla="*/ 83527 h 1063869"/>
                  <a:gd name="connsiteX17" fmla="*/ 3982915 w 4000500"/>
                  <a:gd name="connsiteY17" fmla="*/ 35169 h 1063869"/>
                  <a:gd name="connsiteX18" fmla="*/ 3996104 w 4000500"/>
                  <a:gd name="connsiteY18" fmla="*/ 13188 h 1063869"/>
                  <a:gd name="connsiteX19" fmla="*/ 4000500 w 4000500"/>
                  <a:gd name="connsiteY19" fmla="*/ 0 h 1063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000500" h="1063869">
                    <a:moveTo>
                      <a:pt x="0" y="835269"/>
                    </a:moveTo>
                    <a:cubicBezTo>
                      <a:pt x="21981" y="827942"/>
                      <a:pt x="44872" y="822926"/>
                      <a:pt x="65942" y="813288"/>
                    </a:cubicBezTo>
                    <a:cubicBezTo>
                      <a:pt x="182761" y="759849"/>
                      <a:pt x="291369" y="686857"/>
                      <a:pt x="413239" y="646234"/>
                    </a:cubicBezTo>
                    <a:lnTo>
                      <a:pt x="531935" y="606669"/>
                    </a:lnTo>
                    <a:cubicBezTo>
                      <a:pt x="668216" y="634511"/>
                      <a:pt x="813505" y="634076"/>
                      <a:pt x="940777" y="690196"/>
                    </a:cubicBezTo>
                    <a:cubicBezTo>
                      <a:pt x="1008152" y="719905"/>
                      <a:pt x="1033427" y="806017"/>
                      <a:pt x="1090246" y="852854"/>
                    </a:cubicBezTo>
                    <a:cubicBezTo>
                      <a:pt x="1189344" y="934543"/>
                      <a:pt x="1375537" y="1012707"/>
                      <a:pt x="1494692" y="1041888"/>
                    </a:cubicBezTo>
                    <a:cubicBezTo>
                      <a:pt x="1560551" y="1058017"/>
                      <a:pt x="1629507" y="1056542"/>
                      <a:pt x="1696915" y="1063869"/>
                    </a:cubicBezTo>
                    <a:cubicBezTo>
                      <a:pt x="1813274" y="1024257"/>
                      <a:pt x="1974265" y="984469"/>
                      <a:pt x="2070589" y="896815"/>
                    </a:cubicBezTo>
                    <a:cubicBezTo>
                      <a:pt x="2171126" y="805326"/>
                      <a:pt x="2251393" y="693773"/>
                      <a:pt x="2343150" y="593480"/>
                    </a:cubicBezTo>
                    <a:cubicBezTo>
                      <a:pt x="2412901" y="517241"/>
                      <a:pt x="2467021" y="454378"/>
                      <a:pt x="2558562" y="404446"/>
                    </a:cubicBezTo>
                    <a:cubicBezTo>
                      <a:pt x="2600128" y="381773"/>
                      <a:pt x="2644436" y="362866"/>
                      <a:pt x="2690446" y="351692"/>
                    </a:cubicBezTo>
                    <a:cubicBezTo>
                      <a:pt x="2749116" y="337444"/>
                      <a:pt x="2902999" y="326775"/>
                      <a:pt x="2976196" y="320919"/>
                    </a:cubicBezTo>
                    <a:cubicBezTo>
                      <a:pt x="3281399" y="390284"/>
                      <a:pt x="2743115" y="262644"/>
                      <a:pt x="3270739" y="422030"/>
                    </a:cubicBezTo>
                    <a:cubicBezTo>
                      <a:pt x="3343926" y="444138"/>
                      <a:pt x="3420208" y="454269"/>
                      <a:pt x="3494942" y="470388"/>
                    </a:cubicBezTo>
                    <a:cubicBezTo>
                      <a:pt x="3695477" y="396507"/>
                      <a:pt x="3455732" y="500097"/>
                      <a:pt x="3749919" y="241788"/>
                    </a:cubicBezTo>
                    <a:lnTo>
                      <a:pt x="3930162" y="83527"/>
                    </a:lnTo>
                    <a:cubicBezTo>
                      <a:pt x="3948010" y="67700"/>
                      <a:pt x="3970642" y="55624"/>
                      <a:pt x="3982915" y="35169"/>
                    </a:cubicBezTo>
                    <a:cubicBezTo>
                      <a:pt x="3987311" y="27842"/>
                      <a:pt x="3992283" y="20831"/>
                      <a:pt x="3996104" y="13188"/>
                    </a:cubicBezTo>
                    <a:cubicBezTo>
                      <a:pt x="3998176" y="9043"/>
                      <a:pt x="4000500" y="0"/>
                      <a:pt x="4000500" y="0"/>
                    </a:cubicBezTo>
                  </a:path>
                </a:pathLst>
              </a:cu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74874BA8-9E04-FA12-203D-757109165C97}"/>
                  </a:ext>
                </a:extLst>
              </p:cNvPr>
              <p:cNvSpPr/>
              <p:nvPr/>
            </p:nvSpPr>
            <p:spPr>
              <a:xfrm>
                <a:off x="6911390" y="1887479"/>
                <a:ext cx="4000500" cy="1725125"/>
              </a:xfrm>
              <a:custGeom>
                <a:avLst/>
                <a:gdLst>
                  <a:gd name="connsiteX0" fmla="*/ 0 w 3925777"/>
                  <a:gd name="connsiteY0" fmla="*/ 1538654 h 1657350"/>
                  <a:gd name="connsiteX1" fmla="*/ 26377 w 3925777"/>
                  <a:gd name="connsiteY1" fmla="*/ 1494692 h 1657350"/>
                  <a:gd name="connsiteX2" fmla="*/ 35169 w 3925777"/>
                  <a:gd name="connsiteY2" fmla="*/ 1477107 h 1657350"/>
                  <a:gd name="connsiteX3" fmla="*/ 48358 w 3925777"/>
                  <a:gd name="connsiteY3" fmla="*/ 1468315 h 1657350"/>
                  <a:gd name="connsiteX4" fmla="*/ 145073 w 3925777"/>
                  <a:gd name="connsiteY4" fmla="*/ 1455127 h 1657350"/>
                  <a:gd name="connsiteX5" fmla="*/ 232996 w 3925777"/>
                  <a:gd name="connsiteY5" fmla="*/ 1441938 h 1657350"/>
                  <a:gd name="connsiteX6" fmla="*/ 751742 w 3925777"/>
                  <a:gd name="connsiteY6" fmla="*/ 1446334 h 1657350"/>
                  <a:gd name="connsiteX7" fmla="*/ 839665 w 3925777"/>
                  <a:gd name="connsiteY7" fmla="*/ 1477107 h 1657350"/>
                  <a:gd name="connsiteX8" fmla="*/ 1213338 w 3925777"/>
                  <a:gd name="connsiteY8" fmla="*/ 1573823 h 1657350"/>
                  <a:gd name="connsiteX9" fmla="*/ 1310054 w 3925777"/>
                  <a:gd name="connsiteY9" fmla="*/ 1608992 h 1657350"/>
                  <a:gd name="connsiteX10" fmla="*/ 1521069 w 3925777"/>
                  <a:gd name="connsiteY10" fmla="*/ 1648557 h 1657350"/>
                  <a:gd name="connsiteX11" fmla="*/ 1666142 w 3925777"/>
                  <a:gd name="connsiteY11" fmla="*/ 1657350 h 1657350"/>
                  <a:gd name="connsiteX12" fmla="*/ 1745273 w 3925777"/>
                  <a:gd name="connsiteY12" fmla="*/ 1648557 h 1657350"/>
                  <a:gd name="connsiteX13" fmla="*/ 1771650 w 3925777"/>
                  <a:gd name="connsiteY13" fmla="*/ 1644161 h 1657350"/>
                  <a:gd name="connsiteX14" fmla="*/ 1811215 w 3925777"/>
                  <a:gd name="connsiteY14" fmla="*/ 1626577 h 1657350"/>
                  <a:gd name="connsiteX15" fmla="*/ 1868365 w 3925777"/>
                  <a:gd name="connsiteY15" fmla="*/ 1604596 h 1657350"/>
                  <a:gd name="connsiteX16" fmla="*/ 1912327 w 3925777"/>
                  <a:gd name="connsiteY16" fmla="*/ 1573823 h 1657350"/>
                  <a:gd name="connsiteX17" fmla="*/ 1929911 w 3925777"/>
                  <a:gd name="connsiteY17" fmla="*/ 1543050 h 1657350"/>
                  <a:gd name="connsiteX18" fmla="*/ 2013438 w 3925777"/>
                  <a:gd name="connsiteY18" fmla="*/ 1450731 h 1657350"/>
                  <a:gd name="connsiteX19" fmla="*/ 2158511 w 3925777"/>
                  <a:gd name="connsiteY19" fmla="*/ 1301261 h 1657350"/>
                  <a:gd name="connsiteX20" fmla="*/ 2264019 w 3925777"/>
                  <a:gd name="connsiteY20" fmla="*/ 1169377 h 1657350"/>
                  <a:gd name="connsiteX21" fmla="*/ 2294792 w 3925777"/>
                  <a:gd name="connsiteY21" fmla="*/ 1164981 h 1657350"/>
                  <a:gd name="connsiteX22" fmla="*/ 2351942 w 3925777"/>
                  <a:gd name="connsiteY22" fmla="*/ 1143000 h 1657350"/>
                  <a:gd name="connsiteX23" fmla="*/ 2422281 w 3925777"/>
                  <a:gd name="connsiteY23" fmla="*/ 1059473 h 1657350"/>
                  <a:gd name="connsiteX24" fmla="*/ 2475034 w 3925777"/>
                  <a:gd name="connsiteY24" fmla="*/ 997927 h 1657350"/>
                  <a:gd name="connsiteX25" fmla="*/ 2567354 w 3925777"/>
                  <a:gd name="connsiteY25" fmla="*/ 861646 h 1657350"/>
                  <a:gd name="connsiteX26" fmla="*/ 2580542 w 3925777"/>
                  <a:gd name="connsiteY26" fmla="*/ 839665 h 1657350"/>
                  <a:gd name="connsiteX27" fmla="*/ 2611315 w 3925777"/>
                  <a:gd name="connsiteY27" fmla="*/ 800100 h 1657350"/>
                  <a:gd name="connsiteX28" fmla="*/ 2650881 w 3925777"/>
                  <a:gd name="connsiteY28" fmla="*/ 681404 h 1657350"/>
                  <a:gd name="connsiteX29" fmla="*/ 2655277 w 3925777"/>
                  <a:gd name="connsiteY29" fmla="*/ 646234 h 1657350"/>
                  <a:gd name="connsiteX30" fmla="*/ 2659673 w 3925777"/>
                  <a:gd name="connsiteY30" fmla="*/ 633046 h 1657350"/>
                  <a:gd name="connsiteX31" fmla="*/ 2756388 w 3925777"/>
                  <a:gd name="connsiteY31" fmla="*/ 593481 h 1657350"/>
                  <a:gd name="connsiteX32" fmla="*/ 2787161 w 3925777"/>
                  <a:gd name="connsiteY32" fmla="*/ 580292 h 1657350"/>
                  <a:gd name="connsiteX33" fmla="*/ 2980592 w 3925777"/>
                  <a:gd name="connsiteY33" fmla="*/ 562707 h 1657350"/>
                  <a:gd name="connsiteX34" fmla="*/ 3169627 w 3925777"/>
                  <a:gd name="connsiteY34" fmla="*/ 606669 h 1657350"/>
                  <a:gd name="connsiteX35" fmla="*/ 3288323 w 3925777"/>
                  <a:gd name="connsiteY35" fmla="*/ 624254 h 1657350"/>
                  <a:gd name="connsiteX36" fmla="*/ 3336681 w 3925777"/>
                  <a:gd name="connsiteY36" fmla="*/ 628650 h 1657350"/>
                  <a:gd name="connsiteX37" fmla="*/ 3618034 w 3925777"/>
                  <a:gd name="connsiteY37" fmla="*/ 602273 h 1657350"/>
                  <a:gd name="connsiteX38" fmla="*/ 3675184 w 3925777"/>
                  <a:gd name="connsiteY38" fmla="*/ 562707 h 1657350"/>
                  <a:gd name="connsiteX39" fmla="*/ 3697165 w 3925777"/>
                  <a:gd name="connsiteY39" fmla="*/ 527538 h 1657350"/>
                  <a:gd name="connsiteX40" fmla="*/ 3719146 w 3925777"/>
                  <a:gd name="connsiteY40" fmla="*/ 479181 h 1657350"/>
                  <a:gd name="connsiteX41" fmla="*/ 3749919 w 3925777"/>
                  <a:gd name="connsiteY41" fmla="*/ 444011 h 1657350"/>
                  <a:gd name="connsiteX42" fmla="*/ 3807069 w 3925777"/>
                  <a:gd name="connsiteY42" fmla="*/ 320919 h 1657350"/>
                  <a:gd name="connsiteX43" fmla="*/ 3815861 w 3925777"/>
                  <a:gd name="connsiteY43" fmla="*/ 290146 h 1657350"/>
                  <a:gd name="connsiteX44" fmla="*/ 3829050 w 3925777"/>
                  <a:gd name="connsiteY44" fmla="*/ 268165 h 1657350"/>
                  <a:gd name="connsiteX45" fmla="*/ 3864219 w 3925777"/>
                  <a:gd name="connsiteY45" fmla="*/ 197827 h 1657350"/>
                  <a:gd name="connsiteX46" fmla="*/ 3894992 w 3925777"/>
                  <a:gd name="connsiteY46" fmla="*/ 145073 h 1657350"/>
                  <a:gd name="connsiteX47" fmla="*/ 3908181 w 3925777"/>
                  <a:gd name="connsiteY47" fmla="*/ 87923 h 1657350"/>
                  <a:gd name="connsiteX48" fmla="*/ 3916973 w 3925777"/>
                  <a:gd name="connsiteY48" fmla="*/ 43961 h 1657350"/>
                  <a:gd name="connsiteX49" fmla="*/ 3925765 w 3925777"/>
                  <a:gd name="connsiteY49" fmla="*/ 0 h 1657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925777" h="1657350">
                    <a:moveTo>
                      <a:pt x="0" y="1538654"/>
                    </a:moveTo>
                    <a:cubicBezTo>
                      <a:pt x="8792" y="1524000"/>
                      <a:pt x="18735" y="1509977"/>
                      <a:pt x="26377" y="1494692"/>
                    </a:cubicBezTo>
                    <a:cubicBezTo>
                      <a:pt x="29308" y="1488830"/>
                      <a:pt x="30974" y="1482141"/>
                      <a:pt x="35169" y="1477107"/>
                    </a:cubicBezTo>
                    <a:cubicBezTo>
                      <a:pt x="38552" y="1473048"/>
                      <a:pt x="43177" y="1469351"/>
                      <a:pt x="48358" y="1468315"/>
                    </a:cubicBezTo>
                    <a:cubicBezTo>
                      <a:pt x="80263" y="1461934"/>
                      <a:pt x="112863" y="1459728"/>
                      <a:pt x="145073" y="1455127"/>
                    </a:cubicBezTo>
                    <a:lnTo>
                      <a:pt x="232996" y="1441938"/>
                    </a:lnTo>
                    <a:lnTo>
                      <a:pt x="751742" y="1446334"/>
                    </a:lnTo>
                    <a:cubicBezTo>
                      <a:pt x="782741" y="1448131"/>
                      <a:pt x="809784" y="1468662"/>
                      <a:pt x="839665" y="1477107"/>
                    </a:cubicBezTo>
                    <a:cubicBezTo>
                      <a:pt x="1022261" y="1528710"/>
                      <a:pt x="959734" y="1481605"/>
                      <a:pt x="1213338" y="1573823"/>
                    </a:cubicBezTo>
                    <a:cubicBezTo>
                      <a:pt x="1245577" y="1585546"/>
                      <a:pt x="1277122" y="1599387"/>
                      <a:pt x="1310054" y="1608992"/>
                    </a:cubicBezTo>
                    <a:cubicBezTo>
                      <a:pt x="1374916" y="1627910"/>
                      <a:pt x="1453130" y="1642381"/>
                      <a:pt x="1521069" y="1648557"/>
                    </a:cubicBezTo>
                    <a:cubicBezTo>
                      <a:pt x="1569316" y="1652943"/>
                      <a:pt x="1666142" y="1657350"/>
                      <a:pt x="1666142" y="1657350"/>
                    </a:cubicBezTo>
                    <a:lnTo>
                      <a:pt x="1745273" y="1648557"/>
                    </a:lnTo>
                    <a:cubicBezTo>
                      <a:pt x="1754118" y="1647451"/>
                      <a:pt x="1763194" y="1646980"/>
                      <a:pt x="1771650" y="1644161"/>
                    </a:cubicBezTo>
                    <a:cubicBezTo>
                      <a:pt x="1785342" y="1639597"/>
                      <a:pt x="1797857" y="1632041"/>
                      <a:pt x="1811215" y="1626577"/>
                    </a:cubicBezTo>
                    <a:cubicBezTo>
                      <a:pt x="1830106" y="1618849"/>
                      <a:pt x="1850269" y="1614037"/>
                      <a:pt x="1868365" y="1604596"/>
                    </a:cubicBezTo>
                    <a:cubicBezTo>
                      <a:pt x="1884224" y="1596322"/>
                      <a:pt x="1897673" y="1584081"/>
                      <a:pt x="1912327" y="1573823"/>
                    </a:cubicBezTo>
                    <a:cubicBezTo>
                      <a:pt x="1918188" y="1563565"/>
                      <a:pt x="1922994" y="1552628"/>
                      <a:pt x="1929911" y="1543050"/>
                    </a:cubicBezTo>
                    <a:cubicBezTo>
                      <a:pt x="1951342" y="1513377"/>
                      <a:pt x="1985852" y="1474869"/>
                      <a:pt x="2013438" y="1450731"/>
                    </a:cubicBezTo>
                    <a:cubicBezTo>
                      <a:pt x="2087751" y="1385707"/>
                      <a:pt x="2094573" y="1405157"/>
                      <a:pt x="2158511" y="1301261"/>
                    </a:cubicBezTo>
                    <a:cubicBezTo>
                      <a:pt x="2176853" y="1271456"/>
                      <a:pt x="2231508" y="1174021"/>
                      <a:pt x="2264019" y="1169377"/>
                    </a:cubicBezTo>
                    <a:lnTo>
                      <a:pt x="2294792" y="1164981"/>
                    </a:lnTo>
                    <a:cubicBezTo>
                      <a:pt x="2313842" y="1157654"/>
                      <a:pt x="2334370" y="1153383"/>
                      <a:pt x="2351942" y="1143000"/>
                    </a:cubicBezTo>
                    <a:cubicBezTo>
                      <a:pt x="2396763" y="1116515"/>
                      <a:pt x="2391807" y="1099571"/>
                      <a:pt x="2422281" y="1059473"/>
                    </a:cubicBezTo>
                    <a:cubicBezTo>
                      <a:pt x="2438630" y="1037960"/>
                      <a:pt x="2459055" y="1019716"/>
                      <a:pt x="2475034" y="997927"/>
                    </a:cubicBezTo>
                    <a:cubicBezTo>
                      <a:pt x="2507482" y="953680"/>
                      <a:pt x="2539125" y="908696"/>
                      <a:pt x="2567354" y="861646"/>
                    </a:cubicBezTo>
                    <a:cubicBezTo>
                      <a:pt x="2571750" y="854319"/>
                      <a:pt x="2575576" y="846618"/>
                      <a:pt x="2580542" y="839665"/>
                    </a:cubicBezTo>
                    <a:cubicBezTo>
                      <a:pt x="2590253" y="826069"/>
                      <a:pt x="2601057" y="813288"/>
                      <a:pt x="2611315" y="800100"/>
                    </a:cubicBezTo>
                    <a:cubicBezTo>
                      <a:pt x="2628142" y="755227"/>
                      <a:pt x="2641389" y="726490"/>
                      <a:pt x="2650881" y="681404"/>
                    </a:cubicBezTo>
                    <a:cubicBezTo>
                      <a:pt x="2653315" y="669843"/>
                      <a:pt x="2653164" y="657858"/>
                      <a:pt x="2655277" y="646234"/>
                    </a:cubicBezTo>
                    <a:cubicBezTo>
                      <a:pt x="2656106" y="641675"/>
                      <a:pt x="2655966" y="635826"/>
                      <a:pt x="2659673" y="633046"/>
                    </a:cubicBezTo>
                    <a:cubicBezTo>
                      <a:pt x="2702323" y="601059"/>
                      <a:pt x="2708858" y="609325"/>
                      <a:pt x="2756388" y="593481"/>
                    </a:cubicBezTo>
                    <a:cubicBezTo>
                      <a:pt x="2766975" y="589952"/>
                      <a:pt x="2776267" y="582713"/>
                      <a:pt x="2787161" y="580292"/>
                    </a:cubicBezTo>
                    <a:cubicBezTo>
                      <a:pt x="2860795" y="563929"/>
                      <a:pt x="2903792" y="565908"/>
                      <a:pt x="2980592" y="562707"/>
                    </a:cubicBezTo>
                    <a:cubicBezTo>
                      <a:pt x="3053044" y="580820"/>
                      <a:pt x="3098235" y="593518"/>
                      <a:pt x="3169627" y="606669"/>
                    </a:cubicBezTo>
                    <a:cubicBezTo>
                      <a:pt x="3195386" y="611414"/>
                      <a:pt x="3254288" y="620671"/>
                      <a:pt x="3288323" y="624254"/>
                    </a:cubicBezTo>
                    <a:cubicBezTo>
                      <a:pt x="3304420" y="625949"/>
                      <a:pt x="3320562" y="627185"/>
                      <a:pt x="3336681" y="628650"/>
                    </a:cubicBezTo>
                    <a:cubicBezTo>
                      <a:pt x="3347767" y="627819"/>
                      <a:pt x="3574858" y="613702"/>
                      <a:pt x="3618034" y="602273"/>
                    </a:cubicBezTo>
                    <a:cubicBezTo>
                      <a:pt x="3628984" y="599375"/>
                      <a:pt x="3663862" y="578275"/>
                      <a:pt x="3675184" y="562707"/>
                    </a:cubicBezTo>
                    <a:cubicBezTo>
                      <a:pt x="3683315" y="551527"/>
                      <a:pt x="3690726" y="539771"/>
                      <a:pt x="3697165" y="527538"/>
                    </a:cubicBezTo>
                    <a:cubicBezTo>
                      <a:pt x="3705412" y="511870"/>
                      <a:pt x="3709691" y="494151"/>
                      <a:pt x="3719146" y="479181"/>
                    </a:cubicBezTo>
                    <a:cubicBezTo>
                      <a:pt x="3727464" y="466010"/>
                      <a:pt x="3742354" y="457628"/>
                      <a:pt x="3749919" y="444011"/>
                    </a:cubicBezTo>
                    <a:cubicBezTo>
                      <a:pt x="3771888" y="404466"/>
                      <a:pt x="3794642" y="364416"/>
                      <a:pt x="3807069" y="320919"/>
                    </a:cubicBezTo>
                    <a:cubicBezTo>
                      <a:pt x="3810000" y="310661"/>
                      <a:pt x="3811758" y="299993"/>
                      <a:pt x="3815861" y="290146"/>
                    </a:cubicBezTo>
                    <a:cubicBezTo>
                      <a:pt x="3819147" y="282259"/>
                      <a:pt x="3825085" y="275734"/>
                      <a:pt x="3829050" y="268165"/>
                    </a:cubicBezTo>
                    <a:cubicBezTo>
                      <a:pt x="3841213" y="244944"/>
                      <a:pt x="3849678" y="219638"/>
                      <a:pt x="3864219" y="197827"/>
                    </a:cubicBezTo>
                    <a:cubicBezTo>
                      <a:pt x="3887257" y="163271"/>
                      <a:pt x="3877078" y="180902"/>
                      <a:pt x="3894992" y="145073"/>
                    </a:cubicBezTo>
                    <a:cubicBezTo>
                      <a:pt x="3901156" y="120416"/>
                      <a:pt x="3901451" y="119892"/>
                      <a:pt x="3908181" y="87923"/>
                    </a:cubicBezTo>
                    <a:cubicBezTo>
                      <a:pt x="3911260" y="73299"/>
                      <a:pt x="3913731" y="58549"/>
                      <a:pt x="3916973" y="43961"/>
                    </a:cubicBezTo>
                    <a:cubicBezTo>
                      <a:pt x="3926476" y="1197"/>
                      <a:pt x="3925765" y="22028"/>
                      <a:pt x="3925765" y="0"/>
                    </a:cubicBezTo>
                  </a:path>
                </a:pathLst>
              </a:cu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2CA165EA-1B07-DFC0-29E9-288187E7C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01145" y="1775011"/>
                <a:ext cx="10245" cy="20266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482B8696-A309-EBA3-4FDE-88CBF9F2E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1390" y="3801638"/>
                <a:ext cx="4637942" cy="351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F3A4938-496A-B73B-C89A-508087E54625}"/>
                  </a:ext>
                </a:extLst>
              </p:cNvPr>
              <p:cNvSpPr txBox="1"/>
              <p:nvPr/>
            </p:nvSpPr>
            <p:spPr>
              <a:xfrm>
                <a:off x="10370716" y="3908260"/>
                <a:ext cx="10823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bg1">
                        <a:lumMod val="6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股指期货交割日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B661784-2731-DD94-C7CB-A6AFC549F3C4}"/>
                  </a:ext>
                </a:extLst>
              </p:cNvPr>
              <p:cNvSpPr txBox="1"/>
              <p:nvPr/>
            </p:nvSpPr>
            <p:spPr>
              <a:xfrm>
                <a:off x="7019381" y="2193342"/>
                <a:ext cx="6976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accent4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现货指数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66709FC-99D5-6107-9DB1-2C1A32997532}"/>
                  </a:ext>
                </a:extLst>
              </p:cNvPr>
              <p:cNvSpPr txBox="1"/>
              <p:nvPr/>
            </p:nvSpPr>
            <p:spPr>
              <a:xfrm>
                <a:off x="7019381" y="3089931"/>
                <a:ext cx="6976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accent6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股指期货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B5B37B3-A278-BA22-43A7-6F5277C1989B}"/>
                  </a:ext>
                </a:extLst>
              </p:cNvPr>
              <p:cNvSpPr txBox="1"/>
              <p:nvPr/>
            </p:nvSpPr>
            <p:spPr>
              <a:xfrm>
                <a:off x="6674225" y="3911105"/>
                <a:ext cx="56938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bg1">
                        <a:lumMod val="6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起息日</a:t>
                </a:r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307B23E-0B73-6EBF-44A1-D264CFC0555F}"/>
              </a:ext>
            </a:extLst>
          </p:cNvPr>
          <p:cNvGrpSpPr/>
          <p:nvPr/>
        </p:nvGrpSpPr>
        <p:grpSpPr>
          <a:xfrm>
            <a:off x="557476" y="3636304"/>
            <a:ext cx="5205051" cy="3030673"/>
            <a:chOff x="557476" y="3636304"/>
            <a:chExt cx="5205051" cy="303067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516BD72-5FE3-A089-5540-2ACD0F30DD25}"/>
                </a:ext>
              </a:extLst>
            </p:cNvPr>
            <p:cNvSpPr/>
            <p:nvPr/>
          </p:nvSpPr>
          <p:spPr>
            <a:xfrm>
              <a:off x="563339" y="4126000"/>
              <a:ext cx="2599594" cy="119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847CE0B-B1EF-CE32-0C4B-DB4E21FF4137}"/>
                </a:ext>
              </a:extLst>
            </p:cNvPr>
            <p:cNvSpPr/>
            <p:nvPr/>
          </p:nvSpPr>
          <p:spPr>
            <a:xfrm>
              <a:off x="3162933" y="4126000"/>
              <a:ext cx="2599594" cy="1191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209F83A-C842-05A6-A0CB-55D9ED3A68D5}"/>
                </a:ext>
              </a:extLst>
            </p:cNvPr>
            <p:cNvSpPr/>
            <p:nvPr/>
          </p:nvSpPr>
          <p:spPr>
            <a:xfrm>
              <a:off x="563340" y="5430850"/>
              <a:ext cx="296009" cy="119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54C15EF-6BAA-D173-1B75-9B4899FDFD83}"/>
                </a:ext>
              </a:extLst>
            </p:cNvPr>
            <p:cNvSpPr/>
            <p:nvPr/>
          </p:nvSpPr>
          <p:spPr>
            <a:xfrm>
              <a:off x="859348" y="5430850"/>
              <a:ext cx="4903179" cy="1191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7DB29DA-76FC-1D4C-F769-0C0466F7A6F6}"/>
                </a:ext>
              </a:extLst>
            </p:cNvPr>
            <p:cNvCxnSpPr/>
            <p:nvPr/>
          </p:nvCxnSpPr>
          <p:spPr>
            <a:xfrm>
              <a:off x="563339" y="4323827"/>
              <a:ext cx="0" cy="98473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9C1B969-CF50-F513-7F54-45C7CA368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348" y="4357530"/>
              <a:ext cx="2303585" cy="98180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" name="标注: 线形 24">
              <a:extLst>
                <a:ext uri="{FF2B5EF4-FFF2-40B4-BE49-F238E27FC236}">
                  <a16:creationId xmlns:a16="http://schemas.microsoft.com/office/drawing/2014/main" id="{850F4778-00E5-5B12-80EA-4F6645E39020}"/>
                </a:ext>
              </a:extLst>
            </p:cNvPr>
            <p:cNvSpPr/>
            <p:nvPr/>
          </p:nvSpPr>
          <p:spPr>
            <a:xfrm>
              <a:off x="805804" y="6111826"/>
              <a:ext cx="1473504" cy="555151"/>
            </a:xfrm>
            <a:prstGeom prst="borderCallout1">
              <a:avLst>
                <a:gd name="adj1" fmla="val -891"/>
                <a:gd name="adj2" fmla="val 29095"/>
                <a:gd name="adj3" fmla="val -99849"/>
                <a:gd name="adj4" fmla="val -10256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latin typeface="楷体" panose="02010609060101010101" pitchFamily="49" charset="-122"/>
                  <a:ea typeface="楷体" panose="02010609060101010101" pitchFamily="49" charset="-122"/>
                </a:rPr>
                <a:t>股指期货的保证金机制，实际对冲占资较少</a:t>
              </a:r>
            </a:p>
          </p:txBody>
        </p:sp>
        <p:sp>
          <p:nvSpPr>
            <p:cNvPr id="26" name="标注: 线形 25">
              <a:extLst>
                <a:ext uri="{FF2B5EF4-FFF2-40B4-BE49-F238E27FC236}">
                  <a16:creationId xmlns:a16="http://schemas.microsoft.com/office/drawing/2014/main" id="{6FDE5C05-99E5-FFF8-1A0E-65D0BD9F2C3F}"/>
                </a:ext>
              </a:extLst>
            </p:cNvPr>
            <p:cNvSpPr/>
            <p:nvPr/>
          </p:nvSpPr>
          <p:spPr>
            <a:xfrm>
              <a:off x="3587104" y="6111825"/>
              <a:ext cx="1473504" cy="555151"/>
            </a:xfrm>
            <a:prstGeom prst="borderCallout1">
              <a:avLst>
                <a:gd name="adj1" fmla="val -891"/>
                <a:gd name="adj2" fmla="val 29095"/>
                <a:gd name="adj3" fmla="val -100641"/>
                <a:gd name="adj4" fmla="val 57767"/>
              </a:avLst>
            </a:prstGeom>
            <a:solidFill>
              <a:schemeClr val="accent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latin typeface="楷体" panose="02010609060101010101" pitchFamily="49" charset="-122"/>
                  <a:ea typeface="楷体" panose="02010609060101010101" pitchFamily="49" charset="-122"/>
                </a:rPr>
                <a:t>剩余保证金用来投资理财赚取稳健的资金收益</a:t>
              </a: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C6918DA7-CA84-686D-AFA5-1E0735353B4F}"/>
                </a:ext>
              </a:extLst>
            </p:cNvPr>
            <p:cNvCxnSpPr>
              <a:cxnSpLocks/>
            </p:cNvCxnSpPr>
            <p:nvPr/>
          </p:nvCxnSpPr>
          <p:spPr>
            <a:xfrm>
              <a:off x="557476" y="3643537"/>
              <a:ext cx="0" cy="2989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5D407CE-EB88-AC04-4879-1DD8F3079A5E}"/>
                </a:ext>
              </a:extLst>
            </p:cNvPr>
            <p:cNvCxnSpPr>
              <a:cxnSpLocks/>
            </p:cNvCxnSpPr>
            <p:nvPr/>
          </p:nvCxnSpPr>
          <p:spPr>
            <a:xfrm>
              <a:off x="5714166" y="3643538"/>
              <a:ext cx="0" cy="2989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3BC824F-8CEC-A4C2-76E2-5C168B5762A3}"/>
                </a:ext>
              </a:extLst>
            </p:cNvPr>
            <p:cNvCxnSpPr/>
            <p:nvPr/>
          </p:nvCxnSpPr>
          <p:spPr>
            <a:xfrm flipV="1">
              <a:off x="564803" y="3653444"/>
              <a:ext cx="51493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7C8F8C7-E256-F1BA-68BC-C89C71E2D101}"/>
                </a:ext>
              </a:extLst>
            </p:cNvPr>
            <p:cNvSpPr txBox="1"/>
            <p:nvPr/>
          </p:nvSpPr>
          <p:spPr>
            <a:xfrm>
              <a:off x="1958869" y="3636304"/>
              <a:ext cx="23054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100%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名义本金的保证金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F8E663C-ABEE-33C5-F918-2316CCFD12C8}"/>
              </a:ext>
            </a:extLst>
          </p:cNvPr>
          <p:cNvGrpSpPr/>
          <p:nvPr/>
        </p:nvGrpSpPr>
        <p:grpSpPr>
          <a:xfrm>
            <a:off x="6865578" y="3951391"/>
            <a:ext cx="4673507" cy="2694458"/>
            <a:chOff x="6875822" y="4207198"/>
            <a:chExt cx="4673507" cy="269445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0306A85-6DFA-162B-6ED1-7940EF0F2F37}"/>
                </a:ext>
              </a:extLst>
            </p:cNvPr>
            <p:cNvSpPr txBox="1"/>
            <p:nvPr/>
          </p:nvSpPr>
          <p:spPr>
            <a:xfrm>
              <a:off x="6901144" y="4255419"/>
              <a:ext cx="4612621" cy="2646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目前中证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1000/</a:t>
              </a: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中证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500</a:t>
              </a: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的股指期货相对现货长期贴水，为雪球投资者提供了额外的收益来源，票息贴水贡献超过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5%</a:t>
              </a: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，但由于期限错配等问题，基差也有可能不如预期收敛，也可能面临亏损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不同的卖方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——</a:t>
              </a: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对冲机构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——</a:t>
              </a: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资金成本，投向有差异。资源禀赋的差异导致不同机构对不同的结构报价有较大差异。资金收益一项也有可能面临不及预期的风险。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行情持续低迷，波动亦可能不如预期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。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B31598C-D284-27AE-415D-8F2BB1502320}"/>
                </a:ext>
              </a:extLst>
            </p:cNvPr>
            <p:cNvSpPr/>
            <p:nvPr/>
          </p:nvSpPr>
          <p:spPr>
            <a:xfrm>
              <a:off x="6875822" y="4207198"/>
              <a:ext cx="4673507" cy="258445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爆炸形: 14 pt  31">
            <a:extLst>
              <a:ext uri="{FF2B5EF4-FFF2-40B4-BE49-F238E27FC236}">
                <a16:creationId xmlns:a16="http://schemas.microsoft.com/office/drawing/2014/main" id="{415F1570-EFB9-1720-DA19-0DE5986CD863}"/>
              </a:ext>
            </a:extLst>
          </p:cNvPr>
          <p:cNvSpPr/>
          <p:nvPr/>
        </p:nvSpPr>
        <p:spPr>
          <a:xfrm>
            <a:off x="10335149" y="5676445"/>
            <a:ext cx="1210409" cy="914400"/>
          </a:xfrm>
          <a:prstGeom prst="irregularSeal2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盈亏同源</a:t>
            </a:r>
          </a:p>
        </p:txBody>
      </p:sp>
    </p:spTree>
    <p:extLst>
      <p:ext uri="{BB962C8B-B14F-4D97-AF65-F5344CB8AC3E}">
        <p14:creationId xmlns:p14="http://schemas.microsoft.com/office/powerpoint/2010/main" val="341406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9F70-EE4F-8283-0942-B52A4136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0CB6268-52A9-C15A-4194-7194108E90B1}"/>
              </a:ext>
            </a:extLst>
          </p:cNvPr>
          <p:cNvSpPr txBox="1"/>
          <p:nvPr/>
        </p:nvSpPr>
        <p:spPr>
          <a:xfrm>
            <a:off x="535604" y="2141387"/>
            <a:ext cx="4387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投资策略要点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股指常年处于贴水状态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股指期货到期日会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期现收敛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无需预测未来是上涨还是下跌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079803E-C9C0-9158-D27C-571D4F7A3C7B}"/>
              </a:ext>
            </a:extLst>
          </p:cNvPr>
          <p:cNvSpPr txBox="1">
            <a:spLocks/>
          </p:cNvSpPr>
          <p:nvPr/>
        </p:nvSpPr>
        <p:spPr>
          <a:xfrm>
            <a:off x="579120" y="2963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二赚：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股指期货贴水收益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FD61902-475A-7CA2-A106-F58DA4BA07E0}"/>
              </a:ext>
            </a:extLst>
          </p:cNvPr>
          <p:cNvGrpSpPr/>
          <p:nvPr/>
        </p:nvGrpSpPr>
        <p:grpSpPr>
          <a:xfrm>
            <a:off x="6343095" y="1411901"/>
            <a:ext cx="4875107" cy="2382315"/>
            <a:chOff x="6638658" y="1144046"/>
            <a:chExt cx="4875107" cy="2382315"/>
          </a:xfrm>
        </p:grpSpPr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F898C7D9-8594-52C1-102D-673C35261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323" y="1191826"/>
              <a:ext cx="0" cy="2031023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2063F7AD-C3FA-6D32-D65E-931A0E8431BA}"/>
                </a:ext>
              </a:extLst>
            </p:cNvPr>
            <p:cNvGrpSpPr/>
            <p:nvPr/>
          </p:nvGrpSpPr>
          <p:grpSpPr>
            <a:xfrm>
              <a:off x="6638658" y="1144046"/>
              <a:ext cx="4875107" cy="2382315"/>
              <a:chOff x="6674225" y="1775011"/>
              <a:chExt cx="4875107" cy="2382315"/>
            </a:xfrm>
          </p:grpSpPr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7EC63699-6422-BA1C-DBB8-01DBF8466E18}"/>
                  </a:ext>
                </a:extLst>
              </p:cNvPr>
              <p:cNvSpPr/>
              <p:nvPr/>
            </p:nvSpPr>
            <p:spPr>
              <a:xfrm>
                <a:off x="6911390" y="1887479"/>
                <a:ext cx="4000500" cy="1063869"/>
              </a:xfrm>
              <a:custGeom>
                <a:avLst/>
                <a:gdLst>
                  <a:gd name="connsiteX0" fmla="*/ 0 w 4000500"/>
                  <a:gd name="connsiteY0" fmla="*/ 835269 h 1063869"/>
                  <a:gd name="connsiteX1" fmla="*/ 65942 w 4000500"/>
                  <a:gd name="connsiteY1" fmla="*/ 813288 h 1063869"/>
                  <a:gd name="connsiteX2" fmla="*/ 413239 w 4000500"/>
                  <a:gd name="connsiteY2" fmla="*/ 646234 h 1063869"/>
                  <a:gd name="connsiteX3" fmla="*/ 531935 w 4000500"/>
                  <a:gd name="connsiteY3" fmla="*/ 606669 h 1063869"/>
                  <a:gd name="connsiteX4" fmla="*/ 940777 w 4000500"/>
                  <a:gd name="connsiteY4" fmla="*/ 690196 h 1063869"/>
                  <a:gd name="connsiteX5" fmla="*/ 1090246 w 4000500"/>
                  <a:gd name="connsiteY5" fmla="*/ 852854 h 1063869"/>
                  <a:gd name="connsiteX6" fmla="*/ 1494692 w 4000500"/>
                  <a:gd name="connsiteY6" fmla="*/ 1041888 h 1063869"/>
                  <a:gd name="connsiteX7" fmla="*/ 1696915 w 4000500"/>
                  <a:gd name="connsiteY7" fmla="*/ 1063869 h 1063869"/>
                  <a:gd name="connsiteX8" fmla="*/ 2070589 w 4000500"/>
                  <a:gd name="connsiteY8" fmla="*/ 896815 h 1063869"/>
                  <a:gd name="connsiteX9" fmla="*/ 2343150 w 4000500"/>
                  <a:gd name="connsiteY9" fmla="*/ 593480 h 1063869"/>
                  <a:gd name="connsiteX10" fmla="*/ 2558562 w 4000500"/>
                  <a:gd name="connsiteY10" fmla="*/ 404446 h 1063869"/>
                  <a:gd name="connsiteX11" fmla="*/ 2690446 w 4000500"/>
                  <a:gd name="connsiteY11" fmla="*/ 351692 h 1063869"/>
                  <a:gd name="connsiteX12" fmla="*/ 2976196 w 4000500"/>
                  <a:gd name="connsiteY12" fmla="*/ 320919 h 1063869"/>
                  <a:gd name="connsiteX13" fmla="*/ 3270739 w 4000500"/>
                  <a:gd name="connsiteY13" fmla="*/ 422030 h 1063869"/>
                  <a:gd name="connsiteX14" fmla="*/ 3494942 w 4000500"/>
                  <a:gd name="connsiteY14" fmla="*/ 470388 h 1063869"/>
                  <a:gd name="connsiteX15" fmla="*/ 3749919 w 4000500"/>
                  <a:gd name="connsiteY15" fmla="*/ 241788 h 1063869"/>
                  <a:gd name="connsiteX16" fmla="*/ 3930162 w 4000500"/>
                  <a:gd name="connsiteY16" fmla="*/ 83527 h 1063869"/>
                  <a:gd name="connsiteX17" fmla="*/ 3982915 w 4000500"/>
                  <a:gd name="connsiteY17" fmla="*/ 35169 h 1063869"/>
                  <a:gd name="connsiteX18" fmla="*/ 3996104 w 4000500"/>
                  <a:gd name="connsiteY18" fmla="*/ 13188 h 1063869"/>
                  <a:gd name="connsiteX19" fmla="*/ 4000500 w 4000500"/>
                  <a:gd name="connsiteY19" fmla="*/ 0 h 1063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000500" h="1063869">
                    <a:moveTo>
                      <a:pt x="0" y="835269"/>
                    </a:moveTo>
                    <a:cubicBezTo>
                      <a:pt x="21981" y="827942"/>
                      <a:pt x="44872" y="822926"/>
                      <a:pt x="65942" y="813288"/>
                    </a:cubicBezTo>
                    <a:cubicBezTo>
                      <a:pt x="182761" y="759849"/>
                      <a:pt x="291369" y="686857"/>
                      <a:pt x="413239" y="646234"/>
                    </a:cubicBezTo>
                    <a:lnTo>
                      <a:pt x="531935" y="606669"/>
                    </a:lnTo>
                    <a:cubicBezTo>
                      <a:pt x="668216" y="634511"/>
                      <a:pt x="813505" y="634076"/>
                      <a:pt x="940777" y="690196"/>
                    </a:cubicBezTo>
                    <a:cubicBezTo>
                      <a:pt x="1008152" y="719905"/>
                      <a:pt x="1033427" y="806017"/>
                      <a:pt x="1090246" y="852854"/>
                    </a:cubicBezTo>
                    <a:cubicBezTo>
                      <a:pt x="1189344" y="934543"/>
                      <a:pt x="1375537" y="1012707"/>
                      <a:pt x="1494692" y="1041888"/>
                    </a:cubicBezTo>
                    <a:cubicBezTo>
                      <a:pt x="1560551" y="1058017"/>
                      <a:pt x="1629507" y="1056542"/>
                      <a:pt x="1696915" y="1063869"/>
                    </a:cubicBezTo>
                    <a:cubicBezTo>
                      <a:pt x="1813274" y="1024257"/>
                      <a:pt x="1974265" y="984469"/>
                      <a:pt x="2070589" y="896815"/>
                    </a:cubicBezTo>
                    <a:cubicBezTo>
                      <a:pt x="2171126" y="805326"/>
                      <a:pt x="2251393" y="693773"/>
                      <a:pt x="2343150" y="593480"/>
                    </a:cubicBezTo>
                    <a:cubicBezTo>
                      <a:pt x="2412901" y="517241"/>
                      <a:pt x="2467021" y="454378"/>
                      <a:pt x="2558562" y="404446"/>
                    </a:cubicBezTo>
                    <a:cubicBezTo>
                      <a:pt x="2600128" y="381773"/>
                      <a:pt x="2644436" y="362866"/>
                      <a:pt x="2690446" y="351692"/>
                    </a:cubicBezTo>
                    <a:cubicBezTo>
                      <a:pt x="2749116" y="337444"/>
                      <a:pt x="2902999" y="326775"/>
                      <a:pt x="2976196" y="320919"/>
                    </a:cubicBezTo>
                    <a:cubicBezTo>
                      <a:pt x="3281399" y="390284"/>
                      <a:pt x="2743115" y="262644"/>
                      <a:pt x="3270739" y="422030"/>
                    </a:cubicBezTo>
                    <a:cubicBezTo>
                      <a:pt x="3343926" y="444138"/>
                      <a:pt x="3420208" y="454269"/>
                      <a:pt x="3494942" y="470388"/>
                    </a:cubicBezTo>
                    <a:cubicBezTo>
                      <a:pt x="3695477" y="396507"/>
                      <a:pt x="3455732" y="500097"/>
                      <a:pt x="3749919" y="241788"/>
                    </a:cubicBezTo>
                    <a:lnTo>
                      <a:pt x="3930162" y="83527"/>
                    </a:lnTo>
                    <a:cubicBezTo>
                      <a:pt x="3948010" y="67700"/>
                      <a:pt x="3970642" y="55624"/>
                      <a:pt x="3982915" y="35169"/>
                    </a:cubicBezTo>
                    <a:cubicBezTo>
                      <a:pt x="3987311" y="27842"/>
                      <a:pt x="3992283" y="20831"/>
                      <a:pt x="3996104" y="13188"/>
                    </a:cubicBezTo>
                    <a:cubicBezTo>
                      <a:pt x="3998176" y="9043"/>
                      <a:pt x="4000500" y="0"/>
                      <a:pt x="4000500" y="0"/>
                    </a:cubicBezTo>
                  </a:path>
                </a:pathLst>
              </a:cu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FC6AB7F1-53B0-5702-EBE9-79C1EA740268}"/>
                  </a:ext>
                </a:extLst>
              </p:cNvPr>
              <p:cNvSpPr/>
              <p:nvPr/>
            </p:nvSpPr>
            <p:spPr>
              <a:xfrm>
                <a:off x="6911390" y="1887479"/>
                <a:ext cx="4000500" cy="1725125"/>
              </a:xfrm>
              <a:custGeom>
                <a:avLst/>
                <a:gdLst>
                  <a:gd name="connsiteX0" fmla="*/ 0 w 3925777"/>
                  <a:gd name="connsiteY0" fmla="*/ 1538654 h 1657350"/>
                  <a:gd name="connsiteX1" fmla="*/ 26377 w 3925777"/>
                  <a:gd name="connsiteY1" fmla="*/ 1494692 h 1657350"/>
                  <a:gd name="connsiteX2" fmla="*/ 35169 w 3925777"/>
                  <a:gd name="connsiteY2" fmla="*/ 1477107 h 1657350"/>
                  <a:gd name="connsiteX3" fmla="*/ 48358 w 3925777"/>
                  <a:gd name="connsiteY3" fmla="*/ 1468315 h 1657350"/>
                  <a:gd name="connsiteX4" fmla="*/ 145073 w 3925777"/>
                  <a:gd name="connsiteY4" fmla="*/ 1455127 h 1657350"/>
                  <a:gd name="connsiteX5" fmla="*/ 232996 w 3925777"/>
                  <a:gd name="connsiteY5" fmla="*/ 1441938 h 1657350"/>
                  <a:gd name="connsiteX6" fmla="*/ 751742 w 3925777"/>
                  <a:gd name="connsiteY6" fmla="*/ 1446334 h 1657350"/>
                  <a:gd name="connsiteX7" fmla="*/ 839665 w 3925777"/>
                  <a:gd name="connsiteY7" fmla="*/ 1477107 h 1657350"/>
                  <a:gd name="connsiteX8" fmla="*/ 1213338 w 3925777"/>
                  <a:gd name="connsiteY8" fmla="*/ 1573823 h 1657350"/>
                  <a:gd name="connsiteX9" fmla="*/ 1310054 w 3925777"/>
                  <a:gd name="connsiteY9" fmla="*/ 1608992 h 1657350"/>
                  <a:gd name="connsiteX10" fmla="*/ 1521069 w 3925777"/>
                  <a:gd name="connsiteY10" fmla="*/ 1648557 h 1657350"/>
                  <a:gd name="connsiteX11" fmla="*/ 1666142 w 3925777"/>
                  <a:gd name="connsiteY11" fmla="*/ 1657350 h 1657350"/>
                  <a:gd name="connsiteX12" fmla="*/ 1745273 w 3925777"/>
                  <a:gd name="connsiteY12" fmla="*/ 1648557 h 1657350"/>
                  <a:gd name="connsiteX13" fmla="*/ 1771650 w 3925777"/>
                  <a:gd name="connsiteY13" fmla="*/ 1644161 h 1657350"/>
                  <a:gd name="connsiteX14" fmla="*/ 1811215 w 3925777"/>
                  <a:gd name="connsiteY14" fmla="*/ 1626577 h 1657350"/>
                  <a:gd name="connsiteX15" fmla="*/ 1868365 w 3925777"/>
                  <a:gd name="connsiteY15" fmla="*/ 1604596 h 1657350"/>
                  <a:gd name="connsiteX16" fmla="*/ 1912327 w 3925777"/>
                  <a:gd name="connsiteY16" fmla="*/ 1573823 h 1657350"/>
                  <a:gd name="connsiteX17" fmla="*/ 1929911 w 3925777"/>
                  <a:gd name="connsiteY17" fmla="*/ 1543050 h 1657350"/>
                  <a:gd name="connsiteX18" fmla="*/ 2013438 w 3925777"/>
                  <a:gd name="connsiteY18" fmla="*/ 1450731 h 1657350"/>
                  <a:gd name="connsiteX19" fmla="*/ 2158511 w 3925777"/>
                  <a:gd name="connsiteY19" fmla="*/ 1301261 h 1657350"/>
                  <a:gd name="connsiteX20" fmla="*/ 2264019 w 3925777"/>
                  <a:gd name="connsiteY20" fmla="*/ 1169377 h 1657350"/>
                  <a:gd name="connsiteX21" fmla="*/ 2294792 w 3925777"/>
                  <a:gd name="connsiteY21" fmla="*/ 1164981 h 1657350"/>
                  <a:gd name="connsiteX22" fmla="*/ 2351942 w 3925777"/>
                  <a:gd name="connsiteY22" fmla="*/ 1143000 h 1657350"/>
                  <a:gd name="connsiteX23" fmla="*/ 2422281 w 3925777"/>
                  <a:gd name="connsiteY23" fmla="*/ 1059473 h 1657350"/>
                  <a:gd name="connsiteX24" fmla="*/ 2475034 w 3925777"/>
                  <a:gd name="connsiteY24" fmla="*/ 997927 h 1657350"/>
                  <a:gd name="connsiteX25" fmla="*/ 2567354 w 3925777"/>
                  <a:gd name="connsiteY25" fmla="*/ 861646 h 1657350"/>
                  <a:gd name="connsiteX26" fmla="*/ 2580542 w 3925777"/>
                  <a:gd name="connsiteY26" fmla="*/ 839665 h 1657350"/>
                  <a:gd name="connsiteX27" fmla="*/ 2611315 w 3925777"/>
                  <a:gd name="connsiteY27" fmla="*/ 800100 h 1657350"/>
                  <a:gd name="connsiteX28" fmla="*/ 2650881 w 3925777"/>
                  <a:gd name="connsiteY28" fmla="*/ 681404 h 1657350"/>
                  <a:gd name="connsiteX29" fmla="*/ 2655277 w 3925777"/>
                  <a:gd name="connsiteY29" fmla="*/ 646234 h 1657350"/>
                  <a:gd name="connsiteX30" fmla="*/ 2659673 w 3925777"/>
                  <a:gd name="connsiteY30" fmla="*/ 633046 h 1657350"/>
                  <a:gd name="connsiteX31" fmla="*/ 2756388 w 3925777"/>
                  <a:gd name="connsiteY31" fmla="*/ 593481 h 1657350"/>
                  <a:gd name="connsiteX32" fmla="*/ 2787161 w 3925777"/>
                  <a:gd name="connsiteY32" fmla="*/ 580292 h 1657350"/>
                  <a:gd name="connsiteX33" fmla="*/ 2980592 w 3925777"/>
                  <a:gd name="connsiteY33" fmla="*/ 562707 h 1657350"/>
                  <a:gd name="connsiteX34" fmla="*/ 3169627 w 3925777"/>
                  <a:gd name="connsiteY34" fmla="*/ 606669 h 1657350"/>
                  <a:gd name="connsiteX35" fmla="*/ 3288323 w 3925777"/>
                  <a:gd name="connsiteY35" fmla="*/ 624254 h 1657350"/>
                  <a:gd name="connsiteX36" fmla="*/ 3336681 w 3925777"/>
                  <a:gd name="connsiteY36" fmla="*/ 628650 h 1657350"/>
                  <a:gd name="connsiteX37" fmla="*/ 3618034 w 3925777"/>
                  <a:gd name="connsiteY37" fmla="*/ 602273 h 1657350"/>
                  <a:gd name="connsiteX38" fmla="*/ 3675184 w 3925777"/>
                  <a:gd name="connsiteY38" fmla="*/ 562707 h 1657350"/>
                  <a:gd name="connsiteX39" fmla="*/ 3697165 w 3925777"/>
                  <a:gd name="connsiteY39" fmla="*/ 527538 h 1657350"/>
                  <a:gd name="connsiteX40" fmla="*/ 3719146 w 3925777"/>
                  <a:gd name="connsiteY40" fmla="*/ 479181 h 1657350"/>
                  <a:gd name="connsiteX41" fmla="*/ 3749919 w 3925777"/>
                  <a:gd name="connsiteY41" fmla="*/ 444011 h 1657350"/>
                  <a:gd name="connsiteX42" fmla="*/ 3807069 w 3925777"/>
                  <a:gd name="connsiteY42" fmla="*/ 320919 h 1657350"/>
                  <a:gd name="connsiteX43" fmla="*/ 3815861 w 3925777"/>
                  <a:gd name="connsiteY43" fmla="*/ 290146 h 1657350"/>
                  <a:gd name="connsiteX44" fmla="*/ 3829050 w 3925777"/>
                  <a:gd name="connsiteY44" fmla="*/ 268165 h 1657350"/>
                  <a:gd name="connsiteX45" fmla="*/ 3864219 w 3925777"/>
                  <a:gd name="connsiteY45" fmla="*/ 197827 h 1657350"/>
                  <a:gd name="connsiteX46" fmla="*/ 3894992 w 3925777"/>
                  <a:gd name="connsiteY46" fmla="*/ 145073 h 1657350"/>
                  <a:gd name="connsiteX47" fmla="*/ 3908181 w 3925777"/>
                  <a:gd name="connsiteY47" fmla="*/ 87923 h 1657350"/>
                  <a:gd name="connsiteX48" fmla="*/ 3916973 w 3925777"/>
                  <a:gd name="connsiteY48" fmla="*/ 43961 h 1657350"/>
                  <a:gd name="connsiteX49" fmla="*/ 3925765 w 3925777"/>
                  <a:gd name="connsiteY49" fmla="*/ 0 h 1657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3925777" h="1657350">
                    <a:moveTo>
                      <a:pt x="0" y="1538654"/>
                    </a:moveTo>
                    <a:cubicBezTo>
                      <a:pt x="8792" y="1524000"/>
                      <a:pt x="18735" y="1509977"/>
                      <a:pt x="26377" y="1494692"/>
                    </a:cubicBezTo>
                    <a:cubicBezTo>
                      <a:pt x="29308" y="1488830"/>
                      <a:pt x="30974" y="1482141"/>
                      <a:pt x="35169" y="1477107"/>
                    </a:cubicBezTo>
                    <a:cubicBezTo>
                      <a:pt x="38552" y="1473048"/>
                      <a:pt x="43177" y="1469351"/>
                      <a:pt x="48358" y="1468315"/>
                    </a:cubicBezTo>
                    <a:cubicBezTo>
                      <a:pt x="80263" y="1461934"/>
                      <a:pt x="112863" y="1459728"/>
                      <a:pt x="145073" y="1455127"/>
                    </a:cubicBezTo>
                    <a:lnTo>
                      <a:pt x="232996" y="1441938"/>
                    </a:lnTo>
                    <a:lnTo>
                      <a:pt x="751742" y="1446334"/>
                    </a:lnTo>
                    <a:cubicBezTo>
                      <a:pt x="782741" y="1448131"/>
                      <a:pt x="809784" y="1468662"/>
                      <a:pt x="839665" y="1477107"/>
                    </a:cubicBezTo>
                    <a:cubicBezTo>
                      <a:pt x="1022261" y="1528710"/>
                      <a:pt x="959734" y="1481605"/>
                      <a:pt x="1213338" y="1573823"/>
                    </a:cubicBezTo>
                    <a:cubicBezTo>
                      <a:pt x="1245577" y="1585546"/>
                      <a:pt x="1277122" y="1599387"/>
                      <a:pt x="1310054" y="1608992"/>
                    </a:cubicBezTo>
                    <a:cubicBezTo>
                      <a:pt x="1374916" y="1627910"/>
                      <a:pt x="1453130" y="1642381"/>
                      <a:pt x="1521069" y="1648557"/>
                    </a:cubicBezTo>
                    <a:cubicBezTo>
                      <a:pt x="1569316" y="1652943"/>
                      <a:pt x="1666142" y="1657350"/>
                      <a:pt x="1666142" y="1657350"/>
                    </a:cubicBezTo>
                    <a:lnTo>
                      <a:pt x="1745273" y="1648557"/>
                    </a:lnTo>
                    <a:cubicBezTo>
                      <a:pt x="1754118" y="1647451"/>
                      <a:pt x="1763194" y="1646980"/>
                      <a:pt x="1771650" y="1644161"/>
                    </a:cubicBezTo>
                    <a:cubicBezTo>
                      <a:pt x="1785342" y="1639597"/>
                      <a:pt x="1797857" y="1632041"/>
                      <a:pt x="1811215" y="1626577"/>
                    </a:cubicBezTo>
                    <a:cubicBezTo>
                      <a:pt x="1830106" y="1618849"/>
                      <a:pt x="1850269" y="1614037"/>
                      <a:pt x="1868365" y="1604596"/>
                    </a:cubicBezTo>
                    <a:cubicBezTo>
                      <a:pt x="1884224" y="1596322"/>
                      <a:pt x="1897673" y="1584081"/>
                      <a:pt x="1912327" y="1573823"/>
                    </a:cubicBezTo>
                    <a:cubicBezTo>
                      <a:pt x="1918188" y="1563565"/>
                      <a:pt x="1922994" y="1552628"/>
                      <a:pt x="1929911" y="1543050"/>
                    </a:cubicBezTo>
                    <a:cubicBezTo>
                      <a:pt x="1951342" y="1513377"/>
                      <a:pt x="1985852" y="1474869"/>
                      <a:pt x="2013438" y="1450731"/>
                    </a:cubicBezTo>
                    <a:cubicBezTo>
                      <a:pt x="2087751" y="1385707"/>
                      <a:pt x="2094573" y="1405157"/>
                      <a:pt x="2158511" y="1301261"/>
                    </a:cubicBezTo>
                    <a:cubicBezTo>
                      <a:pt x="2176853" y="1271456"/>
                      <a:pt x="2231508" y="1174021"/>
                      <a:pt x="2264019" y="1169377"/>
                    </a:cubicBezTo>
                    <a:lnTo>
                      <a:pt x="2294792" y="1164981"/>
                    </a:lnTo>
                    <a:cubicBezTo>
                      <a:pt x="2313842" y="1157654"/>
                      <a:pt x="2334370" y="1153383"/>
                      <a:pt x="2351942" y="1143000"/>
                    </a:cubicBezTo>
                    <a:cubicBezTo>
                      <a:pt x="2396763" y="1116515"/>
                      <a:pt x="2391807" y="1099571"/>
                      <a:pt x="2422281" y="1059473"/>
                    </a:cubicBezTo>
                    <a:cubicBezTo>
                      <a:pt x="2438630" y="1037960"/>
                      <a:pt x="2459055" y="1019716"/>
                      <a:pt x="2475034" y="997927"/>
                    </a:cubicBezTo>
                    <a:cubicBezTo>
                      <a:pt x="2507482" y="953680"/>
                      <a:pt x="2539125" y="908696"/>
                      <a:pt x="2567354" y="861646"/>
                    </a:cubicBezTo>
                    <a:cubicBezTo>
                      <a:pt x="2571750" y="854319"/>
                      <a:pt x="2575576" y="846618"/>
                      <a:pt x="2580542" y="839665"/>
                    </a:cubicBezTo>
                    <a:cubicBezTo>
                      <a:pt x="2590253" y="826069"/>
                      <a:pt x="2601057" y="813288"/>
                      <a:pt x="2611315" y="800100"/>
                    </a:cubicBezTo>
                    <a:cubicBezTo>
                      <a:pt x="2628142" y="755227"/>
                      <a:pt x="2641389" y="726490"/>
                      <a:pt x="2650881" y="681404"/>
                    </a:cubicBezTo>
                    <a:cubicBezTo>
                      <a:pt x="2653315" y="669843"/>
                      <a:pt x="2653164" y="657858"/>
                      <a:pt x="2655277" y="646234"/>
                    </a:cubicBezTo>
                    <a:cubicBezTo>
                      <a:pt x="2656106" y="641675"/>
                      <a:pt x="2655966" y="635826"/>
                      <a:pt x="2659673" y="633046"/>
                    </a:cubicBezTo>
                    <a:cubicBezTo>
                      <a:pt x="2702323" y="601059"/>
                      <a:pt x="2708858" y="609325"/>
                      <a:pt x="2756388" y="593481"/>
                    </a:cubicBezTo>
                    <a:cubicBezTo>
                      <a:pt x="2766975" y="589952"/>
                      <a:pt x="2776267" y="582713"/>
                      <a:pt x="2787161" y="580292"/>
                    </a:cubicBezTo>
                    <a:cubicBezTo>
                      <a:pt x="2860795" y="563929"/>
                      <a:pt x="2903792" y="565908"/>
                      <a:pt x="2980592" y="562707"/>
                    </a:cubicBezTo>
                    <a:cubicBezTo>
                      <a:pt x="3053044" y="580820"/>
                      <a:pt x="3098235" y="593518"/>
                      <a:pt x="3169627" y="606669"/>
                    </a:cubicBezTo>
                    <a:cubicBezTo>
                      <a:pt x="3195386" y="611414"/>
                      <a:pt x="3254288" y="620671"/>
                      <a:pt x="3288323" y="624254"/>
                    </a:cubicBezTo>
                    <a:cubicBezTo>
                      <a:pt x="3304420" y="625949"/>
                      <a:pt x="3320562" y="627185"/>
                      <a:pt x="3336681" y="628650"/>
                    </a:cubicBezTo>
                    <a:cubicBezTo>
                      <a:pt x="3347767" y="627819"/>
                      <a:pt x="3574858" y="613702"/>
                      <a:pt x="3618034" y="602273"/>
                    </a:cubicBezTo>
                    <a:cubicBezTo>
                      <a:pt x="3628984" y="599375"/>
                      <a:pt x="3663862" y="578275"/>
                      <a:pt x="3675184" y="562707"/>
                    </a:cubicBezTo>
                    <a:cubicBezTo>
                      <a:pt x="3683315" y="551527"/>
                      <a:pt x="3690726" y="539771"/>
                      <a:pt x="3697165" y="527538"/>
                    </a:cubicBezTo>
                    <a:cubicBezTo>
                      <a:pt x="3705412" y="511870"/>
                      <a:pt x="3709691" y="494151"/>
                      <a:pt x="3719146" y="479181"/>
                    </a:cubicBezTo>
                    <a:cubicBezTo>
                      <a:pt x="3727464" y="466010"/>
                      <a:pt x="3742354" y="457628"/>
                      <a:pt x="3749919" y="444011"/>
                    </a:cubicBezTo>
                    <a:cubicBezTo>
                      <a:pt x="3771888" y="404466"/>
                      <a:pt x="3794642" y="364416"/>
                      <a:pt x="3807069" y="320919"/>
                    </a:cubicBezTo>
                    <a:cubicBezTo>
                      <a:pt x="3810000" y="310661"/>
                      <a:pt x="3811758" y="299993"/>
                      <a:pt x="3815861" y="290146"/>
                    </a:cubicBezTo>
                    <a:cubicBezTo>
                      <a:pt x="3819147" y="282259"/>
                      <a:pt x="3825085" y="275734"/>
                      <a:pt x="3829050" y="268165"/>
                    </a:cubicBezTo>
                    <a:cubicBezTo>
                      <a:pt x="3841213" y="244944"/>
                      <a:pt x="3849678" y="219638"/>
                      <a:pt x="3864219" y="197827"/>
                    </a:cubicBezTo>
                    <a:cubicBezTo>
                      <a:pt x="3887257" y="163271"/>
                      <a:pt x="3877078" y="180902"/>
                      <a:pt x="3894992" y="145073"/>
                    </a:cubicBezTo>
                    <a:cubicBezTo>
                      <a:pt x="3901156" y="120416"/>
                      <a:pt x="3901451" y="119892"/>
                      <a:pt x="3908181" y="87923"/>
                    </a:cubicBezTo>
                    <a:cubicBezTo>
                      <a:pt x="3911260" y="73299"/>
                      <a:pt x="3913731" y="58549"/>
                      <a:pt x="3916973" y="43961"/>
                    </a:cubicBezTo>
                    <a:cubicBezTo>
                      <a:pt x="3926476" y="1197"/>
                      <a:pt x="3925765" y="22028"/>
                      <a:pt x="3925765" y="0"/>
                    </a:cubicBezTo>
                  </a:path>
                </a:pathLst>
              </a:cu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3D033AF8-2485-16D4-116E-046FD8863A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01145" y="1775011"/>
                <a:ext cx="10245" cy="20266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A1317137-88CA-5C85-58F5-FBCD49C26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1390" y="3801638"/>
                <a:ext cx="4637942" cy="351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CAFC206-8F87-1782-12BD-8F7F10008612}"/>
                  </a:ext>
                </a:extLst>
              </p:cNvPr>
              <p:cNvSpPr txBox="1"/>
              <p:nvPr/>
            </p:nvSpPr>
            <p:spPr>
              <a:xfrm>
                <a:off x="10370716" y="3908260"/>
                <a:ext cx="10823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bg1">
                        <a:lumMod val="6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股指期货交割日</a:t>
                </a: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89C07E-1E51-9C18-60D9-5965D253969B}"/>
                  </a:ext>
                </a:extLst>
              </p:cNvPr>
              <p:cNvSpPr txBox="1"/>
              <p:nvPr/>
            </p:nvSpPr>
            <p:spPr>
              <a:xfrm>
                <a:off x="7019381" y="2193342"/>
                <a:ext cx="6976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accent4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现货指数</a:t>
                </a: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A2B517C-61CA-4410-562C-EC61F53CC5B5}"/>
                  </a:ext>
                </a:extLst>
              </p:cNvPr>
              <p:cNvSpPr txBox="1"/>
              <p:nvPr/>
            </p:nvSpPr>
            <p:spPr>
              <a:xfrm>
                <a:off x="7019381" y="3089931"/>
                <a:ext cx="6976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accent6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股指期货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344332D-8CF1-C257-EB55-7A1D4506DFCF}"/>
                  </a:ext>
                </a:extLst>
              </p:cNvPr>
              <p:cNvSpPr txBox="1"/>
              <p:nvPr/>
            </p:nvSpPr>
            <p:spPr>
              <a:xfrm>
                <a:off x="6674225" y="3911105"/>
                <a:ext cx="56938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bg1">
                        <a:lumMod val="6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起息日</a:t>
                </a:r>
              </a:p>
            </p:txBody>
          </p:sp>
        </p:grpSp>
      </p:grpSp>
      <p:pic>
        <p:nvPicPr>
          <p:cNvPr id="45" name="图片 44">
            <a:extLst>
              <a:ext uri="{FF2B5EF4-FFF2-40B4-BE49-F238E27FC236}">
                <a16:creationId xmlns:a16="http://schemas.microsoft.com/office/drawing/2014/main" id="{7A00667B-74AE-7E23-859D-C17C534B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895" y="3946160"/>
            <a:ext cx="4455229" cy="268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8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58355-3C20-BA07-B7B4-5BB32E00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D3BB6C2-DBC3-FE88-5E12-F56CD5AEACBA}"/>
              </a:ext>
            </a:extLst>
          </p:cNvPr>
          <p:cNvSpPr txBox="1">
            <a:spLocks/>
          </p:cNvSpPr>
          <p:nvPr/>
        </p:nvSpPr>
        <p:spPr>
          <a:xfrm>
            <a:off x="527538" y="2004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三赚：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保证金投资收益</a:t>
            </a:r>
            <a:endParaRPr lang="zh-CN" altLang="en-US" sz="3200" dirty="0">
              <a:latin typeface="+mn-lt"/>
              <a:ea typeface="华文新魏" panose="020108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D4E429-806A-2F8B-6781-6EB1A36B6A1B}"/>
              </a:ext>
            </a:extLst>
          </p:cNvPr>
          <p:cNvSpPr txBox="1"/>
          <p:nvPr/>
        </p:nvSpPr>
        <p:spPr>
          <a:xfrm>
            <a:off x="535604" y="2141387"/>
            <a:ext cx="4387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投资策略要点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用于对冲场外期权的资金量有限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剩余保证金可以用于投资理财，赚取稳健的资金收益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无需预测未来是上涨还是下跌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1569FB-D9EC-8FD9-6475-177A0A4BB123}"/>
              </a:ext>
            </a:extLst>
          </p:cNvPr>
          <p:cNvGrpSpPr/>
          <p:nvPr/>
        </p:nvGrpSpPr>
        <p:grpSpPr>
          <a:xfrm>
            <a:off x="5923804" y="2334210"/>
            <a:ext cx="5205051" cy="3030673"/>
            <a:chOff x="557476" y="3636304"/>
            <a:chExt cx="5205051" cy="30306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25A9314-D328-B83D-1BE8-B787EF38D882}"/>
                </a:ext>
              </a:extLst>
            </p:cNvPr>
            <p:cNvSpPr/>
            <p:nvPr/>
          </p:nvSpPr>
          <p:spPr>
            <a:xfrm>
              <a:off x="563339" y="4126000"/>
              <a:ext cx="2599594" cy="119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91C8398-851D-F658-E087-4FD9AC6C18EE}"/>
                </a:ext>
              </a:extLst>
            </p:cNvPr>
            <p:cNvSpPr/>
            <p:nvPr/>
          </p:nvSpPr>
          <p:spPr>
            <a:xfrm>
              <a:off x="3162933" y="4126000"/>
              <a:ext cx="2599594" cy="1191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76ECF8B-09DA-AE27-4A4A-C070C6434289}"/>
                </a:ext>
              </a:extLst>
            </p:cNvPr>
            <p:cNvSpPr/>
            <p:nvPr/>
          </p:nvSpPr>
          <p:spPr>
            <a:xfrm>
              <a:off x="563340" y="5430850"/>
              <a:ext cx="296009" cy="119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90900C5-25CA-0164-B452-D17BFC5697BD}"/>
                </a:ext>
              </a:extLst>
            </p:cNvPr>
            <p:cNvSpPr/>
            <p:nvPr/>
          </p:nvSpPr>
          <p:spPr>
            <a:xfrm>
              <a:off x="859348" y="5430850"/>
              <a:ext cx="4903179" cy="1191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E7D78F2-1EB5-8598-208A-E3DE60739C88}"/>
                </a:ext>
              </a:extLst>
            </p:cNvPr>
            <p:cNvCxnSpPr/>
            <p:nvPr/>
          </p:nvCxnSpPr>
          <p:spPr>
            <a:xfrm>
              <a:off x="563339" y="4323827"/>
              <a:ext cx="0" cy="98473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9189DC1-AE30-5DE3-EA62-C07A445D86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348" y="4357530"/>
              <a:ext cx="2303585" cy="98180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9" name="标注: 线形 28">
              <a:extLst>
                <a:ext uri="{FF2B5EF4-FFF2-40B4-BE49-F238E27FC236}">
                  <a16:creationId xmlns:a16="http://schemas.microsoft.com/office/drawing/2014/main" id="{B8DCED7C-3D7A-DA3A-5E1B-77DF0A257C96}"/>
                </a:ext>
              </a:extLst>
            </p:cNvPr>
            <p:cNvSpPr/>
            <p:nvPr/>
          </p:nvSpPr>
          <p:spPr>
            <a:xfrm>
              <a:off x="805804" y="6111826"/>
              <a:ext cx="1473504" cy="555151"/>
            </a:xfrm>
            <a:prstGeom prst="borderCallout1">
              <a:avLst>
                <a:gd name="adj1" fmla="val -891"/>
                <a:gd name="adj2" fmla="val 29095"/>
                <a:gd name="adj3" fmla="val -99849"/>
                <a:gd name="adj4" fmla="val -10256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latin typeface="楷体" panose="02010609060101010101" pitchFamily="49" charset="-122"/>
                  <a:ea typeface="楷体" panose="02010609060101010101" pitchFamily="49" charset="-122"/>
                </a:rPr>
                <a:t>股指期货的保证金机制，实际对冲占资较少</a:t>
              </a:r>
            </a:p>
          </p:txBody>
        </p:sp>
        <p:sp>
          <p:nvSpPr>
            <p:cNvPr id="30" name="标注: 线形 29">
              <a:extLst>
                <a:ext uri="{FF2B5EF4-FFF2-40B4-BE49-F238E27FC236}">
                  <a16:creationId xmlns:a16="http://schemas.microsoft.com/office/drawing/2014/main" id="{CFE831CD-78DC-BB16-F88D-A1BB39B7358A}"/>
                </a:ext>
              </a:extLst>
            </p:cNvPr>
            <p:cNvSpPr/>
            <p:nvPr/>
          </p:nvSpPr>
          <p:spPr>
            <a:xfrm>
              <a:off x="3587104" y="6111825"/>
              <a:ext cx="1473504" cy="555151"/>
            </a:xfrm>
            <a:prstGeom prst="borderCallout1">
              <a:avLst>
                <a:gd name="adj1" fmla="val -891"/>
                <a:gd name="adj2" fmla="val 29095"/>
                <a:gd name="adj3" fmla="val -100641"/>
                <a:gd name="adj4" fmla="val 57767"/>
              </a:avLst>
            </a:prstGeom>
            <a:solidFill>
              <a:schemeClr val="accent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latin typeface="楷体" panose="02010609060101010101" pitchFamily="49" charset="-122"/>
                  <a:ea typeface="楷体" panose="02010609060101010101" pitchFamily="49" charset="-122"/>
                </a:rPr>
                <a:t>剩余保证金用来投资理财赚取稳健的资金收益</a:t>
              </a: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3E00E22-9025-8DDE-D8B6-E63BB8AA1062}"/>
                </a:ext>
              </a:extLst>
            </p:cNvPr>
            <p:cNvCxnSpPr>
              <a:cxnSpLocks/>
            </p:cNvCxnSpPr>
            <p:nvPr/>
          </p:nvCxnSpPr>
          <p:spPr>
            <a:xfrm>
              <a:off x="557476" y="3643537"/>
              <a:ext cx="0" cy="2989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9BAD35B4-638B-9B7D-F17B-D0014A4E7D31}"/>
                </a:ext>
              </a:extLst>
            </p:cNvPr>
            <p:cNvCxnSpPr>
              <a:cxnSpLocks/>
            </p:cNvCxnSpPr>
            <p:nvPr/>
          </p:nvCxnSpPr>
          <p:spPr>
            <a:xfrm>
              <a:off x="5714166" y="3643538"/>
              <a:ext cx="0" cy="2989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ECF8DCA-8EB4-516E-908A-9C87FF5F3558}"/>
                </a:ext>
              </a:extLst>
            </p:cNvPr>
            <p:cNvCxnSpPr/>
            <p:nvPr/>
          </p:nvCxnSpPr>
          <p:spPr>
            <a:xfrm flipV="1">
              <a:off x="564803" y="3653444"/>
              <a:ext cx="514936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1E81842-7F06-FB2B-85E0-172AA03F4AED}"/>
                </a:ext>
              </a:extLst>
            </p:cNvPr>
            <p:cNvSpPr txBox="1"/>
            <p:nvPr/>
          </p:nvSpPr>
          <p:spPr>
            <a:xfrm>
              <a:off x="1958869" y="3636304"/>
              <a:ext cx="23054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100%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名义本金的保证金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5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BA96-9DF3-E201-7517-0361F10E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DD40BDF6-A664-052E-9867-3AA6C32959A3}"/>
              </a:ext>
            </a:extLst>
          </p:cNvPr>
          <p:cNvSpPr txBox="1"/>
          <p:nvPr/>
        </p:nvSpPr>
        <p:spPr>
          <a:xfrm>
            <a:off x="267779" y="52425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收益风险概述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8519C3-F9BB-CF4F-C10A-E043F92867AE}"/>
              </a:ext>
            </a:extLst>
          </p:cNvPr>
          <p:cNvSpPr txBox="1"/>
          <p:nvPr/>
        </p:nvSpPr>
        <p:spPr>
          <a:xfrm>
            <a:off x="1025160" y="1540566"/>
            <a:ext cx="85529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收益分析：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以经典美式早利雪球为例：挂钩中证</a:t>
            </a:r>
            <a:r>
              <a:rPr lang="en-US" altLang="zh-CN" sz="2000" dirty="0">
                <a:latin typeface="+mn-ea"/>
              </a:rPr>
              <a:t>1000</a:t>
            </a:r>
            <a:r>
              <a:rPr lang="zh-CN" altLang="en-US" sz="2000" dirty="0">
                <a:latin typeface="+mn-ea"/>
              </a:rPr>
              <a:t>指数，</a:t>
            </a:r>
            <a:r>
              <a:rPr lang="en-US" altLang="zh-CN" sz="2000" dirty="0">
                <a:latin typeface="+mn-ea"/>
              </a:rPr>
              <a:t>100%</a:t>
            </a:r>
            <a:r>
              <a:rPr lang="zh-CN" altLang="en-US" sz="2000" dirty="0">
                <a:latin typeface="+mn-ea"/>
              </a:rPr>
              <a:t>敲出观察，</a:t>
            </a:r>
            <a:r>
              <a:rPr lang="en-US" altLang="zh-CN" sz="2000" dirty="0">
                <a:latin typeface="+mn-ea"/>
              </a:rPr>
              <a:t>70%</a:t>
            </a:r>
            <a:r>
              <a:rPr lang="zh-CN" altLang="en-US" sz="2000" dirty="0">
                <a:latin typeface="+mn-ea"/>
              </a:rPr>
              <a:t>敲入观察，降敲</a:t>
            </a:r>
            <a:r>
              <a:rPr lang="en-US" altLang="zh-CN" sz="2000" dirty="0">
                <a:latin typeface="+mn-ea"/>
              </a:rPr>
              <a:t>0.5%</a:t>
            </a:r>
            <a:r>
              <a:rPr lang="zh-CN" altLang="en-US" sz="2000" dirty="0">
                <a:latin typeface="+mn-ea"/>
              </a:rPr>
              <a:t>，第二年次级票息为</a:t>
            </a:r>
            <a:r>
              <a:rPr lang="en-US" altLang="zh-CN" sz="2000" dirty="0">
                <a:latin typeface="+mn-ea"/>
              </a:rPr>
              <a:t>5%</a:t>
            </a:r>
            <a:r>
              <a:rPr lang="zh-CN" altLang="en-US" sz="2000" dirty="0">
                <a:latin typeface="+mn-ea"/>
              </a:rPr>
              <a:t>，若存续期间发生敲出，首年敲出年化收益为</a:t>
            </a:r>
            <a:r>
              <a:rPr lang="en-US" altLang="zh-CN" sz="2000" dirty="0">
                <a:latin typeface="+mn-ea"/>
              </a:rPr>
              <a:t>37.2%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结构特点：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鉴于指数持续走高，市场火热，比如中证</a:t>
            </a:r>
            <a:r>
              <a:rPr lang="en-US" altLang="zh-CN" sz="2000" dirty="0">
                <a:latin typeface="+mn-ea"/>
              </a:rPr>
              <a:t>1000</a:t>
            </a:r>
            <a:r>
              <a:rPr lang="zh-CN" altLang="en-US" sz="2000" dirty="0">
                <a:latin typeface="+mn-ea"/>
              </a:rPr>
              <a:t>指数以</a:t>
            </a:r>
            <a:r>
              <a:rPr lang="en-US" altLang="zh-CN" sz="2000" dirty="0">
                <a:latin typeface="+mn-ea"/>
              </a:rPr>
              <a:t>8800</a:t>
            </a:r>
            <a:r>
              <a:rPr lang="zh-CN" altLang="en-US" sz="2000" dirty="0">
                <a:latin typeface="+mn-ea"/>
              </a:rPr>
              <a:t>计，对应的敲入线为</a:t>
            </a:r>
            <a:r>
              <a:rPr lang="en-US" altLang="zh-CN" sz="2000" dirty="0">
                <a:latin typeface="+mn-ea"/>
              </a:rPr>
              <a:t>6100</a:t>
            </a:r>
            <a:r>
              <a:rPr lang="zh-CN" altLang="en-US" sz="2000" dirty="0">
                <a:latin typeface="+mn-ea"/>
              </a:rPr>
              <a:t>，选择早利雪球，以表达相对乐观的市场观点；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同时该结构保留了降敲，提高敲出提前止盈的概率，使风险相对可控。</a:t>
            </a:r>
          </a:p>
        </p:txBody>
      </p:sp>
    </p:spTree>
    <p:extLst>
      <p:ext uri="{BB962C8B-B14F-4D97-AF65-F5344CB8AC3E}">
        <p14:creationId xmlns:p14="http://schemas.microsoft.com/office/powerpoint/2010/main" val="2541404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情景一</a:t>
            </a:r>
          </a:p>
        </p:txBody>
      </p:sp>
      <p:sp>
        <p:nvSpPr>
          <p:cNvPr id="74" name="椭圆 73"/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/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起息后，指数上涨强劲，产品在锁定期满后即敲出，那么：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早利雪球在首年敲出，获得早利票息，收益为  </a:t>
            </a:r>
            <a:r>
              <a:rPr lang="en-US" altLang="zh-CN" sz="1200" dirty="0"/>
              <a:t>37.2%【</a:t>
            </a:r>
            <a:r>
              <a:rPr lang="zh-CN" altLang="en-US" sz="1200" dirty="0"/>
              <a:t>派息率</a:t>
            </a:r>
            <a:r>
              <a:rPr lang="en-US" altLang="zh-CN" sz="1200" dirty="0"/>
              <a:t>】 * 3 / 12【</a:t>
            </a:r>
            <a:r>
              <a:rPr lang="zh-CN" altLang="en-US" sz="1200" dirty="0"/>
              <a:t>存续期限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9.3%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D8EAB30-CA8B-DF53-1A4A-E2090BBB2F47}"/>
              </a:ext>
            </a:extLst>
          </p:cNvPr>
          <p:cNvGrpSpPr/>
          <p:nvPr/>
        </p:nvGrpSpPr>
        <p:grpSpPr>
          <a:xfrm>
            <a:off x="786400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/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0B9A910-0A0A-6D8D-C6A8-9A94E658E8F2}"/>
                </a:ext>
              </a:extLst>
            </p:cNvPr>
            <p:cNvGrpSpPr/>
            <p:nvPr/>
          </p:nvGrpSpPr>
          <p:grpSpPr>
            <a:xfrm>
              <a:off x="352708" y="1445546"/>
              <a:ext cx="9490280" cy="2271507"/>
              <a:chOff x="352708" y="1445546"/>
              <a:chExt cx="9490280" cy="2271507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D44D587-DAAD-0887-F031-0C4B75402153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连接符 16"/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>
                <a:cxnSpLocks/>
              </p:cNvCxnSpPr>
              <p:nvPr/>
            </p:nvCxnSpPr>
            <p:spPr>
              <a:xfrm>
                <a:off x="3000804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9672127A-3BCD-44DD-2FB8-4FE374933DCD}"/>
                  </a:ext>
                </a:extLst>
              </p:cNvPr>
              <p:cNvSpPr/>
              <p:nvPr/>
            </p:nvSpPr>
            <p:spPr>
              <a:xfrm>
                <a:off x="364921" y="1489046"/>
                <a:ext cx="1266738" cy="673084"/>
              </a:xfrm>
              <a:custGeom>
                <a:avLst/>
                <a:gdLst>
                  <a:gd name="csX0" fmla="*/ 0 w 1266738"/>
                  <a:gd name="csY0" fmla="*/ 494950 h 673084"/>
                  <a:gd name="csX1" fmla="*/ 440422 w 1266738"/>
                  <a:gd name="csY1" fmla="*/ 637563 h 673084"/>
                  <a:gd name="csX2" fmla="*/ 901817 w 1266738"/>
                  <a:gd name="csY2" fmla="*/ 612396 h 673084"/>
                  <a:gd name="csX3" fmla="*/ 1266738 w 1266738"/>
                  <a:gd name="csY3" fmla="*/ 0 h 6730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66738" h="673084">
                    <a:moveTo>
                      <a:pt x="0" y="494950"/>
                    </a:moveTo>
                    <a:cubicBezTo>
                      <a:pt x="145059" y="556469"/>
                      <a:pt x="290119" y="617989"/>
                      <a:pt x="440422" y="637563"/>
                    </a:cubicBezTo>
                    <a:cubicBezTo>
                      <a:pt x="590725" y="657137"/>
                      <a:pt x="764098" y="718656"/>
                      <a:pt x="901817" y="612396"/>
                    </a:cubicBezTo>
                    <a:cubicBezTo>
                      <a:pt x="1039536" y="506136"/>
                      <a:pt x="1153137" y="253068"/>
                      <a:pt x="1266738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6F2109E4-7BB1-8F9D-0184-7DDA6C78B6FD}"/>
                  </a:ext>
                </a:extLst>
              </p:cNvPr>
              <p:cNvSpPr/>
              <p:nvPr/>
            </p:nvSpPr>
            <p:spPr>
              <a:xfrm>
                <a:off x="1620862" y="1445546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EB981162-1712-5772-F01D-4E39DE06BA9A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FEF02F-B281-38CE-5A3B-E81D2073E077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97B3-57A7-DCEF-4939-B6D98179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0B2C76-EC7E-0911-1A7C-7F05BDEB926F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情景二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B3AF06F8-0F44-DC2B-AAC5-30EB74187972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DA07604-6F94-E441-7B3C-6D430A860E5C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8862D74-A728-DDCD-ED73-A87CF8662FE7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463A0D71-8B78-5609-CD67-6D0FE1B822CE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5C153D1-E761-0C84-2216-0DAD70D9C7F4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起息后，指数下挫并发生敲入，数月后又发弹，在降敲后敲出，那么：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早利雪球在首年敲出，获得早利票息，收益为  </a:t>
            </a:r>
            <a:r>
              <a:rPr lang="en-US" altLang="zh-CN" sz="1200" dirty="0"/>
              <a:t>37.2.%【</a:t>
            </a:r>
            <a:r>
              <a:rPr lang="zh-CN" altLang="en-US" sz="1200" dirty="0"/>
              <a:t>早利票息</a:t>
            </a:r>
            <a:r>
              <a:rPr lang="en-US" altLang="zh-CN" sz="1200" dirty="0"/>
              <a:t>】 * 6 / 12【</a:t>
            </a:r>
            <a:r>
              <a:rPr lang="zh-CN" altLang="en-US" sz="1200" dirty="0"/>
              <a:t>存续期限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18.6%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B041135-CE51-6F04-8EF7-9D986C4FD250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2E32EC6C-9515-A95A-C318-A285E25DAE74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FD2C377-4B11-A382-3735-6A0668856664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522AA03-5BA3-E2F1-FEEF-39FB5F3697D7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C0A3CF5-9EB1-496C-E045-426F737965C2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D116B8D-2D67-1717-8F42-852EA9BDBD3A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6A93BA5-BE00-FB4F-0761-71C5FE0EB2D1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A06BE8A-3277-C84F-77C8-C8B2DBB4282A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E357ECD2-2C81-9407-DD30-1B6790A472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5E9B66A6-C03D-49C6-DE8B-E488F40FE6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E073649A-E63A-F572-4E0A-EA0229D25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9DA98C9-07BD-BC52-5F4C-AD31206A1F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8BDDB48-3BE9-0408-9200-E7EAF2CA4E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6176F89-C9D9-F902-2E1C-1BF2789EA4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3645D6E-F602-9416-1EA8-74ECADDCAADA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C9D6F28F-F7F8-8434-CB54-DF48E15297B5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D3B7377C-31E8-AED6-3279-B1817D0B65DB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D19E47C-8A36-9C0C-B602-7C0D735C9260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0FA9A1A-9CF0-E103-940C-D5B7E5F026AA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6ABA5575-F180-DAD5-7160-989F3002BE03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7A1FC38F-8329-EF92-F291-ACDAF1C30415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EB589547-0514-45F3-8FD6-36D406EC091B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B821EF8A-E4B3-29FF-12EE-56B7FC22E49D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262D487D-D88A-18E6-AB59-DD57B1196800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3FBF00-28A7-C95B-E345-8DC18D660D0F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16C1925E-5FA3-BCB9-9B7D-81FA9CE41123}"/>
              </a:ext>
            </a:extLst>
          </p:cNvPr>
          <p:cNvSpPr/>
          <p:nvPr/>
        </p:nvSpPr>
        <p:spPr>
          <a:xfrm rot="392547">
            <a:off x="695654" y="1842885"/>
            <a:ext cx="2639798" cy="2029422"/>
          </a:xfrm>
          <a:custGeom>
            <a:avLst/>
            <a:gdLst>
              <a:gd name="csX0" fmla="*/ 0 w 2633850"/>
              <a:gd name="csY0" fmla="*/ 269491 h 2172824"/>
              <a:gd name="csX1" fmla="*/ 212436 w 2633850"/>
              <a:gd name="csY1" fmla="*/ 685128 h 2172824"/>
              <a:gd name="csX2" fmla="*/ 729673 w 2633850"/>
              <a:gd name="csY2" fmla="*/ 1211600 h 2172824"/>
              <a:gd name="csX3" fmla="*/ 1173018 w 2633850"/>
              <a:gd name="csY3" fmla="*/ 1645710 h 2172824"/>
              <a:gd name="csX4" fmla="*/ 1745673 w 2633850"/>
              <a:gd name="csY4" fmla="*/ 2172182 h 2172824"/>
              <a:gd name="csX5" fmla="*/ 2207491 w 2633850"/>
              <a:gd name="csY5" fmla="*/ 1534873 h 2172824"/>
              <a:gd name="csX6" fmla="*/ 2438400 w 2633850"/>
              <a:gd name="csY6" fmla="*/ 1017637 h 2172824"/>
              <a:gd name="csX7" fmla="*/ 2623127 w 2633850"/>
              <a:gd name="csY7" fmla="*/ 103237 h 2172824"/>
              <a:gd name="csX8" fmla="*/ 2613891 w 2633850"/>
              <a:gd name="csY8" fmla="*/ 57055 h 2172824"/>
              <a:gd name="csX9" fmla="*/ 2632364 w 2633850"/>
              <a:gd name="csY9" fmla="*/ 1637 h 2172824"/>
              <a:gd name="csX10" fmla="*/ 2613891 w 2633850"/>
              <a:gd name="csY10" fmla="*/ 20110 h 2172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33850" h="2172824">
                <a:moveTo>
                  <a:pt x="0" y="269491"/>
                </a:moveTo>
                <a:cubicBezTo>
                  <a:pt x="45412" y="398800"/>
                  <a:pt x="90824" y="528110"/>
                  <a:pt x="212436" y="685128"/>
                </a:cubicBezTo>
                <a:cubicBezTo>
                  <a:pt x="334048" y="842146"/>
                  <a:pt x="569576" y="1051503"/>
                  <a:pt x="729673" y="1211600"/>
                </a:cubicBezTo>
                <a:cubicBezTo>
                  <a:pt x="889770" y="1371697"/>
                  <a:pt x="1003685" y="1485613"/>
                  <a:pt x="1173018" y="1645710"/>
                </a:cubicBezTo>
                <a:cubicBezTo>
                  <a:pt x="1342351" y="1805807"/>
                  <a:pt x="1573261" y="2190655"/>
                  <a:pt x="1745673" y="2172182"/>
                </a:cubicBezTo>
                <a:cubicBezTo>
                  <a:pt x="1918085" y="2153709"/>
                  <a:pt x="2092037" y="1727297"/>
                  <a:pt x="2207491" y="1534873"/>
                </a:cubicBezTo>
                <a:cubicBezTo>
                  <a:pt x="2322945" y="1342449"/>
                  <a:pt x="2369127" y="1256243"/>
                  <a:pt x="2438400" y="1017637"/>
                </a:cubicBezTo>
                <a:cubicBezTo>
                  <a:pt x="2507673" y="779031"/>
                  <a:pt x="2593879" y="263334"/>
                  <a:pt x="2623127" y="103237"/>
                </a:cubicBezTo>
                <a:cubicBezTo>
                  <a:pt x="2652376" y="-56860"/>
                  <a:pt x="2612351" y="73988"/>
                  <a:pt x="2613891" y="57055"/>
                </a:cubicBezTo>
                <a:cubicBezTo>
                  <a:pt x="2615431" y="40122"/>
                  <a:pt x="2632364" y="7794"/>
                  <a:pt x="2632364" y="1637"/>
                </a:cubicBezTo>
                <a:cubicBezTo>
                  <a:pt x="2632364" y="-4520"/>
                  <a:pt x="2623127" y="7795"/>
                  <a:pt x="2613891" y="2011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348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3A68-2480-F346-1836-E4561B86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9FA491-D5EA-36B4-07F5-2F1A606AAE44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情景三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BC088734-04F0-A13E-4333-2AA67D98E08D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E847EAE-A456-9779-8AA6-CAAF5C472DDD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B15656B-00DD-3165-208F-C0DFFFA4F5A2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F715AF03-B20E-92B8-3E79-F8B8AFAE4E43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A597B78-16E6-C304-C52F-649464EB1050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起息后，指数下挫并发生敲入，数月后又发弹，在第</a:t>
            </a:r>
            <a:r>
              <a:rPr lang="en-US" altLang="zh-CN" sz="1200" dirty="0"/>
              <a:t>11</a:t>
            </a:r>
            <a:r>
              <a:rPr lang="zh-CN" altLang="en-US" sz="1200" dirty="0"/>
              <a:t>个敲出观察日（存续</a:t>
            </a:r>
            <a:r>
              <a:rPr lang="en-US" altLang="zh-CN" sz="1200" dirty="0"/>
              <a:t>13</a:t>
            </a:r>
            <a:r>
              <a:rPr lang="zh-CN" altLang="en-US" sz="1200" dirty="0"/>
              <a:t>个月）发生敲出，那么：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早利雪球在首年未敲出，不能获得早利票息，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即便期间发生敲入，但是在第二年敲出，则收益为  </a:t>
            </a:r>
            <a:r>
              <a:rPr lang="en-US" altLang="zh-CN" sz="1200" dirty="0"/>
              <a:t>5%【</a:t>
            </a:r>
            <a:r>
              <a:rPr lang="zh-CN" altLang="en-US" sz="1200" dirty="0"/>
              <a:t>次级敲出票息</a:t>
            </a:r>
            <a:r>
              <a:rPr lang="en-US" altLang="zh-CN" sz="1200" dirty="0"/>
              <a:t>】 * 13 / 12【</a:t>
            </a:r>
            <a:r>
              <a:rPr lang="zh-CN" altLang="en-US" sz="1200" dirty="0"/>
              <a:t>存续期限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5.42%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680F105-F512-658F-6F7A-A3533C9A2E65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A5C5602D-DC36-B6DA-DFB7-F5FCF3F0F0CA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C09B95A-9324-4EF9-C781-064C7C417755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182F568-065C-2104-0578-CA2242B30819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93FFC72-3DB7-3198-3BD4-DAD3F6741108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B8425EB-2D03-D969-760C-4336B0075FD8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AEBB2E2C-AE0D-029E-4379-5B441E8D518F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505022F-099C-5678-D6EC-44CED59AB9E4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C5414A0-A568-A7B7-169B-8FEDEFFEF5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16F89A99-132A-790A-AE35-E9BE61967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9EE5539-36BD-032C-F9A0-64DAC6A16A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962DC141-E466-77C5-1ABF-58F6352475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B7C95D7-E4D3-A758-452C-6E30B819F8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6C75966-314A-F605-4B11-418C79B15B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7790C96C-1D56-A24C-220E-C36F1A254D94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20FEB81A-5823-A6EB-602F-820A8EF833D6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62028FF6-BC7F-DCB9-D913-EFC8A6E51E88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D9F5E016-5F47-9127-C82E-2772AD478301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FF12397C-3719-4A14-A60E-1EFA9B258EFB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E0E745D8-ECF9-9D37-2A31-4BA91866185E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0E630201-BB69-36CD-C2FC-76C04FA679E7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73B7CBCC-1022-7C37-AFFF-391F026CA866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673E134B-119E-209B-B843-EC3CB66BBBD1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14FAC898-C1DF-9E6D-94E6-A96D95B9FF91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1EFDC5-A3E0-3BEC-F41F-8CEC45177712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7C8B8DF-D27D-45FA-E09A-3AB41ECF2CFF}"/>
              </a:ext>
            </a:extLst>
          </p:cNvPr>
          <p:cNvCxnSpPr>
            <a:cxnSpLocks/>
          </p:cNvCxnSpPr>
          <p:nvPr/>
        </p:nvCxnSpPr>
        <p:spPr>
          <a:xfrm>
            <a:off x="6771988" y="2372032"/>
            <a:ext cx="0" cy="124909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B84F7D71-F4D0-B1B9-9DD8-653B6029EFDB}"/>
              </a:ext>
            </a:extLst>
          </p:cNvPr>
          <p:cNvSpPr/>
          <p:nvPr/>
        </p:nvSpPr>
        <p:spPr>
          <a:xfrm>
            <a:off x="6753981" y="23070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E3200AF-1AF3-D07A-DC8C-DE9137A7C00F}"/>
              </a:ext>
            </a:extLst>
          </p:cNvPr>
          <p:cNvSpPr/>
          <p:nvPr/>
        </p:nvSpPr>
        <p:spPr>
          <a:xfrm>
            <a:off x="794327" y="1921164"/>
            <a:ext cx="6011596" cy="1838043"/>
          </a:xfrm>
          <a:custGeom>
            <a:avLst/>
            <a:gdLst>
              <a:gd name="csX0" fmla="*/ 0 w 6011596"/>
              <a:gd name="csY0" fmla="*/ 0 h 1838043"/>
              <a:gd name="csX1" fmla="*/ 314037 w 6011596"/>
              <a:gd name="csY1" fmla="*/ 332509 h 1838043"/>
              <a:gd name="csX2" fmla="*/ 738909 w 6011596"/>
              <a:gd name="csY2" fmla="*/ 286327 h 1838043"/>
              <a:gd name="csX3" fmla="*/ 1182255 w 6011596"/>
              <a:gd name="csY3" fmla="*/ 517236 h 1838043"/>
              <a:gd name="csX4" fmla="*/ 2068946 w 6011596"/>
              <a:gd name="csY4" fmla="*/ 415636 h 1838043"/>
              <a:gd name="csX5" fmla="*/ 2872509 w 6011596"/>
              <a:gd name="csY5" fmla="*/ 1173018 h 1838043"/>
              <a:gd name="csX6" fmla="*/ 3315855 w 6011596"/>
              <a:gd name="csY6" fmla="*/ 1477818 h 1838043"/>
              <a:gd name="csX7" fmla="*/ 4184073 w 6011596"/>
              <a:gd name="csY7" fmla="*/ 1838036 h 1838043"/>
              <a:gd name="csX8" fmla="*/ 4876800 w 6011596"/>
              <a:gd name="csY8" fmla="*/ 1487054 h 1838043"/>
              <a:gd name="csX9" fmla="*/ 5116946 w 6011596"/>
              <a:gd name="csY9" fmla="*/ 1219200 h 1838043"/>
              <a:gd name="csX10" fmla="*/ 5532582 w 6011596"/>
              <a:gd name="csY10" fmla="*/ 960581 h 1838043"/>
              <a:gd name="csX11" fmla="*/ 5966691 w 6011596"/>
              <a:gd name="csY11" fmla="*/ 249381 h 1838043"/>
              <a:gd name="csX12" fmla="*/ 5975928 w 6011596"/>
              <a:gd name="csY12" fmla="*/ 203200 h 183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6011596" h="1838043">
                <a:moveTo>
                  <a:pt x="0" y="0"/>
                </a:moveTo>
                <a:cubicBezTo>
                  <a:pt x="95443" y="142394"/>
                  <a:pt x="190886" y="284788"/>
                  <a:pt x="314037" y="332509"/>
                </a:cubicBezTo>
                <a:cubicBezTo>
                  <a:pt x="437189" y="380230"/>
                  <a:pt x="594206" y="255539"/>
                  <a:pt x="738909" y="286327"/>
                </a:cubicBezTo>
                <a:cubicBezTo>
                  <a:pt x="883612" y="317115"/>
                  <a:pt x="960582" y="495684"/>
                  <a:pt x="1182255" y="517236"/>
                </a:cubicBezTo>
                <a:cubicBezTo>
                  <a:pt x="1403928" y="538788"/>
                  <a:pt x="1787237" y="306339"/>
                  <a:pt x="2068946" y="415636"/>
                </a:cubicBezTo>
                <a:cubicBezTo>
                  <a:pt x="2350655" y="524933"/>
                  <a:pt x="2664691" y="995988"/>
                  <a:pt x="2872509" y="1173018"/>
                </a:cubicBezTo>
                <a:cubicBezTo>
                  <a:pt x="3080327" y="1350048"/>
                  <a:pt x="3097261" y="1366982"/>
                  <a:pt x="3315855" y="1477818"/>
                </a:cubicBezTo>
                <a:cubicBezTo>
                  <a:pt x="3534449" y="1588654"/>
                  <a:pt x="3923916" y="1836497"/>
                  <a:pt x="4184073" y="1838036"/>
                </a:cubicBezTo>
                <a:cubicBezTo>
                  <a:pt x="4444230" y="1839575"/>
                  <a:pt x="4721321" y="1590193"/>
                  <a:pt x="4876800" y="1487054"/>
                </a:cubicBezTo>
                <a:cubicBezTo>
                  <a:pt x="5032279" y="1383915"/>
                  <a:pt x="5007649" y="1306945"/>
                  <a:pt x="5116946" y="1219200"/>
                </a:cubicBezTo>
                <a:cubicBezTo>
                  <a:pt x="5226243" y="1131455"/>
                  <a:pt x="5390958" y="1122218"/>
                  <a:pt x="5532582" y="960581"/>
                </a:cubicBezTo>
                <a:cubicBezTo>
                  <a:pt x="5674206" y="798945"/>
                  <a:pt x="5892800" y="375611"/>
                  <a:pt x="5966691" y="249381"/>
                </a:cubicBezTo>
                <a:cubicBezTo>
                  <a:pt x="6040582" y="123151"/>
                  <a:pt x="6008255" y="163175"/>
                  <a:pt x="5975928" y="203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112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B340-75E4-8D2C-93B5-C89AB522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7D731F-2E69-0D48-6D54-8F6C88D793A0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情景四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595671DD-1B5D-81FE-6481-625D0713C3F1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8E3DED7-03ED-1330-BF59-F1D72CEC5E61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0178BBFC-A8E3-1796-079F-3BDEE8B7208E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329682C6-8301-5F7D-1185-CB157DCE2530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EC60866-FB3B-5CDA-C598-61A58CA1D56D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起息后，指数下挫并发生敲入，到期仍未发生敲出，</a:t>
            </a:r>
            <a:r>
              <a:rPr lang="zh-CN" altLang="en-US" sz="1200" dirty="0">
                <a:sym typeface="+mn-ea"/>
              </a:rPr>
              <a:t>指数期末价格为期初价格的</a:t>
            </a:r>
            <a:r>
              <a:rPr lang="en-US" altLang="zh-CN" sz="1200" b="1" dirty="0">
                <a:sym typeface="+mn-ea"/>
              </a:rPr>
              <a:t>80%</a:t>
            </a:r>
            <a:r>
              <a:rPr lang="zh-CN" altLang="en-US" sz="1200" b="1" dirty="0">
                <a:sym typeface="+mn-ea"/>
              </a:rPr>
              <a:t>，</a:t>
            </a:r>
            <a:r>
              <a:rPr lang="zh-CN" altLang="en-US" sz="1200" dirty="0"/>
              <a:t>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早利雪球在首年未敲出，不能获得早利票息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因为发生过敲入但未敲出，无法获得红利票息，需承担损失为</a:t>
            </a:r>
            <a:r>
              <a:rPr lang="en-US" altLang="zh-CN" sz="1200" dirty="0">
                <a:sym typeface="+mn-ea"/>
              </a:rPr>
              <a:t>80%【</a:t>
            </a:r>
            <a:r>
              <a:rPr lang="zh-CN" altLang="en-US" sz="1200" dirty="0">
                <a:sym typeface="+mn-ea"/>
              </a:rPr>
              <a:t>期末价格</a:t>
            </a:r>
            <a:r>
              <a:rPr lang="en-US" altLang="zh-CN" sz="1200" dirty="0">
                <a:sym typeface="+mn-ea"/>
              </a:rPr>
              <a:t>】- 100%【</a:t>
            </a:r>
            <a:r>
              <a:rPr lang="zh-CN" altLang="en-US" sz="1200" dirty="0">
                <a:sym typeface="+mn-ea"/>
              </a:rPr>
              <a:t>期初价格</a:t>
            </a:r>
            <a:r>
              <a:rPr lang="en-US" altLang="zh-CN" sz="1200" dirty="0">
                <a:sym typeface="+mn-ea"/>
              </a:rPr>
              <a:t>】= -</a:t>
            </a:r>
            <a:r>
              <a:rPr lang="en-US" altLang="zh-CN" sz="1200" b="1" dirty="0">
                <a:sym typeface="+mn-ea"/>
              </a:rPr>
              <a:t>20% 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5CAE60B-622A-3682-02FF-A1EAC91DB284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C1D37E5C-02F4-86D6-09CE-CB4AFC093A10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9AF544E-50AA-1E6A-068B-F0947C1BA64A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700E9A8-26D4-E6F3-CB54-D44B7F83893E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7A1366E-B305-144F-585E-DB458C4A4961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C8F98CA-010F-AA45-7FA5-7E9ABD696A92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10AC1AB-8012-812F-EAF7-58FED5D92797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0A693529-259D-83DE-CA65-4FEF0F3851A8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C34B439-065E-C048-D1F5-C0246390EB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1DC42F1-7F14-2B31-6B37-6574A3A83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04F2142-B9AA-A8CC-06A7-268CDF620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134BE77-7E1B-5B11-5E96-814DDA669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A91353F-7641-209B-A95B-58AA9F5267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83825AA-4755-CAA3-648C-C1DFAB1E03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B15B164-F83D-5F7A-3D35-630D9161505B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DDB8024B-B8F8-159E-3592-806A2594177D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ADB296AA-8020-04A8-3F45-2190EF296DEB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B3F1722D-4A5E-877D-5ECC-5021DE7077C5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B4EC3A08-9180-6871-5B26-ED653CDDC4AC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08840B1-DC2B-4612-1AD0-D7DC6FE52D0A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B9DDAB96-3BAC-54AD-625D-72B44C2646E1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2121D9C-35B1-EC51-6432-4B52A61FDD23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9D609B6-0ED4-1DF1-3F15-E392D5547A17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63E645BC-88A8-469C-BDC8-8B8817EBF08C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7A3D1C-CB5A-D167-FF41-CFA6DDC241EA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71673F7-4F20-BBC7-B730-3B48A3FE64A8}"/>
              </a:ext>
            </a:extLst>
          </p:cNvPr>
          <p:cNvCxnSpPr>
            <a:cxnSpLocks/>
          </p:cNvCxnSpPr>
          <p:nvPr/>
        </p:nvCxnSpPr>
        <p:spPr>
          <a:xfrm>
            <a:off x="6771988" y="2372032"/>
            <a:ext cx="0" cy="124909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DE7D8AAD-FD89-DEBF-E980-36BF08B07D99}"/>
              </a:ext>
            </a:extLst>
          </p:cNvPr>
          <p:cNvSpPr/>
          <p:nvPr/>
        </p:nvSpPr>
        <p:spPr>
          <a:xfrm>
            <a:off x="6753981" y="23070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460EA669-8D54-3CC4-5FB7-3ACAC49F8135}"/>
              </a:ext>
            </a:extLst>
          </p:cNvPr>
          <p:cNvSpPr/>
          <p:nvPr/>
        </p:nvSpPr>
        <p:spPr>
          <a:xfrm>
            <a:off x="794327" y="1930400"/>
            <a:ext cx="9421091" cy="2032076"/>
          </a:xfrm>
          <a:custGeom>
            <a:avLst/>
            <a:gdLst>
              <a:gd name="csX0" fmla="*/ 0 w 9421091"/>
              <a:gd name="csY0" fmla="*/ 0 h 2032076"/>
              <a:gd name="csX1" fmla="*/ 277091 w 9421091"/>
              <a:gd name="csY1" fmla="*/ 249382 h 2032076"/>
              <a:gd name="csX2" fmla="*/ 812800 w 9421091"/>
              <a:gd name="csY2" fmla="*/ 267855 h 2032076"/>
              <a:gd name="csX3" fmla="*/ 1182255 w 9421091"/>
              <a:gd name="csY3" fmla="*/ 563418 h 2032076"/>
              <a:gd name="csX4" fmla="*/ 1662546 w 9421091"/>
              <a:gd name="csY4" fmla="*/ 637309 h 2032076"/>
              <a:gd name="csX5" fmla="*/ 1948873 w 9421091"/>
              <a:gd name="csY5" fmla="*/ 1126836 h 2032076"/>
              <a:gd name="csX6" fmla="*/ 2466109 w 9421091"/>
              <a:gd name="csY6" fmla="*/ 1293091 h 2032076"/>
              <a:gd name="csX7" fmla="*/ 3251200 w 9421091"/>
              <a:gd name="csY7" fmla="*/ 1477818 h 2032076"/>
              <a:gd name="csX8" fmla="*/ 3768437 w 9421091"/>
              <a:gd name="csY8" fmla="*/ 1985818 h 2032076"/>
              <a:gd name="csX9" fmla="*/ 4516582 w 9421091"/>
              <a:gd name="csY9" fmla="*/ 1995055 h 2032076"/>
              <a:gd name="csX10" fmla="*/ 5273964 w 9421091"/>
              <a:gd name="csY10" fmla="*/ 1865745 h 2032076"/>
              <a:gd name="csX11" fmla="*/ 6197600 w 9421091"/>
              <a:gd name="csY11" fmla="*/ 1560945 h 2032076"/>
              <a:gd name="csX12" fmla="*/ 6982691 w 9421091"/>
              <a:gd name="csY12" fmla="*/ 1450109 h 2032076"/>
              <a:gd name="csX13" fmla="*/ 7989455 w 9421091"/>
              <a:gd name="csY13" fmla="*/ 1560945 h 2032076"/>
              <a:gd name="csX14" fmla="*/ 9116291 w 9421091"/>
              <a:gd name="csY14" fmla="*/ 1311564 h 2032076"/>
              <a:gd name="csX15" fmla="*/ 9421091 w 9421091"/>
              <a:gd name="csY15" fmla="*/ 1274618 h 20320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9421091" h="2032076">
                <a:moveTo>
                  <a:pt x="0" y="0"/>
                </a:moveTo>
                <a:cubicBezTo>
                  <a:pt x="70812" y="102370"/>
                  <a:pt x="141624" y="204740"/>
                  <a:pt x="277091" y="249382"/>
                </a:cubicBezTo>
                <a:cubicBezTo>
                  <a:pt x="412558" y="294024"/>
                  <a:pt x="661939" y="215516"/>
                  <a:pt x="812800" y="267855"/>
                </a:cubicBezTo>
                <a:cubicBezTo>
                  <a:pt x="963661" y="320194"/>
                  <a:pt x="1040631" y="501842"/>
                  <a:pt x="1182255" y="563418"/>
                </a:cubicBezTo>
                <a:cubicBezTo>
                  <a:pt x="1323879" y="624994"/>
                  <a:pt x="1534776" y="543406"/>
                  <a:pt x="1662546" y="637309"/>
                </a:cubicBezTo>
                <a:cubicBezTo>
                  <a:pt x="1790316" y="731212"/>
                  <a:pt x="1814946" y="1017539"/>
                  <a:pt x="1948873" y="1126836"/>
                </a:cubicBezTo>
                <a:cubicBezTo>
                  <a:pt x="2082800" y="1236133"/>
                  <a:pt x="2249055" y="1234594"/>
                  <a:pt x="2466109" y="1293091"/>
                </a:cubicBezTo>
                <a:cubicBezTo>
                  <a:pt x="2683163" y="1351588"/>
                  <a:pt x="3034145" y="1362364"/>
                  <a:pt x="3251200" y="1477818"/>
                </a:cubicBezTo>
                <a:cubicBezTo>
                  <a:pt x="3468255" y="1593272"/>
                  <a:pt x="3557540" y="1899612"/>
                  <a:pt x="3768437" y="1985818"/>
                </a:cubicBezTo>
                <a:cubicBezTo>
                  <a:pt x="3979334" y="2072024"/>
                  <a:pt x="4265661" y="2015067"/>
                  <a:pt x="4516582" y="1995055"/>
                </a:cubicBezTo>
                <a:cubicBezTo>
                  <a:pt x="4767503" y="1975043"/>
                  <a:pt x="4993794" y="1938097"/>
                  <a:pt x="5273964" y="1865745"/>
                </a:cubicBezTo>
                <a:cubicBezTo>
                  <a:pt x="5554134" y="1793393"/>
                  <a:pt x="5912812" y="1630218"/>
                  <a:pt x="6197600" y="1560945"/>
                </a:cubicBezTo>
                <a:cubicBezTo>
                  <a:pt x="6482388" y="1491672"/>
                  <a:pt x="6684049" y="1450109"/>
                  <a:pt x="6982691" y="1450109"/>
                </a:cubicBezTo>
                <a:cubicBezTo>
                  <a:pt x="7281333" y="1450109"/>
                  <a:pt x="7633855" y="1584036"/>
                  <a:pt x="7989455" y="1560945"/>
                </a:cubicBezTo>
                <a:cubicBezTo>
                  <a:pt x="8345055" y="1537854"/>
                  <a:pt x="8877685" y="1359285"/>
                  <a:pt x="9116291" y="1311564"/>
                </a:cubicBezTo>
                <a:cubicBezTo>
                  <a:pt x="9354897" y="1263843"/>
                  <a:pt x="9387994" y="1269230"/>
                  <a:pt x="9421091" y="127461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2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17B9-23FC-5060-D4EF-7DB91D8E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49B06E-A8DF-CC83-B9EF-0705323C4620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情景五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CAB82187-A2A4-1B28-5153-721DF9B203B1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52A2BDF-69BA-A234-E511-7788E263ADD9}"/>
              </a:ext>
            </a:extLst>
          </p:cNvPr>
          <p:cNvSpPr txBox="1"/>
          <p:nvPr/>
        </p:nvSpPr>
        <p:spPr>
          <a:xfrm>
            <a:off x="10413840" y="166861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雪球的敲出观察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E311030-D256-98D1-FF14-B565555F04D0}"/>
              </a:ext>
            </a:extLst>
          </p:cNvPr>
          <p:cNvCxnSpPr/>
          <p:nvPr/>
        </p:nvCxnSpPr>
        <p:spPr>
          <a:xfrm>
            <a:off x="10334406" y="2372032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382AD1F4-E74E-F6B8-7642-52E2E7184C78}"/>
              </a:ext>
            </a:extLst>
          </p:cNvPr>
          <p:cNvSpPr txBox="1"/>
          <p:nvPr/>
        </p:nvSpPr>
        <p:spPr>
          <a:xfrm>
            <a:off x="10439621" y="223221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56D4FDE7-2AE3-1989-63DD-31BD63A0B453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起息后，指数下挫并持续阴跌，到期未发生敲出，且</a:t>
            </a:r>
            <a:r>
              <a:rPr lang="zh-CN" altLang="en-US" sz="1200" dirty="0">
                <a:sym typeface="+mn-ea"/>
              </a:rPr>
              <a:t>指数期末价格为期初价格的</a:t>
            </a:r>
            <a:r>
              <a:rPr lang="en-US" altLang="zh-CN" sz="1200" b="1" dirty="0">
                <a:sym typeface="+mn-ea"/>
              </a:rPr>
              <a:t>65%</a:t>
            </a:r>
            <a:r>
              <a:rPr lang="zh-CN" altLang="en-US" sz="1200" b="1" dirty="0">
                <a:sym typeface="+mn-ea"/>
              </a:rPr>
              <a:t>，</a:t>
            </a:r>
            <a:r>
              <a:rPr lang="zh-CN" altLang="en-US" sz="1200" dirty="0"/>
              <a:t>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早利雪球在首年未敲出，不能获得早利票息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因为发生过敲入但未敲出，无法获得红利票息，需承担损失为</a:t>
            </a:r>
            <a:r>
              <a:rPr lang="en-US" altLang="zh-CN" sz="1200" dirty="0">
                <a:sym typeface="+mn-ea"/>
              </a:rPr>
              <a:t>65%【</a:t>
            </a:r>
            <a:r>
              <a:rPr lang="zh-CN" altLang="en-US" sz="1200" dirty="0">
                <a:sym typeface="+mn-ea"/>
              </a:rPr>
              <a:t>期末价格</a:t>
            </a:r>
            <a:r>
              <a:rPr lang="en-US" altLang="zh-CN" sz="1200" dirty="0">
                <a:sym typeface="+mn-ea"/>
              </a:rPr>
              <a:t>】- 100%【</a:t>
            </a:r>
            <a:r>
              <a:rPr lang="zh-CN" altLang="en-US" sz="1200" dirty="0">
                <a:sym typeface="+mn-ea"/>
              </a:rPr>
              <a:t>期初价格</a:t>
            </a:r>
            <a:r>
              <a:rPr lang="en-US" altLang="zh-CN" sz="1200" dirty="0">
                <a:sym typeface="+mn-ea"/>
              </a:rPr>
              <a:t>】= -</a:t>
            </a:r>
            <a:r>
              <a:rPr lang="en-US" altLang="zh-CN" sz="1200" b="1" dirty="0">
                <a:sym typeface="+mn-ea"/>
              </a:rPr>
              <a:t>35% 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D59C16E-B9F7-6C60-3B85-7AE0901DFA7B}"/>
              </a:ext>
            </a:extLst>
          </p:cNvPr>
          <p:cNvGrpSpPr/>
          <p:nvPr/>
        </p:nvGrpSpPr>
        <p:grpSpPr>
          <a:xfrm>
            <a:off x="764245" y="1264242"/>
            <a:ext cx="9490280" cy="3226777"/>
            <a:chOff x="352708" y="1314450"/>
            <a:chExt cx="9490280" cy="32267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B33711A-32D9-9FA8-E52F-81CCCEF0EE01}"/>
                </a:ext>
              </a:extLst>
            </p:cNvPr>
            <p:cNvCxnSpPr/>
            <p:nvPr/>
          </p:nvCxnSpPr>
          <p:spPr>
            <a:xfrm flipV="1">
              <a:off x="366471" y="1358315"/>
              <a:ext cx="6594" cy="302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CC38D25-7673-3D7D-784F-F81444CB65D9}"/>
                </a:ext>
              </a:extLst>
            </p:cNvPr>
            <p:cNvCxnSpPr/>
            <p:nvPr/>
          </p:nvCxnSpPr>
          <p:spPr>
            <a:xfrm>
              <a:off x="9771191" y="1314450"/>
              <a:ext cx="28051" cy="32267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8C37CFCB-265F-990B-A0D5-02D10B2470A1}"/>
                </a:ext>
              </a:extLst>
            </p:cNvPr>
            <p:cNvGrpSpPr/>
            <p:nvPr/>
          </p:nvGrpSpPr>
          <p:grpSpPr>
            <a:xfrm>
              <a:off x="352708" y="1636550"/>
              <a:ext cx="9490280" cy="2080503"/>
              <a:chOff x="352708" y="1636550"/>
              <a:chExt cx="9490280" cy="208050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4F9134E-FD7F-1478-4E77-FF22B5996084}"/>
                  </a:ext>
                </a:extLst>
              </p:cNvPr>
              <p:cNvSpPr/>
              <p:nvPr/>
            </p:nvSpPr>
            <p:spPr>
              <a:xfrm>
                <a:off x="352708" y="1636550"/>
                <a:ext cx="5550970" cy="2045689"/>
              </a:xfrm>
              <a:prstGeom prst="rect">
                <a:avLst/>
              </a:prstGeom>
              <a:solidFill>
                <a:srgbClr val="0F9ED5">
                  <a:alpha val="2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0836A2A-519D-BB04-528C-49615D04BD5D}"/>
                  </a:ext>
                </a:extLst>
              </p:cNvPr>
              <p:cNvCxnSpPr/>
              <p:nvPr/>
            </p:nvCxnSpPr>
            <p:spPr>
              <a:xfrm>
                <a:off x="373066" y="3697166"/>
                <a:ext cx="9420099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163EA659-FC7B-F934-420A-A68B8B1AC66B}"/>
                  </a:ext>
                </a:extLst>
              </p:cNvPr>
              <p:cNvCxnSpPr/>
              <p:nvPr/>
            </p:nvCxnSpPr>
            <p:spPr>
              <a:xfrm flipV="1">
                <a:off x="373066" y="1976805"/>
                <a:ext cx="946992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F553C1A-10C9-B013-331C-99540EFF6747}"/>
                  </a:ext>
                </a:extLst>
              </p:cNvPr>
              <p:cNvCxnSpPr/>
              <p:nvPr/>
            </p:nvCxnSpPr>
            <p:spPr>
              <a:xfrm>
                <a:off x="1639158" y="1976805"/>
                <a:ext cx="8142284" cy="729026"/>
              </a:xfrm>
              <a:prstGeom prst="line">
                <a:avLst/>
              </a:prstGeom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BE60400-D369-52E8-364E-DC1E5007B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1133" y="1966363"/>
                <a:ext cx="22859" cy="1715876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EB5EFC23-92E0-D10F-AE46-57A6379CE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46" y="1976805"/>
                <a:ext cx="0" cy="1694529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A25A407-FCC1-785F-0804-2697A419A6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381" y="1976805"/>
                <a:ext cx="0" cy="172036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605987B0-EF7D-BF7D-CD86-1638F07237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107" y="2035419"/>
                <a:ext cx="0" cy="1681634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04BAA53-7F96-440D-3893-11C5F6F41F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240" y="2094035"/>
                <a:ext cx="0" cy="1603131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D024F85-4DEF-22A8-658A-09D2DEE27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15" y="2104293"/>
                <a:ext cx="0" cy="159287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E40FE2B-64DC-AB2E-9B41-064D08BD87F2}"/>
                  </a:ext>
                </a:extLst>
              </p:cNvPr>
              <p:cNvCxnSpPr/>
              <p:nvPr/>
            </p:nvCxnSpPr>
            <p:spPr>
              <a:xfrm>
                <a:off x="9781442" y="2705831"/>
                <a:ext cx="0" cy="48321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1EA0A8CC-EB29-E15D-3917-D7D8FE30B5DF}"/>
                  </a:ext>
                </a:extLst>
              </p:cNvPr>
              <p:cNvSpPr/>
              <p:nvPr/>
            </p:nvSpPr>
            <p:spPr>
              <a:xfrm>
                <a:off x="1628273" y="194135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CC153901-C6B9-6D55-6A17-DAF2F3CF223D}"/>
                  </a:ext>
                </a:extLst>
              </p:cNvPr>
              <p:cNvSpPr/>
              <p:nvPr/>
            </p:nvSpPr>
            <p:spPr>
              <a:xfrm>
                <a:off x="2103885" y="2027230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6C8BA43-7B40-5915-28BC-58116E12B934}"/>
                  </a:ext>
                </a:extLst>
              </p:cNvPr>
              <p:cNvSpPr/>
              <p:nvPr/>
            </p:nvSpPr>
            <p:spPr>
              <a:xfrm>
                <a:off x="2572859" y="205008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A32D029-F8CA-10B1-9B05-6AA417C10246}"/>
                  </a:ext>
                </a:extLst>
              </p:cNvPr>
              <p:cNvSpPr/>
              <p:nvPr/>
            </p:nvSpPr>
            <p:spPr>
              <a:xfrm>
                <a:off x="3003496" y="2094035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61C9BD78-4684-F18C-1BD2-10BC4804A86F}"/>
                  </a:ext>
                </a:extLst>
              </p:cNvPr>
              <p:cNvSpPr/>
              <p:nvPr/>
            </p:nvSpPr>
            <p:spPr>
              <a:xfrm>
                <a:off x="9302217" y="2645729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0BFE7D8-034F-0B16-31AA-7F2C073BAB29}"/>
                  </a:ext>
                </a:extLst>
              </p:cNvPr>
              <p:cNvSpPr/>
              <p:nvPr/>
            </p:nvSpPr>
            <p:spPr>
              <a:xfrm>
                <a:off x="9764206" y="2693413"/>
                <a:ext cx="45719" cy="45719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C7D621F5-A28B-F171-7729-47F794A6F48C}"/>
                  </a:ext>
                </a:extLst>
              </p:cNvPr>
              <p:cNvSpPr/>
              <p:nvPr/>
            </p:nvSpPr>
            <p:spPr>
              <a:xfrm>
                <a:off x="352708" y="195394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E24C637C-FBBA-EAFF-128A-16F2E98F749F}"/>
                  </a:ext>
                </a:extLst>
              </p:cNvPr>
              <p:cNvSpPr/>
              <p:nvPr/>
            </p:nvSpPr>
            <p:spPr>
              <a:xfrm>
                <a:off x="9771801" y="3671334"/>
                <a:ext cx="45719" cy="4571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FA455FD-30D2-B962-FB8B-458CA23D90DB}"/>
              </a:ext>
            </a:extLst>
          </p:cNvPr>
          <p:cNvSpPr/>
          <p:nvPr/>
        </p:nvSpPr>
        <p:spPr>
          <a:xfrm>
            <a:off x="10334352" y="2795817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A4B02-5DAB-8466-F9B9-DAA714B68166}"/>
              </a:ext>
            </a:extLst>
          </p:cNvPr>
          <p:cNvSpPr txBox="1"/>
          <p:nvPr/>
        </p:nvSpPr>
        <p:spPr>
          <a:xfrm>
            <a:off x="10494006" y="273913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0163848-5D29-B7C4-A259-1A721DDE1B7B}"/>
              </a:ext>
            </a:extLst>
          </p:cNvPr>
          <p:cNvSpPr/>
          <p:nvPr/>
        </p:nvSpPr>
        <p:spPr>
          <a:xfrm>
            <a:off x="794327" y="1939636"/>
            <a:ext cx="9430328" cy="1976582"/>
          </a:xfrm>
          <a:custGeom>
            <a:avLst/>
            <a:gdLst>
              <a:gd name="csX0" fmla="*/ 0 w 9430328"/>
              <a:gd name="csY0" fmla="*/ 0 h 1976582"/>
              <a:gd name="csX1" fmla="*/ 461818 w 9430328"/>
              <a:gd name="csY1" fmla="*/ 212437 h 1976582"/>
              <a:gd name="csX2" fmla="*/ 1043709 w 9430328"/>
              <a:gd name="csY2" fmla="*/ 286328 h 1976582"/>
              <a:gd name="csX3" fmla="*/ 1450109 w 9430328"/>
              <a:gd name="csY3" fmla="*/ 581891 h 1976582"/>
              <a:gd name="csX4" fmla="*/ 1958109 w 9430328"/>
              <a:gd name="csY4" fmla="*/ 665019 h 1976582"/>
              <a:gd name="csX5" fmla="*/ 2623128 w 9430328"/>
              <a:gd name="csY5" fmla="*/ 1062182 h 1976582"/>
              <a:gd name="csX6" fmla="*/ 4341091 w 9430328"/>
              <a:gd name="csY6" fmla="*/ 877455 h 1976582"/>
              <a:gd name="csX7" fmla="*/ 5578764 w 9430328"/>
              <a:gd name="csY7" fmla="*/ 1487055 h 1976582"/>
              <a:gd name="csX8" fmla="*/ 6890328 w 9430328"/>
              <a:gd name="csY8" fmla="*/ 1874982 h 1976582"/>
              <a:gd name="csX9" fmla="*/ 9430328 w 9430328"/>
              <a:gd name="csY9" fmla="*/ 1976582 h 1976582"/>
              <a:gd name="csX10" fmla="*/ 9430328 w 9430328"/>
              <a:gd name="csY10" fmla="*/ 1976582 h 1976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430328" h="1976582">
                <a:moveTo>
                  <a:pt x="0" y="0"/>
                </a:moveTo>
                <a:cubicBezTo>
                  <a:pt x="143933" y="82358"/>
                  <a:pt x="287867" y="164716"/>
                  <a:pt x="461818" y="212437"/>
                </a:cubicBezTo>
                <a:cubicBezTo>
                  <a:pt x="635769" y="260158"/>
                  <a:pt x="878994" y="224752"/>
                  <a:pt x="1043709" y="286328"/>
                </a:cubicBezTo>
                <a:cubicBezTo>
                  <a:pt x="1208424" y="347904"/>
                  <a:pt x="1297709" y="518776"/>
                  <a:pt x="1450109" y="581891"/>
                </a:cubicBezTo>
                <a:cubicBezTo>
                  <a:pt x="1602509" y="645006"/>
                  <a:pt x="1762606" y="584971"/>
                  <a:pt x="1958109" y="665019"/>
                </a:cubicBezTo>
                <a:cubicBezTo>
                  <a:pt x="2153612" y="745067"/>
                  <a:pt x="2225964" y="1026776"/>
                  <a:pt x="2623128" y="1062182"/>
                </a:cubicBezTo>
                <a:cubicBezTo>
                  <a:pt x="3020292" y="1097588"/>
                  <a:pt x="3848485" y="806643"/>
                  <a:pt x="4341091" y="877455"/>
                </a:cubicBezTo>
                <a:cubicBezTo>
                  <a:pt x="4833697" y="948267"/>
                  <a:pt x="5153891" y="1320801"/>
                  <a:pt x="5578764" y="1487055"/>
                </a:cubicBezTo>
                <a:cubicBezTo>
                  <a:pt x="6003637" y="1653310"/>
                  <a:pt x="6248401" y="1793394"/>
                  <a:pt x="6890328" y="1874982"/>
                </a:cubicBezTo>
                <a:cubicBezTo>
                  <a:pt x="7532255" y="1956570"/>
                  <a:pt x="9430328" y="1976582"/>
                  <a:pt x="9430328" y="1976582"/>
                </a:cubicBezTo>
                <a:lnTo>
                  <a:pt x="9430328" y="197658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43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1119</Words>
  <Application>Microsoft Office PowerPoint</Application>
  <PresentationFormat>宽屏</PresentationFormat>
  <Paragraphs>134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楷体</vt:lpstr>
      <vt:lpstr>微软雅黑 Light</vt:lpstr>
      <vt:lpstr>Arial</vt:lpstr>
      <vt:lpstr>Wingdings</vt:lpstr>
      <vt:lpstr>Office 主题​​</vt:lpstr>
      <vt:lpstr>波动生息与雪球期权投资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 Song</dc:creator>
  <cp:lastModifiedBy>Zhi Shen</cp:lastModifiedBy>
  <cp:revision>23</cp:revision>
  <dcterms:created xsi:type="dcterms:W3CDTF">2026-02-27T06:35:00Z</dcterms:created>
  <dcterms:modified xsi:type="dcterms:W3CDTF">2026-05-12T07:45:16Z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F3CBE62844D9431495AAB9DF49EB70C0_12</vt:lpwstr>
  </property>
</Properties>
</file>